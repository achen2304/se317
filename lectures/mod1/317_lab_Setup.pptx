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  <p:sldId id="263" r:id="rId6"/>
    <p:sldId id="258" r:id="rId7"/>
    <p:sldId id="260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-96" y="-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0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6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4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7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2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4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07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5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B6BE5-5B81-2E4B-B85C-CD3F06B14FC6}" type="datetimeFigureOut">
              <a:rPr lang="en-US" smtClean="0"/>
              <a:t>5/18/22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87814-580F-AD45-800E-976FC7FFC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1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Testing</a:t>
            </a:r>
            <a:br>
              <a:rPr lang="en-US" dirty="0" smtClean="0"/>
            </a:br>
            <a:r>
              <a:rPr lang="en-US" dirty="0" smtClean="0"/>
              <a:t> Lab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Ashraf Gaffar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374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Book</a:t>
            </a:r>
            <a:endParaRPr lang="en-US" dirty="0"/>
          </a:p>
        </p:txBody>
      </p:sp>
      <p:pic>
        <p:nvPicPr>
          <p:cNvPr id="4" name="Picture 3" descr="Screen Shot 2021-08-27 at 12.17.4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016" y="1501210"/>
            <a:ext cx="4543983" cy="53567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2878" y="1942276"/>
            <a:ext cx="44826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9402" y="1847964"/>
            <a:ext cx="535579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Pragmatic Unit Testing in Java 8 with </a:t>
            </a:r>
            <a:r>
              <a:rPr lang="en-US" sz="2000" b="1" dirty="0" err="1"/>
              <a:t>JUnit</a:t>
            </a:r>
            <a:r>
              <a:rPr lang="en-US" sz="2000" b="1" dirty="0"/>
              <a:t> </a:t>
            </a:r>
            <a:endParaRPr lang="en-US" sz="2000" b="1" dirty="0" smtClean="0"/>
          </a:p>
          <a:p>
            <a:r>
              <a:rPr lang="en-US" sz="2000" b="1" dirty="0" smtClean="0"/>
              <a:t>1st </a:t>
            </a:r>
            <a:r>
              <a:rPr lang="en-US" sz="2000" b="1" dirty="0"/>
              <a:t>Edition</a:t>
            </a:r>
            <a:endParaRPr lang="en-US" sz="2000" dirty="0"/>
          </a:p>
          <a:p>
            <a:pPr lvl="0"/>
            <a:r>
              <a:rPr lang="en-US" sz="2000" dirty="0" smtClean="0"/>
              <a:t>Publisher: Pragmatic </a:t>
            </a:r>
            <a:r>
              <a:rPr lang="en-US" sz="2000" dirty="0"/>
              <a:t>Bookshelf; 1st edition (March 31, 2015)</a:t>
            </a:r>
          </a:p>
          <a:p>
            <a:pPr lvl="0"/>
            <a:r>
              <a:rPr lang="en-US" sz="2000" dirty="0" smtClean="0"/>
              <a:t>Language: English</a:t>
            </a:r>
            <a:endParaRPr lang="en-US" sz="2000" dirty="0"/>
          </a:p>
          <a:p>
            <a:pPr lvl="0"/>
            <a:r>
              <a:rPr lang="en-US" sz="2000" dirty="0" smtClean="0"/>
              <a:t>Paperback: 236 </a:t>
            </a:r>
            <a:r>
              <a:rPr lang="en-US" sz="2000" dirty="0"/>
              <a:t>pages</a:t>
            </a:r>
          </a:p>
          <a:p>
            <a:pPr lvl="0"/>
            <a:r>
              <a:rPr lang="en-US" sz="2000" dirty="0"/>
              <a:t>ISBN-</a:t>
            </a:r>
            <a:r>
              <a:rPr lang="en-US" sz="2000" dirty="0" smtClean="0"/>
              <a:t>10: 1941222595</a:t>
            </a:r>
            <a:endParaRPr lang="en-US" sz="2000" dirty="0"/>
          </a:p>
          <a:p>
            <a:pPr lvl="0"/>
            <a:r>
              <a:rPr lang="en-US" sz="2000" dirty="0"/>
              <a:t>ISBN-</a:t>
            </a:r>
            <a:r>
              <a:rPr lang="en-US" sz="2000" dirty="0" smtClean="0"/>
              <a:t>13: 978</a:t>
            </a:r>
            <a:r>
              <a:rPr lang="en-US" sz="2000" dirty="0"/>
              <a:t>-1941222591</a:t>
            </a:r>
          </a:p>
        </p:txBody>
      </p:sp>
    </p:spTree>
    <p:extLst>
      <p:ext uri="{BB962C8B-B14F-4D97-AF65-F5344CB8AC3E}">
        <p14:creationId xmlns:p14="http://schemas.microsoft.com/office/powerpoint/2010/main" val="31578914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Environment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7601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Java [Java 8]</a:t>
            </a:r>
          </a:p>
          <a:p>
            <a:pPr lvl="2"/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err="1"/>
              <a:t>java.com</a:t>
            </a:r>
            <a:r>
              <a:rPr lang="en-US" dirty="0"/>
              <a:t>/</a:t>
            </a:r>
            <a:r>
              <a:rPr lang="en-US" dirty="0" smtClean="0"/>
              <a:t>download</a:t>
            </a:r>
            <a:endParaRPr lang="en-US" dirty="0"/>
          </a:p>
          <a:p>
            <a:r>
              <a:rPr lang="en-US" b="1" dirty="0" smtClean="0"/>
              <a:t>Eclipse IDE</a:t>
            </a:r>
          </a:p>
          <a:p>
            <a:pPr lvl="2"/>
            <a:r>
              <a:rPr lang="en-US" dirty="0" smtClean="0"/>
              <a:t>http</a:t>
            </a:r>
            <a:r>
              <a:rPr lang="en-US" dirty="0"/>
              <a:t>://</a:t>
            </a:r>
            <a:r>
              <a:rPr lang="en-US" dirty="0" err="1"/>
              <a:t>eclipse.org</a:t>
            </a:r>
            <a:r>
              <a:rPr lang="en-US" dirty="0"/>
              <a:t>/downloads/ </a:t>
            </a:r>
          </a:p>
          <a:p>
            <a:pPr lvl="1">
              <a:buFont typeface="Courier New"/>
              <a:buChar char="o"/>
            </a:pPr>
            <a:r>
              <a:rPr lang="en-US" dirty="0" err="1" smtClean="0"/>
              <a:t>IntelliJ</a:t>
            </a:r>
            <a:r>
              <a:rPr lang="en-US" dirty="0" smtClean="0"/>
              <a:t> IDEA (on your own)</a:t>
            </a:r>
          </a:p>
          <a:p>
            <a:pPr lvl="2"/>
            <a:r>
              <a:rPr lang="en-US" dirty="0" smtClean="0"/>
              <a:t>http</a:t>
            </a:r>
            <a:r>
              <a:rPr lang="en-US" dirty="0"/>
              <a:t>://</a:t>
            </a:r>
            <a:r>
              <a:rPr lang="en-US" dirty="0" err="1"/>
              <a:t>www.jetbrains.com</a:t>
            </a:r>
            <a:r>
              <a:rPr lang="en-US" dirty="0"/>
              <a:t>/idea/download/ </a:t>
            </a:r>
          </a:p>
          <a:p>
            <a:pPr lvl="1">
              <a:buFont typeface="Courier New"/>
              <a:buChar char="o"/>
            </a:pPr>
            <a:r>
              <a:rPr lang="en-US" dirty="0" err="1" smtClean="0"/>
              <a:t>NetBeans</a:t>
            </a:r>
            <a:r>
              <a:rPr lang="en-US" dirty="0" smtClean="0"/>
              <a:t> (On your own)</a:t>
            </a:r>
          </a:p>
          <a:p>
            <a:pPr lvl="2"/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err="1"/>
              <a:t>netbeans.org</a:t>
            </a:r>
            <a:r>
              <a:rPr lang="en-US" dirty="0"/>
              <a:t>/downloads/ </a:t>
            </a:r>
          </a:p>
          <a:p>
            <a:r>
              <a:rPr lang="en-US" b="1" dirty="0" err="1" smtClean="0"/>
              <a:t>Junit</a:t>
            </a:r>
            <a:endParaRPr lang="en-US" b="1" dirty="0" smtClean="0"/>
          </a:p>
          <a:p>
            <a:pPr lvl="2"/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junit</a:t>
            </a:r>
            <a:r>
              <a:rPr lang="en-US" dirty="0"/>
              <a:t>-team/</a:t>
            </a:r>
            <a:r>
              <a:rPr lang="en-US" dirty="0" err="1"/>
              <a:t>junit</a:t>
            </a:r>
            <a:r>
              <a:rPr lang="en-US" dirty="0"/>
              <a:t>/wiki/Download-and-Install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878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(see the book)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We’re going to put our tests in the same package (</a:t>
            </a:r>
            <a:r>
              <a:rPr lang="en-US" dirty="0" err="1" smtClean="0"/>
              <a:t>iloveyouboss</a:t>
            </a:r>
            <a:r>
              <a:rPr lang="en-US" dirty="0" smtClean="0"/>
              <a:t>) </a:t>
            </a:r>
            <a:r>
              <a:rPr lang="en-US" dirty="0"/>
              <a:t>as </a:t>
            </a:r>
            <a:r>
              <a:rPr lang="en-US" dirty="0" err="1"/>
              <a:t>ScoreCollection</a:t>
            </a:r>
            <a:r>
              <a:rPr lang="en-US" dirty="0"/>
              <a:t>. </a:t>
            </a:r>
            <a:endParaRPr lang="en-US" dirty="0" smtClean="0"/>
          </a:p>
          <a:p>
            <a:pPr lvl="1">
              <a:buFont typeface="Wingdings" charset="2"/>
              <a:buChar char="ü"/>
            </a:pPr>
            <a:r>
              <a:rPr lang="en-US" dirty="0" smtClean="0"/>
              <a:t>In </a:t>
            </a:r>
            <a:r>
              <a:rPr lang="en-US" dirty="0"/>
              <a:t>Eclipse, we separate the tests and production code by putting the tests in one source folder (test) and the production code in another (</a:t>
            </a:r>
            <a:r>
              <a:rPr lang="en-US" dirty="0" err="1"/>
              <a:t>src</a:t>
            </a:r>
            <a:r>
              <a:rPr lang="en-US" dirty="0"/>
              <a:t>). </a:t>
            </a:r>
          </a:p>
          <a:p>
            <a:r>
              <a:rPr lang="en-US" dirty="0" smtClean="0"/>
              <a:t>Create </a:t>
            </a:r>
            <a:r>
              <a:rPr lang="en-US" dirty="0"/>
              <a:t>a source folder named test before continuing. </a:t>
            </a:r>
            <a:endParaRPr lang="en-US" dirty="0" smtClean="0"/>
          </a:p>
          <a:p>
            <a:pPr lvl="1">
              <a:buFont typeface="Wingdings" charset="2"/>
              <a:buChar char="ü"/>
            </a:pPr>
            <a:r>
              <a:rPr lang="en-US" dirty="0" smtClean="0"/>
              <a:t>In </a:t>
            </a:r>
            <a:r>
              <a:rPr lang="en-US" dirty="0"/>
              <a:t>Eclipse, the easiest way to do this is in the Package Explorer. Select the project, right-click to bring up the context menu, and select New ▶ Source Folder. Type the name test as the Folder Name and click Finish.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083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</a:t>
            </a:r>
            <a:r>
              <a:rPr lang="en-US" sz="3600" dirty="0" smtClean="0"/>
              <a:t>(cont.)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Next, we’ll create a </a:t>
            </a:r>
            <a:r>
              <a:rPr lang="en-US" sz="2800" dirty="0" err="1"/>
              <a:t>JUnit</a:t>
            </a:r>
            <a:r>
              <a:rPr lang="en-US" sz="2800" dirty="0"/>
              <a:t> test class for </a:t>
            </a:r>
            <a:r>
              <a:rPr lang="en-US" sz="2800" dirty="0" err="1"/>
              <a:t>ScoreCollection</a:t>
            </a:r>
            <a:r>
              <a:rPr lang="en-US" sz="2800" dirty="0"/>
              <a:t>. </a:t>
            </a:r>
            <a:endParaRPr lang="en-US" sz="2800" dirty="0" smtClean="0"/>
          </a:p>
          <a:p>
            <a:pPr>
              <a:buFont typeface="Wingdings" charset="2"/>
              <a:buChar char="ü"/>
            </a:pPr>
            <a:r>
              <a:rPr lang="en-US" sz="2800" dirty="0" smtClean="0"/>
              <a:t>In </a:t>
            </a:r>
            <a:r>
              <a:rPr lang="en-US" sz="2800" dirty="0"/>
              <a:t>Eclipse, here’s one way to do this: </a:t>
            </a:r>
          </a:p>
          <a:p>
            <a:pPr lvl="1">
              <a:buFont typeface="Wingdings" charset="2"/>
              <a:buChar char="ü"/>
            </a:pPr>
            <a:r>
              <a:rPr lang="en-US" sz="2400" dirty="0"/>
              <a:t>Select the </a:t>
            </a:r>
            <a:r>
              <a:rPr lang="en-US" sz="2400" dirty="0" err="1"/>
              <a:t>ScoreCollection.java</a:t>
            </a:r>
            <a:r>
              <a:rPr lang="en-US" sz="2400" dirty="0"/>
              <a:t> entry from the Package Explorer. </a:t>
            </a:r>
          </a:p>
          <a:p>
            <a:pPr lvl="1">
              <a:buFont typeface="Wingdings" charset="2"/>
              <a:buChar char="ü"/>
            </a:pPr>
            <a:r>
              <a:rPr lang="en-US" sz="2400" dirty="0"/>
              <a:t>Right-click to bring up the context menu. </a:t>
            </a:r>
          </a:p>
          <a:p>
            <a:pPr lvl="1">
              <a:buFont typeface="Wingdings" charset="2"/>
              <a:buChar char="ü"/>
            </a:pPr>
            <a:r>
              <a:rPr lang="en-US" sz="2400" dirty="0"/>
              <a:t>Select New ▶ </a:t>
            </a:r>
            <a:r>
              <a:rPr lang="en-US" sz="2400" dirty="0" err="1"/>
              <a:t>JUnit</a:t>
            </a:r>
            <a:r>
              <a:rPr lang="en-US" sz="2400" dirty="0"/>
              <a:t> Test Case. </a:t>
            </a:r>
          </a:p>
        </p:txBody>
      </p:sp>
    </p:spTree>
    <p:extLst>
      <p:ext uri="{BB962C8B-B14F-4D97-AF65-F5344CB8AC3E}">
        <p14:creationId xmlns:p14="http://schemas.microsoft.com/office/powerpoint/2010/main" val="3027727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3</a:t>
            </a:r>
            <a:endParaRPr lang="en-US" dirty="0"/>
          </a:p>
        </p:txBody>
      </p:sp>
      <p:pic>
        <p:nvPicPr>
          <p:cNvPr id="4" name="Picture 3" descr="Screen Shot 2021-08-27 at 12.23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49" y="1792872"/>
            <a:ext cx="7658973" cy="452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45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</a:t>
            </a:r>
            <a:r>
              <a:rPr lang="en-US" dirty="0" err="1" smtClean="0"/>
              <a:t>JUnit</a:t>
            </a:r>
            <a:r>
              <a:rPr lang="en-US" dirty="0" smtClean="0"/>
              <a:t> to the Path</a:t>
            </a:r>
            <a:endParaRPr lang="en-US" dirty="0"/>
          </a:p>
        </p:txBody>
      </p:sp>
      <p:pic>
        <p:nvPicPr>
          <p:cNvPr id="4" name="Picture 3" descr="Screen Shot 2021-08-27 at 12.33.5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28840"/>
            <a:ext cx="7978013" cy="348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31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Wizard</a:t>
            </a:r>
            <a:endParaRPr lang="en-US" dirty="0"/>
          </a:p>
        </p:txBody>
      </p:sp>
      <p:pic>
        <p:nvPicPr>
          <p:cNvPr id="4" name="Picture 3" descr="Screen Shot 2021-08-27 at 12.34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84576"/>
            <a:ext cx="7799216" cy="551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5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</a:t>
            </a:r>
            <a:endParaRPr lang="en-US" dirty="0"/>
          </a:p>
        </p:txBody>
      </p:sp>
      <p:pic>
        <p:nvPicPr>
          <p:cNvPr id="10" name="Picture 9" descr="running-people-flat-vector-26296038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358"/>
          <a:stretch/>
        </p:blipFill>
        <p:spPr>
          <a:xfrm>
            <a:off x="0" y="1419362"/>
            <a:ext cx="9144000" cy="5122490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1427732"/>
            <a:ext cx="8229600" cy="701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We’re </a:t>
            </a:r>
            <a:r>
              <a:rPr lang="en-US" dirty="0" smtClean="0"/>
              <a:t>good </a:t>
            </a:r>
            <a:r>
              <a:rPr lang="en-US" dirty="0" smtClean="0"/>
              <a:t>to </a:t>
            </a:r>
            <a:r>
              <a:rPr lang="en-US" dirty="0" smtClean="0"/>
              <a:t>run some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254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266</Words>
  <Application>Microsoft Macintosh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Software Testing  Lab</vt:lpstr>
      <vt:lpstr>The Book</vt:lpstr>
      <vt:lpstr>Environment</vt:lpstr>
      <vt:lpstr>Setup (see the book)</vt:lpstr>
      <vt:lpstr>Setup (cont.)</vt:lpstr>
      <vt:lpstr>Setup 3</vt:lpstr>
      <vt:lpstr>Adding JUnit to the Path</vt:lpstr>
      <vt:lpstr>The Wizard</vt:lpstr>
      <vt:lpstr>And</vt:lpstr>
    </vt:vector>
  </TitlesOfParts>
  <Company>ASU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Lab</dc:title>
  <dc:creator>Ashraf Gaffar</dc:creator>
  <cp:lastModifiedBy>Ashraf Gaffar</cp:lastModifiedBy>
  <cp:revision>9</cp:revision>
  <cp:lastPrinted>2022-01-31T18:57:25Z</cp:lastPrinted>
  <dcterms:created xsi:type="dcterms:W3CDTF">2021-08-27T17:16:50Z</dcterms:created>
  <dcterms:modified xsi:type="dcterms:W3CDTF">2022-05-18T21:10:58Z</dcterms:modified>
</cp:coreProperties>
</file>