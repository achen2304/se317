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336" r:id="rId2"/>
    <p:sldId id="385" r:id="rId3"/>
    <p:sldId id="384" r:id="rId4"/>
    <p:sldId id="338" r:id="rId5"/>
    <p:sldId id="386" r:id="rId6"/>
    <p:sldId id="340" r:id="rId7"/>
    <p:sldId id="341" r:id="rId8"/>
    <p:sldId id="342" r:id="rId9"/>
    <p:sldId id="343" r:id="rId10"/>
    <p:sldId id="355" r:id="rId11"/>
    <p:sldId id="345" r:id="rId12"/>
    <p:sldId id="354" r:id="rId13"/>
    <p:sldId id="353" r:id="rId14"/>
    <p:sldId id="377" r:id="rId15"/>
    <p:sldId id="388" r:id="rId16"/>
    <p:sldId id="389" r:id="rId17"/>
    <p:sldId id="356" r:id="rId18"/>
    <p:sldId id="350" r:id="rId19"/>
    <p:sldId id="379" r:id="rId20"/>
    <p:sldId id="390" r:id="rId21"/>
    <p:sldId id="391" r:id="rId22"/>
    <p:sldId id="347" r:id="rId23"/>
    <p:sldId id="357" r:id="rId24"/>
    <p:sldId id="359" r:id="rId25"/>
    <p:sldId id="360" r:id="rId26"/>
    <p:sldId id="361" r:id="rId27"/>
    <p:sldId id="383" r:id="rId28"/>
    <p:sldId id="362" r:id="rId29"/>
    <p:sldId id="376" r:id="rId30"/>
    <p:sldId id="369" r:id="rId31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80">
          <p15:clr>
            <a:srgbClr val="A4A3A4"/>
          </p15:clr>
        </p15:guide>
        <p15:guide id="2" pos="277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45A"/>
    <a:srgbClr val="001E5A"/>
    <a:srgbClr val="5F5F5F"/>
    <a:srgbClr val="000000"/>
    <a:srgbClr val="6699FF"/>
    <a:srgbClr val="3399FF"/>
    <a:srgbClr val="FF6600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5651" autoAdjust="0"/>
    <p:restoredTop sz="94780" autoAdjust="0"/>
  </p:normalViewPr>
  <p:slideViewPr>
    <p:cSldViewPr snapToGrid="0">
      <p:cViewPr varScale="1">
        <p:scale>
          <a:sx n="161" d="100"/>
          <a:sy n="161" d="100"/>
        </p:scale>
        <p:origin x="1776" y="200"/>
      </p:cViewPr>
      <p:guideLst>
        <p:guide orient="horz" pos="2280"/>
        <p:guide pos="2773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25.xml"/><Relationship Id="rId3" Type="http://schemas.openxmlformats.org/officeDocument/2006/relationships/slide" Target="slides/slide16.xml"/><Relationship Id="rId7" Type="http://schemas.openxmlformats.org/officeDocument/2006/relationships/slide" Target="slides/slide24.xml"/><Relationship Id="rId2" Type="http://schemas.openxmlformats.org/officeDocument/2006/relationships/slide" Target="slides/slide15.xml"/><Relationship Id="rId1" Type="http://schemas.openxmlformats.org/officeDocument/2006/relationships/slide" Target="slides/slide10.xml"/><Relationship Id="rId6" Type="http://schemas.openxmlformats.org/officeDocument/2006/relationships/slide" Target="slides/slide23.xml"/><Relationship Id="rId5" Type="http://schemas.openxmlformats.org/officeDocument/2006/relationships/slide" Target="slides/slide22.xml"/><Relationship Id="rId4" Type="http://schemas.openxmlformats.org/officeDocument/2006/relationships/slide" Target="slides/slide20.xml"/><Relationship Id="rId9" Type="http://schemas.openxmlformats.org/officeDocument/2006/relationships/slide" Target="slides/slide2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6" tIns="0" rIns="20136" bIns="0" numCol="1" anchor="t" anchorCtr="0" compatLnSpc="1">
            <a:prstTxWarp prst="textNoShape">
              <a:avLst/>
            </a:prstTxWarp>
          </a:bodyPr>
          <a:lstStyle>
            <a:lvl1pPr defTabSz="965840">
              <a:defRPr sz="1100" b="0" i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6" tIns="0" rIns="20136" bIns="0" numCol="1" anchor="t" anchorCtr="0" compatLnSpc="1">
            <a:prstTxWarp prst="textNoShape">
              <a:avLst/>
            </a:prstTxWarp>
          </a:bodyPr>
          <a:lstStyle>
            <a:lvl1pPr algn="r" defTabSz="965840">
              <a:defRPr sz="1100" b="0" i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6" tIns="0" rIns="20136" bIns="0" numCol="1" anchor="b" anchorCtr="0" compatLnSpc="1">
            <a:prstTxWarp prst="textNoShape">
              <a:avLst/>
            </a:prstTxWarp>
          </a:bodyPr>
          <a:lstStyle>
            <a:lvl1pPr defTabSz="965840">
              <a:defRPr sz="1100" b="0" i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6" tIns="0" rIns="20136" bIns="0" numCol="1" anchor="b" anchorCtr="0" compatLnSpc="1">
            <a:prstTxWarp prst="textNoShape">
              <a:avLst/>
            </a:prstTxWarp>
          </a:bodyPr>
          <a:lstStyle>
            <a:lvl1pPr algn="r" defTabSz="965840">
              <a:defRPr sz="1100" b="0" i="1"/>
            </a:lvl1pPr>
          </a:lstStyle>
          <a:p>
            <a:pPr>
              <a:defRPr/>
            </a:pPr>
            <a:fld id="{C7BB6B9F-6BEE-4492-97B2-C6D213633B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6219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6" tIns="0" rIns="20136" bIns="0" numCol="1" anchor="t" anchorCtr="0" compatLnSpc="1">
            <a:prstTxWarp prst="textNoShape">
              <a:avLst/>
            </a:prstTxWarp>
          </a:bodyPr>
          <a:lstStyle>
            <a:lvl1pPr defTabSz="965840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6" tIns="0" rIns="20136" bIns="0" numCol="1" anchor="t" anchorCtr="0" compatLnSpc="1">
            <a:prstTxWarp prst="textNoShape">
              <a:avLst/>
            </a:prstTxWarp>
          </a:bodyPr>
          <a:lstStyle>
            <a:lvl1pPr algn="r" defTabSz="965840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6" tIns="0" rIns="20136" bIns="0" numCol="1" anchor="b" anchorCtr="0" compatLnSpc="1">
            <a:prstTxWarp prst="textNoShape">
              <a:avLst/>
            </a:prstTxWarp>
          </a:bodyPr>
          <a:lstStyle>
            <a:lvl1pPr defTabSz="965840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6" tIns="0" rIns="20136" bIns="0" numCol="1" anchor="b" anchorCtr="0" compatLnSpc="1">
            <a:prstTxWarp prst="textNoShape">
              <a:avLst/>
            </a:prstTxWarp>
          </a:bodyPr>
          <a:lstStyle>
            <a:lvl1pPr algn="r" defTabSz="965840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D29F24B5-91E7-4C92-93FC-7BD65A23A04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59300"/>
            <a:ext cx="5365750" cy="431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323" tIns="48662" rIns="97323" bIns="4866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3799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0475" y="720725"/>
            <a:ext cx="4794250" cy="35956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3290888" y="9144000"/>
            <a:ext cx="747712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291" tIns="46984" rIns="92291" bIns="46984">
            <a:spAutoFit/>
          </a:bodyPr>
          <a:lstStyle/>
          <a:p>
            <a:pPr algn="ctr" defTabSz="917305">
              <a:lnSpc>
                <a:spcPct val="90000"/>
              </a:lnSpc>
              <a:defRPr/>
            </a:pPr>
            <a:r>
              <a:rPr lang="en-US" sz="1300" b="0" dirty="0">
                <a:solidFill>
                  <a:schemeClr val="tx1"/>
                </a:solidFill>
              </a:rPr>
              <a:t>Page </a:t>
            </a:r>
            <a:fld id="{39F12C26-DA6D-4D70-A323-9F928896A7D4}" type="slidenum">
              <a:rPr lang="en-US" sz="1300" b="0">
                <a:solidFill>
                  <a:schemeClr val="tx1"/>
                </a:solidFill>
              </a:rPr>
              <a:pPr algn="ctr" defTabSz="917305">
                <a:lnSpc>
                  <a:spcPct val="90000"/>
                </a:lnSpc>
                <a:defRPr/>
              </a:pPr>
              <a:t>‹#›</a:t>
            </a:fld>
            <a:endParaRPr lang="en-US" sz="13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292480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5200"/>
            <a:fld id="{876A6524-F329-4F2E-812B-2CFA2BB8E015}" type="slidenum">
              <a:rPr lang="en-US" smtClean="0"/>
              <a:pPr defTabSz="96520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5200"/>
            <a:fld id="{1D117C3E-0DEA-4F66-84C7-A5E73904F6F3}" type="slidenum">
              <a:rPr lang="en-US" smtClean="0"/>
              <a:pPr defTabSz="965200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5200"/>
            <a:fld id="{24F156E4-F728-4ADA-BF36-E3D098AAB297}" type="slidenum">
              <a:rPr lang="en-US" smtClean="0"/>
              <a:pPr defTabSz="965200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5200"/>
            <a:fld id="{0FC2353F-9C0B-41F8-B780-EE68B6466865}" type="slidenum">
              <a:rPr lang="en-US" smtClean="0"/>
              <a:pPr defTabSz="965200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5200"/>
            <a:fld id="{1C2EA201-672C-47CD-9229-A3B1A722616D}" type="slidenum">
              <a:rPr lang="en-US" smtClean="0"/>
              <a:pPr defTabSz="965200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5200"/>
            <a:fld id="{C8933F4B-5D60-44F2-B3E7-CD9806D31F7D}" type="slidenum">
              <a:rPr lang="en-US" smtClean="0"/>
              <a:pPr defTabSz="965200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5200"/>
            <a:fld id="{BCE2ADE5-FE9A-495F-9564-0DC5298FE2C4}" type="slidenum">
              <a:rPr lang="en-US" smtClean="0"/>
              <a:pPr defTabSz="965200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5200"/>
            <a:fld id="{BCE2ADE5-FE9A-495F-9564-0DC5298FE2C4}" type="slidenum">
              <a:rPr lang="en-US" smtClean="0"/>
              <a:pPr defTabSz="965200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5200"/>
            <a:fld id="{5C2118C7-8CCE-41B8-92C4-04702193C8EF}" type="slidenum">
              <a:rPr lang="en-US" smtClean="0"/>
              <a:pPr defTabSz="965200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5200"/>
            <a:fld id="{3A385A7E-3F01-428A-A1D6-941DB4E346FC}" type="slidenum">
              <a:rPr lang="en-US" smtClean="0"/>
              <a:pPr defTabSz="965200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5200"/>
            <a:fld id="{44EA8C7D-BC1F-4701-9DB1-9870CE769DD3}" type="slidenum">
              <a:rPr lang="en-US" smtClean="0"/>
              <a:pPr defTabSz="965200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5200"/>
            <a:fld id="{A5AC06A2-481B-4ED0-AE8E-46DA5F5194D4}" type="slidenum">
              <a:rPr lang="en-US" smtClean="0"/>
              <a:pPr defTabSz="965200"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5200"/>
            <a:fld id="{2A444456-0E23-471E-B483-6FFC555A14F0}" type="slidenum">
              <a:rPr lang="en-US" smtClean="0"/>
              <a:pPr defTabSz="965200"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5200"/>
            <a:fld id="{03B17957-1FFF-4AE8-B9A5-E511377C7618}" type="slidenum">
              <a:rPr lang="en-US" smtClean="0"/>
              <a:pPr defTabSz="965200"/>
              <a:t>29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Software Testing, Edition 2  (Ch 07)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94E05D-11E3-431E-87DD-475E56A3CF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Software Testing, Edition 2  (Ch 07)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1E34D2-BFAA-43E6-B117-0A7C9FC99B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Software Testing, Edition 2  (Ch 07)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00622C-CA54-4228-8014-86B52390B54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8113" y="1085850"/>
            <a:ext cx="4357687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85850"/>
            <a:ext cx="4357688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Software Testing, Edition 2  (Ch 07)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2D21EC-7ADB-4801-83F4-32E205B32F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Software Testing, Edition 2  (Ch 07)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D83153-14FF-4BE6-B48A-3786E0D7B8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Software Testing, Edition 2  (Ch 07)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6A7B84-9F6B-4375-98C9-19E41DF1CA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Software Testing, Edition 2  (Ch 07)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228736-AB71-4EFF-866C-FA1AAB8323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Software Testing, Edition 2  (Ch 07)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755514-60E9-460E-88D9-704B30AAD26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Software Testing, Edition 2  (Ch 07)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9496F0-B41E-432D-8254-675F0330BD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Software Testing, Edition 2  (Ch 07)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D053D6-ED5B-417A-8106-29D1AEFAA1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9738" y="96838"/>
            <a:ext cx="2216150" cy="62468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8113" y="96838"/>
            <a:ext cx="6499225" cy="62468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Software Testing, Edition 2  (Ch 07)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BAAE57-6A86-423C-BD8C-EF5BE5360C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1">
                <a:gamma/>
                <a:shade val="46275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5725" y="6507163"/>
            <a:ext cx="377031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b" anchorCtr="0" compatLnSpc="1">
            <a:prstTxWarp prst="textNoShape">
              <a:avLst/>
            </a:prstTxWarp>
          </a:bodyPr>
          <a:lstStyle>
            <a:lvl1pPr>
              <a:defRPr sz="9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Introduction to Software Testing, Edition 2  (Ch 07)</a:t>
            </a:r>
            <a:endParaRPr lang="en-US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497638"/>
            <a:ext cx="2895600" cy="28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b" anchorCtr="0" compatLnSpc="1">
            <a:prstTxWarp prst="textNoShape">
              <a:avLst/>
            </a:prstTxWarp>
          </a:bodyPr>
          <a:lstStyle>
            <a:lvl1pPr algn="ctr">
              <a:defRPr sz="9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16775" y="6489700"/>
            <a:ext cx="1905000" cy="290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b" anchorCtr="0" compatLnSpc="1">
            <a:prstTxWarp prst="textNoShape">
              <a:avLst/>
            </a:prstTxWarp>
          </a:bodyPr>
          <a:lstStyle>
            <a:lvl1pPr algn="r">
              <a:defRPr sz="9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CF908E1-C45A-4455-890F-ACADC7D039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85090" y="96838"/>
            <a:ext cx="8961120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" y="1085850"/>
            <a:ext cx="9005888" cy="5392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 </a:t>
            </a:r>
          </a:p>
          <a:p>
            <a:pPr lvl="4"/>
            <a:r>
              <a:rPr lang="en-US" dirty="0"/>
              <a:t>Fifth level </a:t>
            </a: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6350" y="6350"/>
            <a:ext cx="9118600" cy="6832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" name="Line 10"/>
          <p:cNvSpPr>
            <a:spLocks noChangeShapeType="1"/>
          </p:cNvSpPr>
          <p:nvPr userDrawn="1"/>
        </p:nvSpPr>
        <p:spPr bwMode="auto">
          <a:xfrm>
            <a:off x="-1" y="729143"/>
            <a:ext cx="9118833" cy="0"/>
          </a:xfrm>
          <a:prstGeom prst="line">
            <a:avLst/>
          </a:prstGeom>
          <a:noFill/>
          <a:ln w="57150">
            <a:solidFill>
              <a:srgbClr val="0099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hf hdr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Verdana" pitchFamily="34" charset="0"/>
          <a:ea typeface="+mj-ea"/>
          <a:cs typeface="+mj-cs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85000"/>
        <a:buChar char="•"/>
        <a:defRPr sz="2800" b="0">
          <a:solidFill>
            <a:schemeClr val="tx1"/>
          </a:solidFill>
          <a:latin typeface="Gill Sans MT" pitchFamily="34" charset="0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400" b="0">
          <a:solidFill>
            <a:schemeClr val="tx1"/>
          </a:solidFill>
          <a:latin typeface="Gill Sans MT" pitchFamily="34" charset="0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2000" b="0">
          <a:solidFill>
            <a:schemeClr val="tx1"/>
          </a:solidFill>
          <a:latin typeface="Gill Sans MT" pitchFamily="34" charset="0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 b="0">
          <a:solidFill>
            <a:schemeClr val="tx1"/>
          </a:solidFill>
          <a:latin typeface="Gill Sans MT" pitchFamily="34" charset="0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sz="2000" b="0">
          <a:solidFill>
            <a:schemeClr val="tx1"/>
          </a:solidFill>
          <a:latin typeface="Gill Sans MT" pitchFamily="34" charset="0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.gmu.edu/~offutt/softwaretest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09600" y="294243"/>
            <a:ext cx="7772400" cy="3433694"/>
          </a:xfrm>
        </p:spPr>
        <p:txBody>
          <a:bodyPr/>
          <a:lstStyle/>
          <a:p>
            <a:r>
              <a:rPr lang="en-US" dirty="0"/>
              <a:t>Introduction to Software Testing</a:t>
            </a:r>
            <a:br>
              <a:rPr lang="en-US" dirty="0"/>
            </a:br>
            <a:r>
              <a:rPr lang="en-US" sz="2800" i="1" dirty="0"/>
              <a:t>(2nd edition)</a:t>
            </a:r>
            <a:br>
              <a:rPr lang="en-US" sz="2800" i="1" dirty="0"/>
            </a:br>
            <a:r>
              <a:rPr lang="en-US" dirty="0"/>
              <a:t>Chapter 7.1, 7.2</a:t>
            </a:r>
            <a:br>
              <a:rPr lang="en-US" dirty="0"/>
            </a:br>
            <a:br>
              <a:rPr lang="en-US" dirty="0"/>
            </a:br>
            <a:r>
              <a:rPr lang="en-US" dirty="0"/>
              <a:t>Overview Graph Coverage Criteria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125421" y="3852847"/>
            <a:ext cx="6886135" cy="2270125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buSzTx/>
            </a:pPr>
            <a:r>
              <a:rPr lang="en-US" sz="3200" dirty="0"/>
              <a:t>Paul </a:t>
            </a:r>
            <a:r>
              <a:rPr lang="en-US" sz="3200" dirty="0" err="1"/>
              <a:t>Ammann</a:t>
            </a:r>
            <a:r>
              <a:rPr lang="en-US" sz="3200" dirty="0"/>
              <a:t> &amp; Jeff Offutt</a:t>
            </a:r>
          </a:p>
          <a:p>
            <a:pPr>
              <a:lnSpc>
                <a:spcPct val="100000"/>
              </a:lnSpc>
              <a:spcBef>
                <a:spcPct val="0"/>
              </a:spcBef>
              <a:buSzTx/>
            </a:pPr>
            <a:endParaRPr lang="en-US" sz="2800" dirty="0"/>
          </a:p>
          <a:p>
            <a:r>
              <a:rPr lang="en-US" b="0" dirty="0">
                <a:hlinkClick r:id="rId3"/>
              </a:rPr>
              <a:t>http://www.cs.gmu.edu/~offutt/softwaretest/</a:t>
            </a:r>
            <a:endParaRPr lang="en-US" b="0" dirty="0"/>
          </a:p>
          <a:p>
            <a:endParaRPr lang="en-US" sz="1800" b="0" dirty="0"/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2857586" y="6480059"/>
            <a:ext cx="342576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600" b="0" i="1" dirty="0">
                <a:latin typeface="Comic Sans MS" pitchFamily="66" charset="0"/>
              </a:rPr>
              <a:t>Update, January 2016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Ch. 7 : Graph Coverage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Software Testing, Edition 2  (Ch 07)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A1E189-A5E4-460C-B525-E80730F3D25C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2514600" y="914400"/>
            <a:ext cx="4114800" cy="974725"/>
          </a:xfrm>
          <a:prstGeom prst="rect">
            <a:avLst/>
          </a:prstGeom>
          <a:gradFill rotWithShape="1">
            <a:gsLst>
              <a:gs pos="0">
                <a:srgbClr val="FAF400"/>
              </a:gs>
              <a:gs pos="100000">
                <a:srgbClr val="FAF400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sz="28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mic Sans MS" pitchFamily="66" charset="0"/>
                <a:cs typeface="Arial" pitchFamily="34" charset="0"/>
              </a:rPr>
              <a:t>Four Structures for Modeling Software</a:t>
            </a:r>
          </a:p>
        </p:txBody>
      </p:sp>
      <p:grpSp>
        <p:nvGrpSpPr>
          <p:cNvPr id="60" name="Group 59"/>
          <p:cNvGrpSpPr/>
          <p:nvPr/>
        </p:nvGrpSpPr>
        <p:grpSpPr>
          <a:xfrm>
            <a:off x="204788" y="1905000"/>
            <a:ext cx="8682037" cy="1126755"/>
            <a:chOff x="204788" y="1905000"/>
            <a:chExt cx="8682037" cy="1126755"/>
          </a:xfrm>
        </p:grpSpPr>
        <p:sp>
          <p:nvSpPr>
            <p:cNvPr id="8" name="Text Box 5"/>
            <p:cNvSpPr txBox="1">
              <a:spLocks noChangeArrowheads="1"/>
            </p:cNvSpPr>
            <p:nvPr/>
          </p:nvSpPr>
          <p:spPr bwMode="auto">
            <a:xfrm>
              <a:off x="3139017" y="2484067"/>
              <a:ext cx="1498600" cy="547688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sz="2800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Graphs</a:t>
              </a:r>
            </a:p>
          </p:txBody>
        </p:sp>
        <p:sp>
          <p:nvSpPr>
            <p:cNvPr id="9" name="Text Box 6"/>
            <p:cNvSpPr txBox="1">
              <a:spLocks noChangeArrowheads="1"/>
            </p:cNvSpPr>
            <p:nvPr/>
          </p:nvSpPr>
          <p:spPr bwMode="auto">
            <a:xfrm>
              <a:off x="5262034" y="2484067"/>
              <a:ext cx="1500187" cy="547688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sz="2800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Logic</a:t>
              </a:r>
            </a:p>
          </p:txBody>
        </p:sp>
        <p:sp>
          <p:nvSpPr>
            <p:cNvPr id="10" name="Text Box 7"/>
            <p:cNvSpPr txBox="1">
              <a:spLocks noChangeArrowheads="1"/>
            </p:cNvSpPr>
            <p:nvPr/>
          </p:nvSpPr>
          <p:spPr bwMode="auto">
            <a:xfrm>
              <a:off x="204788" y="2484067"/>
              <a:ext cx="2309812" cy="547688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sz="280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Input Space</a:t>
              </a:r>
            </a:p>
          </p:txBody>
        </p:sp>
        <p:sp>
          <p:nvSpPr>
            <p:cNvPr id="11" name="Text Box 8"/>
            <p:cNvSpPr txBox="1">
              <a:spLocks noChangeArrowheads="1"/>
            </p:cNvSpPr>
            <p:nvPr/>
          </p:nvSpPr>
          <p:spPr bwMode="auto">
            <a:xfrm>
              <a:off x="7386638" y="2484067"/>
              <a:ext cx="1500187" cy="547688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sz="2800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Syntax</a:t>
              </a:r>
            </a:p>
          </p:txBody>
        </p:sp>
        <p:sp>
          <p:nvSpPr>
            <p:cNvPr id="12" name="Line 9"/>
            <p:cNvSpPr>
              <a:spLocks noChangeShapeType="1"/>
            </p:cNvSpPr>
            <p:nvPr/>
          </p:nvSpPr>
          <p:spPr bwMode="auto">
            <a:xfrm flipV="1">
              <a:off x="1359694" y="2184400"/>
              <a:ext cx="6787356" cy="1111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Line 10"/>
            <p:cNvSpPr>
              <a:spLocks noChangeShapeType="1"/>
            </p:cNvSpPr>
            <p:nvPr/>
          </p:nvSpPr>
          <p:spPr bwMode="auto">
            <a:xfrm>
              <a:off x="1357535" y="2184400"/>
              <a:ext cx="0" cy="2841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Line 11"/>
            <p:cNvSpPr>
              <a:spLocks noChangeShapeType="1"/>
            </p:cNvSpPr>
            <p:nvPr/>
          </p:nvSpPr>
          <p:spPr bwMode="auto">
            <a:xfrm>
              <a:off x="6007105" y="2195514"/>
              <a:ext cx="0" cy="2841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13"/>
            <p:cNvSpPr>
              <a:spLocks noChangeShapeType="1"/>
            </p:cNvSpPr>
            <p:nvPr/>
          </p:nvSpPr>
          <p:spPr bwMode="auto">
            <a:xfrm>
              <a:off x="4551363" y="1905000"/>
              <a:ext cx="0" cy="2841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14"/>
            <p:cNvSpPr>
              <a:spLocks noChangeShapeType="1"/>
            </p:cNvSpPr>
            <p:nvPr/>
          </p:nvSpPr>
          <p:spPr bwMode="auto">
            <a:xfrm>
              <a:off x="8137525" y="2171700"/>
              <a:ext cx="0" cy="2841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Line 10"/>
            <p:cNvSpPr>
              <a:spLocks noChangeShapeType="1"/>
            </p:cNvSpPr>
            <p:nvPr/>
          </p:nvSpPr>
          <p:spPr bwMode="auto">
            <a:xfrm>
              <a:off x="3889110" y="2194718"/>
              <a:ext cx="0" cy="2841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5" name="Group 64"/>
          <p:cNvGrpSpPr/>
          <p:nvPr/>
        </p:nvGrpSpPr>
        <p:grpSpPr>
          <a:xfrm>
            <a:off x="5816766" y="3024701"/>
            <a:ext cx="3201988" cy="3611563"/>
            <a:chOff x="5816766" y="3024701"/>
            <a:chExt cx="3201988" cy="3611563"/>
          </a:xfrm>
        </p:grpSpPr>
        <p:sp>
          <p:nvSpPr>
            <p:cNvPr id="22" name="AutoShape 42"/>
            <p:cNvSpPr>
              <a:spLocks noChangeArrowheads="1"/>
            </p:cNvSpPr>
            <p:nvPr/>
          </p:nvSpPr>
          <p:spPr bwMode="auto">
            <a:xfrm>
              <a:off x="5816766" y="5296414"/>
              <a:ext cx="3201988" cy="1339850"/>
            </a:xfrm>
            <a:prstGeom prst="roundRect">
              <a:avLst>
                <a:gd name="adj" fmla="val 16667"/>
              </a:avLst>
            </a:prstGeom>
            <a:solidFill>
              <a:srgbClr val="333399"/>
            </a:solidFill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Text Box 43"/>
            <p:cNvSpPr txBox="1">
              <a:spLocks noChangeArrowheads="1"/>
            </p:cNvSpPr>
            <p:nvPr/>
          </p:nvSpPr>
          <p:spPr bwMode="auto">
            <a:xfrm>
              <a:off x="7867816" y="6079051"/>
              <a:ext cx="1063625" cy="425450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Input</a:t>
              </a:r>
            </a:p>
          </p:txBody>
        </p:sp>
        <p:sp>
          <p:nvSpPr>
            <p:cNvPr id="24" name="Text Box 44"/>
            <p:cNvSpPr txBox="1">
              <a:spLocks noChangeArrowheads="1"/>
            </p:cNvSpPr>
            <p:nvPr/>
          </p:nvSpPr>
          <p:spPr bwMode="auto">
            <a:xfrm>
              <a:off x="7205829" y="5428176"/>
              <a:ext cx="1063625" cy="425450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Models</a:t>
              </a:r>
            </a:p>
          </p:txBody>
        </p:sp>
        <p:sp>
          <p:nvSpPr>
            <p:cNvPr id="25" name="Text Box 45"/>
            <p:cNvSpPr txBox="1">
              <a:spLocks noChangeArrowheads="1"/>
            </p:cNvSpPr>
            <p:nvPr/>
          </p:nvSpPr>
          <p:spPr bwMode="auto">
            <a:xfrm>
              <a:off x="6545429" y="6079051"/>
              <a:ext cx="1063625" cy="425450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Integ</a:t>
              </a:r>
            </a:p>
          </p:txBody>
        </p:sp>
        <p:sp>
          <p:nvSpPr>
            <p:cNvPr id="26" name="Text Box 46"/>
            <p:cNvSpPr txBox="1">
              <a:spLocks noChangeArrowheads="1"/>
            </p:cNvSpPr>
            <p:nvPr/>
          </p:nvSpPr>
          <p:spPr bwMode="auto">
            <a:xfrm>
              <a:off x="5904079" y="5426589"/>
              <a:ext cx="1063625" cy="425450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Source</a:t>
              </a:r>
            </a:p>
          </p:txBody>
        </p:sp>
        <p:sp>
          <p:nvSpPr>
            <p:cNvPr id="27" name="Line 47"/>
            <p:cNvSpPr>
              <a:spLocks noChangeShapeType="1"/>
            </p:cNvSpPr>
            <p:nvPr/>
          </p:nvSpPr>
          <p:spPr bwMode="auto">
            <a:xfrm>
              <a:off x="6421604" y="5026539"/>
              <a:ext cx="19939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Line 48"/>
            <p:cNvSpPr>
              <a:spLocks noChangeShapeType="1"/>
            </p:cNvSpPr>
            <p:nvPr/>
          </p:nvSpPr>
          <p:spPr bwMode="auto">
            <a:xfrm flipV="1">
              <a:off x="6435891" y="5026539"/>
              <a:ext cx="0" cy="3921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Line 49"/>
            <p:cNvSpPr>
              <a:spLocks noChangeShapeType="1"/>
            </p:cNvSpPr>
            <p:nvPr/>
          </p:nvSpPr>
          <p:spPr bwMode="auto">
            <a:xfrm flipV="1">
              <a:off x="7737641" y="5026539"/>
              <a:ext cx="0" cy="3984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Line 50"/>
            <p:cNvSpPr>
              <a:spLocks noChangeShapeType="1"/>
            </p:cNvSpPr>
            <p:nvPr/>
          </p:nvSpPr>
          <p:spPr bwMode="auto">
            <a:xfrm flipV="1">
              <a:off x="7077241" y="5036064"/>
              <a:ext cx="0" cy="10461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Line 51"/>
            <p:cNvSpPr>
              <a:spLocks noChangeShapeType="1"/>
            </p:cNvSpPr>
            <p:nvPr/>
          </p:nvSpPr>
          <p:spPr bwMode="auto">
            <a:xfrm flipV="1">
              <a:off x="8399629" y="5026539"/>
              <a:ext cx="0" cy="10398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Line 52"/>
            <p:cNvSpPr>
              <a:spLocks noChangeShapeType="1"/>
            </p:cNvSpPr>
            <p:nvPr/>
          </p:nvSpPr>
          <p:spPr bwMode="auto">
            <a:xfrm>
              <a:off x="8150391" y="3024701"/>
              <a:ext cx="0" cy="19907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 Box 53"/>
            <p:cNvSpPr txBox="1">
              <a:spLocks noChangeArrowheads="1"/>
            </p:cNvSpPr>
            <p:nvPr/>
          </p:nvSpPr>
          <p:spPr bwMode="auto">
            <a:xfrm>
              <a:off x="7415379" y="3575564"/>
              <a:ext cx="1120775" cy="701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dirty="0">
                  <a:latin typeface="Comic Sans MS" pitchFamily="66" charset="0"/>
                  <a:cs typeface="Arial" pitchFamily="34" charset="0"/>
                </a:rPr>
                <a:t>Applied to</a:t>
              </a:r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605062" y="2989263"/>
            <a:ext cx="3305175" cy="1971675"/>
            <a:chOff x="3605062" y="2989263"/>
            <a:chExt cx="3305175" cy="1971675"/>
          </a:xfrm>
        </p:grpSpPr>
        <p:sp>
          <p:nvSpPr>
            <p:cNvPr id="35" name="AutoShape 29"/>
            <p:cNvSpPr>
              <a:spLocks noChangeArrowheads="1"/>
            </p:cNvSpPr>
            <p:nvPr/>
          </p:nvSpPr>
          <p:spPr bwMode="auto">
            <a:xfrm>
              <a:off x="3605062" y="3621088"/>
              <a:ext cx="3305175" cy="1339850"/>
            </a:xfrm>
            <a:prstGeom prst="roundRect">
              <a:avLst>
                <a:gd name="adj" fmla="val 16667"/>
              </a:avLst>
            </a:prstGeom>
            <a:solidFill>
              <a:srgbClr val="333399"/>
            </a:solidFill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Text Box 30"/>
            <p:cNvSpPr txBox="1">
              <a:spLocks noChangeArrowheads="1"/>
            </p:cNvSpPr>
            <p:nvPr/>
          </p:nvSpPr>
          <p:spPr bwMode="auto">
            <a:xfrm>
              <a:off x="5727550" y="4383088"/>
              <a:ext cx="1087438" cy="425450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DNF</a:t>
              </a:r>
            </a:p>
          </p:txBody>
        </p:sp>
        <p:sp>
          <p:nvSpPr>
            <p:cNvPr id="37" name="Text Box 31"/>
            <p:cNvSpPr txBox="1">
              <a:spLocks noChangeArrowheads="1"/>
            </p:cNvSpPr>
            <p:nvPr/>
          </p:nvSpPr>
          <p:spPr bwMode="auto">
            <a:xfrm>
              <a:off x="4387700" y="4402138"/>
              <a:ext cx="1087438" cy="425450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Specs</a:t>
              </a:r>
            </a:p>
          </p:txBody>
        </p:sp>
        <p:sp>
          <p:nvSpPr>
            <p:cNvPr id="38" name="Text Box 32"/>
            <p:cNvSpPr txBox="1">
              <a:spLocks noChangeArrowheads="1"/>
            </p:cNvSpPr>
            <p:nvPr/>
          </p:nvSpPr>
          <p:spPr bwMode="auto">
            <a:xfrm>
              <a:off x="5089375" y="3706813"/>
              <a:ext cx="1087438" cy="425450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FSMs</a:t>
              </a:r>
            </a:p>
          </p:txBody>
        </p:sp>
        <p:sp>
          <p:nvSpPr>
            <p:cNvPr id="39" name="Text Box 33"/>
            <p:cNvSpPr txBox="1">
              <a:spLocks noChangeArrowheads="1"/>
            </p:cNvSpPr>
            <p:nvPr/>
          </p:nvSpPr>
          <p:spPr bwMode="auto">
            <a:xfrm>
              <a:off x="3749525" y="3727451"/>
              <a:ext cx="1087438" cy="425450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Source</a:t>
              </a:r>
            </a:p>
          </p:txBody>
        </p:sp>
        <p:sp>
          <p:nvSpPr>
            <p:cNvPr id="41" name="Line 35"/>
            <p:cNvSpPr>
              <a:spLocks noChangeShapeType="1"/>
            </p:cNvSpPr>
            <p:nvPr/>
          </p:nvSpPr>
          <p:spPr bwMode="auto">
            <a:xfrm>
              <a:off x="4292450" y="3336926"/>
              <a:ext cx="19939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Line 36"/>
            <p:cNvSpPr>
              <a:spLocks noChangeShapeType="1"/>
            </p:cNvSpPr>
            <p:nvPr/>
          </p:nvSpPr>
          <p:spPr bwMode="auto">
            <a:xfrm flipV="1">
              <a:off x="4294037" y="3336926"/>
              <a:ext cx="0" cy="3730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Line 37"/>
            <p:cNvSpPr>
              <a:spLocks noChangeShapeType="1"/>
            </p:cNvSpPr>
            <p:nvPr/>
          </p:nvSpPr>
          <p:spPr bwMode="auto">
            <a:xfrm flipV="1">
              <a:off x="5633887" y="3336926"/>
              <a:ext cx="0" cy="3794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Line 38"/>
            <p:cNvSpPr>
              <a:spLocks noChangeShapeType="1"/>
            </p:cNvSpPr>
            <p:nvPr/>
          </p:nvSpPr>
          <p:spPr bwMode="auto">
            <a:xfrm flipV="1">
              <a:off x="4932212" y="3346451"/>
              <a:ext cx="0" cy="10461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Line 39"/>
            <p:cNvSpPr>
              <a:spLocks noChangeShapeType="1"/>
            </p:cNvSpPr>
            <p:nvPr/>
          </p:nvSpPr>
          <p:spPr bwMode="auto">
            <a:xfrm flipV="1">
              <a:off x="6272062" y="3336926"/>
              <a:ext cx="0" cy="10398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 Box 40"/>
            <p:cNvSpPr txBox="1">
              <a:spLocks noChangeArrowheads="1"/>
            </p:cNvSpPr>
            <p:nvPr/>
          </p:nvSpPr>
          <p:spPr bwMode="auto">
            <a:xfrm>
              <a:off x="4871887" y="2989263"/>
              <a:ext cx="1589088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dirty="0">
                  <a:latin typeface="Comic Sans MS" pitchFamily="66" charset="0"/>
                  <a:cs typeface="Arial" pitchFamily="34" charset="0"/>
                </a:rPr>
                <a:t>Applied to</a:t>
              </a:r>
            </a:p>
          </p:txBody>
        </p:sp>
        <p:sp>
          <p:nvSpPr>
            <p:cNvPr id="54" name="Line 22"/>
            <p:cNvSpPr>
              <a:spLocks noChangeShapeType="1"/>
            </p:cNvSpPr>
            <p:nvPr/>
          </p:nvSpPr>
          <p:spPr bwMode="auto">
            <a:xfrm>
              <a:off x="6008312" y="3024188"/>
              <a:ext cx="0" cy="3206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3" name="Group 62"/>
          <p:cNvGrpSpPr/>
          <p:nvPr/>
        </p:nvGrpSpPr>
        <p:grpSpPr>
          <a:xfrm>
            <a:off x="175838" y="3005138"/>
            <a:ext cx="4138612" cy="3598863"/>
            <a:chOff x="175838" y="3005138"/>
            <a:chExt cx="4138612" cy="3598863"/>
          </a:xfrm>
        </p:grpSpPr>
        <p:sp>
          <p:nvSpPr>
            <p:cNvPr id="40" name="Line 34"/>
            <p:cNvSpPr>
              <a:spLocks noChangeShapeType="1"/>
            </p:cNvSpPr>
            <p:nvPr/>
          </p:nvSpPr>
          <p:spPr bwMode="auto">
            <a:xfrm>
              <a:off x="4030512" y="3035301"/>
              <a:ext cx="0" cy="3095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AutoShape 16"/>
            <p:cNvSpPr>
              <a:spLocks noChangeArrowheads="1"/>
            </p:cNvSpPr>
            <p:nvPr/>
          </p:nvSpPr>
          <p:spPr bwMode="auto">
            <a:xfrm>
              <a:off x="175838" y="5264151"/>
              <a:ext cx="4138612" cy="1339850"/>
            </a:xfrm>
            <a:prstGeom prst="roundRect">
              <a:avLst>
                <a:gd name="adj" fmla="val 16667"/>
              </a:avLst>
            </a:prstGeom>
            <a:solidFill>
              <a:srgbClr val="333399"/>
            </a:solidFill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Text Box 17"/>
            <p:cNvSpPr txBox="1">
              <a:spLocks noChangeArrowheads="1"/>
            </p:cNvSpPr>
            <p:nvPr/>
          </p:nvSpPr>
          <p:spPr bwMode="auto">
            <a:xfrm>
              <a:off x="2798388" y="6054726"/>
              <a:ext cx="1441450" cy="425450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Use cases</a:t>
              </a:r>
            </a:p>
          </p:txBody>
        </p:sp>
        <p:sp>
          <p:nvSpPr>
            <p:cNvPr id="50" name="Text Box 18"/>
            <p:cNvSpPr txBox="1">
              <a:spLocks noChangeArrowheads="1"/>
            </p:cNvSpPr>
            <p:nvPr/>
          </p:nvSpPr>
          <p:spPr bwMode="auto">
            <a:xfrm>
              <a:off x="1968125" y="5381626"/>
              <a:ext cx="1441450" cy="425450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Specs</a:t>
              </a:r>
            </a:p>
          </p:txBody>
        </p:sp>
        <p:sp>
          <p:nvSpPr>
            <p:cNvPr id="51" name="Text Box 19"/>
            <p:cNvSpPr txBox="1">
              <a:spLocks noChangeArrowheads="1"/>
            </p:cNvSpPr>
            <p:nvPr/>
          </p:nvSpPr>
          <p:spPr bwMode="auto">
            <a:xfrm>
              <a:off x="1109288" y="6054726"/>
              <a:ext cx="1441450" cy="425450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Design</a:t>
              </a:r>
            </a:p>
          </p:txBody>
        </p:sp>
        <p:sp>
          <p:nvSpPr>
            <p:cNvPr id="52" name="Text Box 20"/>
            <p:cNvSpPr txBox="1">
              <a:spLocks noChangeArrowheads="1"/>
            </p:cNvSpPr>
            <p:nvPr/>
          </p:nvSpPr>
          <p:spPr bwMode="auto">
            <a:xfrm>
              <a:off x="272675" y="5381626"/>
              <a:ext cx="1441450" cy="425450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Source</a:t>
              </a:r>
            </a:p>
          </p:txBody>
        </p:sp>
        <p:sp>
          <p:nvSpPr>
            <p:cNvPr id="53" name="Line 21"/>
            <p:cNvSpPr>
              <a:spLocks noChangeShapeType="1"/>
            </p:cNvSpPr>
            <p:nvPr/>
          </p:nvSpPr>
          <p:spPr bwMode="auto">
            <a:xfrm>
              <a:off x="972763" y="3355976"/>
              <a:ext cx="30686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Line 23"/>
            <p:cNvSpPr>
              <a:spLocks noChangeShapeType="1"/>
            </p:cNvSpPr>
            <p:nvPr/>
          </p:nvSpPr>
          <p:spPr bwMode="auto">
            <a:xfrm flipV="1">
              <a:off x="988638" y="3336926"/>
              <a:ext cx="0" cy="203993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Line 24"/>
            <p:cNvSpPr>
              <a:spLocks noChangeShapeType="1"/>
            </p:cNvSpPr>
            <p:nvPr/>
          </p:nvSpPr>
          <p:spPr bwMode="auto">
            <a:xfrm flipV="1">
              <a:off x="2690438" y="3346451"/>
              <a:ext cx="0" cy="20367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Line 25"/>
            <p:cNvSpPr>
              <a:spLocks noChangeShapeType="1"/>
            </p:cNvSpPr>
            <p:nvPr/>
          </p:nvSpPr>
          <p:spPr bwMode="auto">
            <a:xfrm flipV="1">
              <a:off x="1833188" y="3346451"/>
              <a:ext cx="0" cy="26908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Line 26"/>
            <p:cNvSpPr>
              <a:spLocks noChangeShapeType="1"/>
            </p:cNvSpPr>
            <p:nvPr/>
          </p:nvSpPr>
          <p:spPr bwMode="auto">
            <a:xfrm flipV="1">
              <a:off x="3522287" y="3355976"/>
              <a:ext cx="0" cy="268763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Text Box 27"/>
            <p:cNvSpPr txBox="1">
              <a:spLocks noChangeArrowheads="1"/>
            </p:cNvSpPr>
            <p:nvPr/>
          </p:nvSpPr>
          <p:spPr bwMode="auto">
            <a:xfrm>
              <a:off x="2638978" y="3005138"/>
              <a:ext cx="1120775" cy="701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dirty="0">
                  <a:latin typeface="Comic Sans MS" pitchFamily="66" charset="0"/>
                  <a:cs typeface="Arial" pitchFamily="34" charset="0"/>
                </a:rPr>
                <a:t>Applied to</a:t>
              </a:r>
            </a:p>
          </p:txBody>
        </p:sp>
      </p:grpSp>
      <p:sp>
        <p:nvSpPr>
          <p:cNvPr id="61" name="Rectangle 55"/>
          <p:cNvSpPr>
            <a:spLocks noChangeArrowheads="1"/>
          </p:cNvSpPr>
          <p:nvPr/>
        </p:nvSpPr>
        <p:spPr bwMode="auto">
          <a:xfrm>
            <a:off x="4836963" y="2020888"/>
            <a:ext cx="4307037" cy="4664075"/>
          </a:xfrm>
          <a:prstGeom prst="rect">
            <a:avLst/>
          </a:prstGeom>
          <a:solidFill>
            <a:srgbClr val="C0C0C0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62" name="Rectangle 56"/>
          <p:cNvSpPr>
            <a:spLocks noChangeArrowheads="1"/>
          </p:cNvSpPr>
          <p:nvPr/>
        </p:nvSpPr>
        <p:spPr bwMode="auto">
          <a:xfrm>
            <a:off x="3605062" y="3526632"/>
            <a:ext cx="4637238" cy="1509432"/>
          </a:xfrm>
          <a:prstGeom prst="rect">
            <a:avLst/>
          </a:prstGeom>
          <a:solidFill>
            <a:srgbClr val="C0C0C0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66" name="Rectangle 56"/>
          <p:cNvSpPr>
            <a:spLocks noChangeArrowheads="1"/>
          </p:cNvSpPr>
          <p:nvPr/>
        </p:nvSpPr>
        <p:spPr bwMode="auto">
          <a:xfrm>
            <a:off x="44450" y="2020889"/>
            <a:ext cx="2644400" cy="1166812"/>
          </a:xfrm>
          <a:prstGeom prst="rect">
            <a:avLst/>
          </a:prstGeom>
          <a:solidFill>
            <a:srgbClr val="C0C0C0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083354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62" grpId="0" animBg="1"/>
      <p:bldP spid="6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Covering Graphs  (7.1)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Graphs are the most </a:t>
            </a:r>
            <a:r>
              <a:rPr lang="en-US" dirty="0">
                <a:solidFill>
                  <a:schemeClr val="tx2"/>
                </a:solidFill>
              </a:rPr>
              <a:t>commonly</a:t>
            </a:r>
            <a:r>
              <a:rPr lang="en-US" dirty="0"/>
              <a:t> used structure for testing</a:t>
            </a:r>
          </a:p>
          <a:p>
            <a:pPr lvl="1"/>
            <a:endParaRPr lang="en-US" sz="1800" dirty="0"/>
          </a:p>
          <a:p>
            <a:r>
              <a:rPr lang="en-US" dirty="0"/>
              <a:t>Graphs can come from </a:t>
            </a:r>
            <a:r>
              <a:rPr lang="en-US" dirty="0">
                <a:solidFill>
                  <a:schemeClr val="tx2"/>
                </a:solidFill>
              </a:rPr>
              <a:t>many sources</a:t>
            </a:r>
          </a:p>
          <a:p>
            <a:pPr lvl="1"/>
            <a:r>
              <a:rPr lang="en-US" dirty="0"/>
              <a:t>Control flow graphs</a:t>
            </a:r>
          </a:p>
          <a:p>
            <a:pPr lvl="1"/>
            <a:r>
              <a:rPr lang="en-US" dirty="0"/>
              <a:t>Design structure</a:t>
            </a:r>
          </a:p>
          <a:p>
            <a:pPr lvl="1"/>
            <a:r>
              <a:rPr lang="en-US" dirty="0"/>
              <a:t>FSMs and </a:t>
            </a:r>
            <a:r>
              <a:rPr lang="en-US" dirty="0" err="1"/>
              <a:t>statecharts</a:t>
            </a:r>
            <a:endParaRPr lang="en-US" dirty="0"/>
          </a:p>
          <a:p>
            <a:pPr lvl="1"/>
            <a:r>
              <a:rPr lang="en-US" dirty="0"/>
              <a:t>Use cases</a:t>
            </a:r>
          </a:p>
          <a:p>
            <a:pPr lvl="1"/>
            <a:endParaRPr lang="en-US" sz="1800" dirty="0"/>
          </a:p>
          <a:p>
            <a:r>
              <a:rPr lang="en-US" dirty="0"/>
              <a:t>Tests usually are intended to “</a:t>
            </a:r>
            <a:r>
              <a:rPr lang="en-US" dirty="0">
                <a:solidFill>
                  <a:schemeClr val="tx2"/>
                </a:solidFill>
              </a:rPr>
              <a:t>cover</a:t>
            </a:r>
            <a:r>
              <a:rPr lang="en-US" dirty="0"/>
              <a:t>” the graph in some way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Software Testing, Edition 2  (Ch 07)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1E34D2-BFAA-43E6-B117-0A7C9FC99B38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Introduction to Software Testing, Edition 2  (Ch 07)</a:t>
            </a:r>
          </a:p>
        </p:txBody>
      </p:sp>
      <p:sp>
        <p:nvSpPr>
          <p:cNvPr id="5123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© Ammann &amp; Offutt</a:t>
            </a:r>
          </a:p>
        </p:txBody>
      </p:sp>
      <p:sp>
        <p:nvSpPr>
          <p:cNvPr id="512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13CB583-FD6B-4493-B6FA-E739FBE13C86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 of a Graph</a:t>
            </a:r>
          </a:p>
        </p:txBody>
      </p:sp>
      <p:sp>
        <p:nvSpPr>
          <p:cNvPr id="512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set </a:t>
            </a:r>
            <a:r>
              <a:rPr lang="en-US" i="1" dirty="0"/>
              <a:t>N</a:t>
            </a:r>
            <a:r>
              <a:rPr lang="en-US" dirty="0"/>
              <a:t> of </a:t>
            </a:r>
            <a:r>
              <a:rPr lang="en-US" dirty="0">
                <a:solidFill>
                  <a:schemeClr val="tx2"/>
                </a:solidFill>
              </a:rPr>
              <a:t>nodes</a:t>
            </a:r>
            <a:r>
              <a:rPr lang="en-US" dirty="0"/>
              <a:t>, </a:t>
            </a:r>
            <a:r>
              <a:rPr lang="en-US" i="1" dirty="0"/>
              <a:t>N</a:t>
            </a:r>
            <a:r>
              <a:rPr lang="en-US" dirty="0"/>
              <a:t> is not empty</a:t>
            </a:r>
          </a:p>
          <a:p>
            <a:pPr lvl="1"/>
            <a:endParaRPr lang="en-US" sz="1800" dirty="0"/>
          </a:p>
          <a:p>
            <a:r>
              <a:rPr lang="en-US" dirty="0"/>
              <a:t>A set </a:t>
            </a:r>
            <a:r>
              <a:rPr lang="en-US" i="1" dirty="0"/>
              <a:t>N</a:t>
            </a:r>
            <a:r>
              <a:rPr lang="en-US" i="1" baseline="-25000" dirty="0"/>
              <a:t>0</a:t>
            </a:r>
            <a:r>
              <a:rPr lang="en-US" dirty="0"/>
              <a:t> of </a:t>
            </a:r>
            <a:r>
              <a:rPr lang="en-US" dirty="0">
                <a:solidFill>
                  <a:schemeClr val="tx2"/>
                </a:solidFill>
              </a:rPr>
              <a:t>initial nodes</a:t>
            </a:r>
            <a:r>
              <a:rPr lang="en-US" dirty="0"/>
              <a:t>, </a:t>
            </a:r>
            <a:r>
              <a:rPr lang="en-US" i="1" dirty="0"/>
              <a:t>N</a:t>
            </a:r>
            <a:r>
              <a:rPr lang="en-US" i="1" baseline="-25000" dirty="0"/>
              <a:t>0</a:t>
            </a:r>
            <a:r>
              <a:rPr lang="en-US" dirty="0"/>
              <a:t> is not empty</a:t>
            </a:r>
          </a:p>
          <a:p>
            <a:pPr lvl="1"/>
            <a:endParaRPr lang="en-US" sz="1800" dirty="0"/>
          </a:p>
          <a:p>
            <a:r>
              <a:rPr lang="en-US" dirty="0"/>
              <a:t>A set </a:t>
            </a:r>
            <a:r>
              <a:rPr lang="en-US" i="1" dirty="0" err="1"/>
              <a:t>N</a:t>
            </a:r>
            <a:r>
              <a:rPr lang="en-US" i="1" baseline="-25000" dirty="0" err="1"/>
              <a:t>f</a:t>
            </a:r>
            <a:r>
              <a:rPr lang="en-US" dirty="0"/>
              <a:t> of </a:t>
            </a:r>
            <a:r>
              <a:rPr lang="en-US" dirty="0">
                <a:solidFill>
                  <a:schemeClr val="tx2"/>
                </a:solidFill>
              </a:rPr>
              <a:t>final nodes</a:t>
            </a:r>
            <a:r>
              <a:rPr lang="en-US" dirty="0"/>
              <a:t>, </a:t>
            </a:r>
            <a:r>
              <a:rPr lang="en-US" i="1" dirty="0" err="1"/>
              <a:t>N</a:t>
            </a:r>
            <a:r>
              <a:rPr lang="en-US" i="1" baseline="-25000" dirty="0" err="1"/>
              <a:t>f</a:t>
            </a:r>
            <a:r>
              <a:rPr lang="en-US" dirty="0"/>
              <a:t> is not empty</a:t>
            </a:r>
          </a:p>
          <a:p>
            <a:pPr lvl="1"/>
            <a:endParaRPr lang="en-US" sz="1800" dirty="0"/>
          </a:p>
          <a:p>
            <a:r>
              <a:rPr lang="en-US" dirty="0"/>
              <a:t>A set </a:t>
            </a:r>
            <a:r>
              <a:rPr lang="en-US" i="1" dirty="0"/>
              <a:t>E</a:t>
            </a:r>
            <a:r>
              <a:rPr lang="en-US" dirty="0"/>
              <a:t> of </a:t>
            </a:r>
            <a:r>
              <a:rPr lang="en-US" dirty="0">
                <a:solidFill>
                  <a:schemeClr val="tx2"/>
                </a:solidFill>
              </a:rPr>
              <a:t>edges</a:t>
            </a:r>
            <a:r>
              <a:rPr lang="en-US" dirty="0"/>
              <a:t>, each edge from one node to another</a:t>
            </a:r>
          </a:p>
          <a:p>
            <a:pPr lvl="1"/>
            <a:r>
              <a:rPr lang="en-US" sz="1800" dirty="0"/>
              <a:t>( </a:t>
            </a:r>
            <a:r>
              <a:rPr lang="en-US" i="1" dirty="0" err="1"/>
              <a:t>n</a:t>
            </a:r>
            <a:r>
              <a:rPr lang="en-US" i="1" baseline="-25000" dirty="0" err="1"/>
              <a:t>i</a:t>
            </a:r>
            <a:r>
              <a:rPr lang="en-US" dirty="0"/>
              <a:t> , </a:t>
            </a:r>
            <a:r>
              <a:rPr lang="en-US" i="1" dirty="0" err="1"/>
              <a:t>n</a:t>
            </a:r>
            <a:r>
              <a:rPr lang="en-US" i="1" baseline="-25000" dirty="0" err="1"/>
              <a:t>j</a:t>
            </a:r>
            <a:r>
              <a:rPr lang="en-US" dirty="0"/>
              <a:t> ), </a:t>
            </a:r>
            <a:r>
              <a:rPr lang="en-US" i="1" dirty="0" err="1"/>
              <a:t>i</a:t>
            </a:r>
            <a:r>
              <a:rPr lang="en-US" dirty="0"/>
              <a:t> is </a:t>
            </a:r>
            <a:r>
              <a:rPr lang="en-US" dirty="0">
                <a:solidFill>
                  <a:schemeClr val="tx2"/>
                </a:solidFill>
              </a:rPr>
              <a:t>predecessor</a:t>
            </a:r>
            <a:r>
              <a:rPr lang="en-US" dirty="0"/>
              <a:t>, </a:t>
            </a:r>
            <a:r>
              <a:rPr lang="en-US" i="1" dirty="0"/>
              <a:t>j</a:t>
            </a:r>
            <a:r>
              <a:rPr lang="en-US" dirty="0"/>
              <a:t> is </a:t>
            </a:r>
            <a:r>
              <a:rPr lang="en-US" dirty="0">
                <a:solidFill>
                  <a:schemeClr val="tx2"/>
                </a:solidFill>
              </a:rPr>
              <a:t>successor</a:t>
            </a:r>
            <a:endParaRPr lang="en-US" sz="1800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Introduction to Software Testing, Edition 2  (Ch 07)</a:t>
            </a: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© Ammann &amp; Offutt</a:t>
            </a:r>
          </a:p>
        </p:txBody>
      </p:sp>
      <p:sp>
        <p:nvSpPr>
          <p:cNvPr id="614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235AFF7-E3DE-47C9-9E1F-BFE4AC90438E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Graphs</a:t>
            </a:r>
          </a:p>
        </p:txBody>
      </p:sp>
      <p:grpSp>
        <p:nvGrpSpPr>
          <p:cNvPr id="6150" name="Group 114"/>
          <p:cNvGrpSpPr>
            <a:grpSpLocks/>
          </p:cNvGrpSpPr>
          <p:nvPr/>
        </p:nvGrpSpPr>
        <p:grpSpPr bwMode="auto">
          <a:xfrm>
            <a:off x="160338" y="873639"/>
            <a:ext cx="1984375" cy="3794125"/>
            <a:chOff x="101" y="801"/>
            <a:chExt cx="1250" cy="2390"/>
          </a:xfrm>
        </p:grpSpPr>
        <p:sp>
          <p:nvSpPr>
            <p:cNvPr id="6204" name="Oval 5"/>
            <p:cNvSpPr>
              <a:spLocks noChangeArrowheads="1"/>
            </p:cNvSpPr>
            <p:nvPr/>
          </p:nvSpPr>
          <p:spPr bwMode="auto">
            <a:xfrm>
              <a:off x="551" y="1019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05" name="Text Box 4"/>
            <p:cNvSpPr txBox="1">
              <a:spLocks noChangeArrowheads="1"/>
            </p:cNvSpPr>
            <p:nvPr/>
          </p:nvSpPr>
          <p:spPr bwMode="auto">
            <a:xfrm>
              <a:off x="628" y="1042"/>
              <a:ext cx="196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206" name="Oval 8"/>
            <p:cNvSpPr>
              <a:spLocks noChangeArrowheads="1"/>
            </p:cNvSpPr>
            <p:nvPr/>
          </p:nvSpPr>
          <p:spPr bwMode="auto">
            <a:xfrm>
              <a:off x="1001" y="1957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07" name="Text Box 9"/>
            <p:cNvSpPr txBox="1">
              <a:spLocks noChangeArrowheads="1"/>
            </p:cNvSpPr>
            <p:nvPr/>
          </p:nvSpPr>
          <p:spPr bwMode="auto">
            <a:xfrm>
              <a:off x="1078" y="1980"/>
              <a:ext cx="196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6208" name="Oval 11"/>
            <p:cNvSpPr>
              <a:spLocks noChangeArrowheads="1"/>
            </p:cNvSpPr>
            <p:nvPr/>
          </p:nvSpPr>
          <p:spPr bwMode="auto">
            <a:xfrm>
              <a:off x="101" y="1957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09" name="Text Box 12"/>
            <p:cNvSpPr txBox="1">
              <a:spLocks noChangeArrowheads="1"/>
            </p:cNvSpPr>
            <p:nvPr/>
          </p:nvSpPr>
          <p:spPr bwMode="auto">
            <a:xfrm>
              <a:off x="178" y="1980"/>
              <a:ext cx="196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210" name="Oval 14"/>
            <p:cNvSpPr>
              <a:spLocks noChangeArrowheads="1"/>
            </p:cNvSpPr>
            <p:nvPr/>
          </p:nvSpPr>
          <p:spPr bwMode="auto">
            <a:xfrm>
              <a:off x="551" y="2895"/>
              <a:ext cx="350" cy="296"/>
            </a:xfrm>
            <a:prstGeom prst="ellipse">
              <a:avLst/>
            </a:prstGeom>
            <a:solidFill>
              <a:srgbClr val="0066FF"/>
            </a:solidFill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11" name="Text Box 15"/>
            <p:cNvSpPr txBox="1">
              <a:spLocks noChangeArrowheads="1"/>
            </p:cNvSpPr>
            <p:nvPr/>
          </p:nvSpPr>
          <p:spPr bwMode="auto">
            <a:xfrm>
              <a:off x="628" y="2918"/>
              <a:ext cx="196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6212" name="Line 19"/>
            <p:cNvSpPr>
              <a:spLocks noChangeShapeType="1"/>
            </p:cNvSpPr>
            <p:nvPr/>
          </p:nvSpPr>
          <p:spPr bwMode="auto">
            <a:xfrm flipH="1">
              <a:off x="360" y="1312"/>
              <a:ext cx="327" cy="66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13" name="Line 22"/>
            <p:cNvSpPr>
              <a:spLocks noChangeShapeType="1"/>
            </p:cNvSpPr>
            <p:nvPr/>
          </p:nvSpPr>
          <p:spPr bwMode="auto">
            <a:xfrm>
              <a:off x="384" y="2239"/>
              <a:ext cx="280" cy="6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14" name="Line 27"/>
            <p:cNvSpPr>
              <a:spLocks noChangeShapeType="1"/>
            </p:cNvSpPr>
            <p:nvPr/>
          </p:nvSpPr>
          <p:spPr bwMode="auto">
            <a:xfrm flipH="1">
              <a:off x="780" y="2235"/>
              <a:ext cx="303" cy="6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15" name="Line 28"/>
            <p:cNvSpPr>
              <a:spLocks noChangeShapeType="1"/>
            </p:cNvSpPr>
            <p:nvPr/>
          </p:nvSpPr>
          <p:spPr bwMode="auto">
            <a:xfrm>
              <a:off x="780" y="1317"/>
              <a:ext cx="303" cy="65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16" name="Line 29"/>
            <p:cNvSpPr>
              <a:spLocks noChangeShapeType="1"/>
            </p:cNvSpPr>
            <p:nvPr/>
          </p:nvSpPr>
          <p:spPr bwMode="auto">
            <a:xfrm>
              <a:off x="726" y="801"/>
              <a:ext cx="0" cy="20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151" name="Text Box 109"/>
          <p:cNvSpPr txBox="1">
            <a:spLocks noChangeArrowheads="1"/>
          </p:cNvSpPr>
          <p:nvPr/>
        </p:nvSpPr>
        <p:spPr bwMode="auto">
          <a:xfrm>
            <a:off x="160338" y="4802187"/>
            <a:ext cx="2066395" cy="163121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N</a:t>
            </a:r>
            <a:r>
              <a:rPr lang="en-US" baseline="-25000" dirty="0">
                <a:solidFill>
                  <a:schemeClr val="tx1"/>
                </a:solidFill>
                <a:latin typeface="Gill Sans MT" pitchFamily="34" charset="0"/>
              </a:rPr>
              <a:t>0</a:t>
            </a: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 = { 1}</a:t>
            </a:r>
          </a:p>
          <a:p>
            <a:pPr algn="ctr">
              <a:spcBef>
                <a:spcPct val="50000"/>
              </a:spcBef>
            </a:pPr>
            <a:r>
              <a:rPr lang="en-US" dirty="0" err="1">
                <a:solidFill>
                  <a:schemeClr val="tx1"/>
                </a:solidFill>
                <a:latin typeface="Gill Sans MT" pitchFamily="34" charset="0"/>
              </a:rPr>
              <a:t>N</a:t>
            </a:r>
            <a:r>
              <a:rPr lang="en-US" baseline="-25000" dirty="0" err="1">
                <a:solidFill>
                  <a:schemeClr val="tx1"/>
                </a:solidFill>
                <a:latin typeface="Gill Sans MT" pitchFamily="34" charset="0"/>
              </a:rPr>
              <a:t>f</a:t>
            </a: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 = { 4 }</a:t>
            </a:r>
          </a:p>
          <a:p>
            <a:pPr algn="ctr">
              <a:spcBef>
                <a:spcPct val="50000"/>
              </a:spcBef>
            </a:pP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E = { (1,2), (1,3), (2,4), (3,4) }</a:t>
            </a:r>
          </a:p>
        </p:txBody>
      </p:sp>
      <p:grpSp>
        <p:nvGrpSpPr>
          <p:cNvPr id="6152" name="Group 116"/>
          <p:cNvGrpSpPr>
            <a:grpSpLocks/>
          </p:cNvGrpSpPr>
          <p:nvPr/>
        </p:nvGrpSpPr>
        <p:grpSpPr bwMode="auto">
          <a:xfrm>
            <a:off x="7058025" y="1219714"/>
            <a:ext cx="1984375" cy="3448050"/>
            <a:chOff x="4446" y="1019"/>
            <a:chExt cx="1250" cy="2172"/>
          </a:xfrm>
        </p:grpSpPr>
        <p:sp>
          <p:nvSpPr>
            <p:cNvPr id="6192" name="Oval 90"/>
            <p:cNvSpPr>
              <a:spLocks noChangeArrowheads="1"/>
            </p:cNvSpPr>
            <p:nvPr/>
          </p:nvSpPr>
          <p:spPr bwMode="auto">
            <a:xfrm>
              <a:off x="4896" y="1019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93" name="Text Box 91"/>
            <p:cNvSpPr txBox="1">
              <a:spLocks noChangeArrowheads="1"/>
            </p:cNvSpPr>
            <p:nvPr/>
          </p:nvSpPr>
          <p:spPr bwMode="auto">
            <a:xfrm>
              <a:off x="4973" y="1042"/>
              <a:ext cx="197" cy="25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194" name="Oval 93"/>
            <p:cNvSpPr>
              <a:spLocks noChangeArrowheads="1"/>
            </p:cNvSpPr>
            <p:nvPr/>
          </p:nvSpPr>
          <p:spPr bwMode="auto">
            <a:xfrm>
              <a:off x="5346" y="1957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95" name="Text Box 94"/>
            <p:cNvSpPr txBox="1">
              <a:spLocks noChangeArrowheads="1"/>
            </p:cNvSpPr>
            <p:nvPr/>
          </p:nvSpPr>
          <p:spPr bwMode="auto">
            <a:xfrm>
              <a:off x="5423" y="1980"/>
              <a:ext cx="196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6196" name="Oval 96"/>
            <p:cNvSpPr>
              <a:spLocks noChangeArrowheads="1"/>
            </p:cNvSpPr>
            <p:nvPr/>
          </p:nvSpPr>
          <p:spPr bwMode="auto">
            <a:xfrm>
              <a:off x="4446" y="1957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198" name="Oval 99"/>
            <p:cNvSpPr>
              <a:spLocks noChangeArrowheads="1"/>
            </p:cNvSpPr>
            <p:nvPr/>
          </p:nvSpPr>
          <p:spPr bwMode="auto">
            <a:xfrm>
              <a:off x="4896" y="2895"/>
              <a:ext cx="350" cy="296"/>
            </a:xfrm>
            <a:prstGeom prst="ellipse">
              <a:avLst/>
            </a:prstGeom>
            <a:solidFill>
              <a:srgbClr val="0066FF"/>
            </a:solidFill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99" name="Text Box 100"/>
            <p:cNvSpPr txBox="1">
              <a:spLocks noChangeArrowheads="1"/>
            </p:cNvSpPr>
            <p:nvPr/>
          </p:nvSpPr>
          <p:spPr bwMode="auto">
            <a:xfrm>
              <a:off x="4973" y="2918"/>
              <a:ext cx="197" cy="25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6200" name="Line 101"/>
            <p:cNvSpPr>
              <a:spLocks noChangeShapeType="1"/>
            </p:cNvSpPr>
            <p:nvPr/>
          </p:nvSpPr>
          <p:spPr bwMode="auto">
            <a:xfrm flipH="1">
              <a:off x="4705" y="1312"/>
              <a:ext cx="327" cy="67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01" name="Line 102"/>
            <p:cNvSpPr>
              <a:spLocks noChangeShapeType="1"/>
            </p:cNvSpPr>
            <p:nvPr/>
          </p:nvSpPr>
          <p:spPr bwMode="auto">
            <a:xfrm>
              <a:off x="4729" y="2239"/>
              <a:ext cx="244" cy="6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02" name="Line 103"/>
            <p:cNvSpPr>
              <a:spLocks noChangeShapeType="1"/>
            </p:cNvSpPr>
            <p:nvPr/>
          </p:nvSpPr>
          <p:spPr bwMode="auto">
            <a:xfrm flipH="1">
              <a:off x="5129" y="2235"/>
              <a:ext cx="299" cy="6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03" name="Line 104"/>
            <p:cNvSpPr>
              <a:spLocks noChangeShapeType="1"/>
            </p:cNvSpPr>
            <p:nvPr/>
          </p:nvSpPr>
          <p:spPr bwMode="auto">
            <a:xfrm>
              <a:off x="5125" y="1317"/>
              <a:ext cx="280" cy="6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153" name="Text Box 110"/>
          <p:cNvSpPr txBox="1">
            <a:spLocks noChangeArrowheads="1"/>
          </p:cNvSpPr>
          <p:nvPr/>
        </p:nvSpPr>
        <p:spPr bwMode="auto">
          <a:xfrm>
            <a:off x="6908800" y="4802187"/>
            <a:ext cx="2133600" cy="163121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N</a:t>
            </a:r>
            <a:r>
              <a:rPr lang="en-US" baseline="-25000" dirty="0">
                <a:solidFill>
                  <a:schemeClr val="tx1"/>
                </a:solidFill>
                <a:latin typeface="Gill Sans MT" pitchFamily="34" charset="0"/>
              </a:rPr>
              <a:t>0</a:t>
            </a: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 = { }</a:t>
            </a:r>
          </a:p>
          <a:p>
            <a:pPr algn="ctr">
              <a:spcBef>
                <a:spcPct val="50000"/>
              </a:spcBef>
            </a:pPr>
            <a:r>
              <a:rPr lang="en-US" dirty="0" err="1">
                <a:solidFill>
                  <a:schemeClr val="tx1"/>
                </a:solidFill>
                <a:latin typeface="Gill Sans MT" pitchFamily="34" charset="0"/>
              </a:rPr>
              <a:t>N</a:t>
            </a:r>
            <a:r>
              <a:rPr lang="en-US" baseline="-25000" dirty="0" err="1">
                <a:solidFill>
                  <a:schemeClr val="tx1"/>
                </a:solidFill>
                <a:latin typeface="Gill Sans MT" pitchFamily="34" charset="0"/>
              </a:rPr>
              <a:t>f</a:t>
            </a: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 = { 4 }</a:t>
            </a:r>
          </a:p>
          <a:p>
            <a:pPr algn="ctr">
              <a:spcBef>
                <a:spcPct val="50000"/>
              </a:spcBef>
            </a:pP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E = { (1,2), (1,3), (2,4), (3,4) }</a:t>
            </a:r>
          </a:p>
        </p:txBody>
      </p:sp>
      <p:grpSp>
        <p:nvGrpSpPr>
          <p:cNvPr id="6154" name="Group 115"/>
          <p:cNvGrpSpPr>
            <a:grpSpLocks/>
          </p:cNvGrpSpPr>
          <p:nvPr/>
        </p:nvGrpSpPr>
        <p:grpSpPr bwMode="auto">
          <a:xfrm>
            <a:off x="2363788" y="868876"/>
            <a:ext cx="4475162" cy="3798888"/>
            <a:chOff x="1489" y="798"/>
            <a:chExt cx="2819" cy="2393"/>
          </a:xfrm>
        </p:grpSpPr>
        <p:sp>
          <p:nvSpPr>
            <p:cNvPr id="6157" name="Oval 78"/>
            <p:cNvSpPr>
              <a:spLocks noChangeArrowheads="1"/>
            </p:cNvSpPr>
            <p:nvPr/>
          </p:nvSpPr>
          <p:spPr bwMode="auto">
            <a:xfrm>
              <a:off x="3548" y="2895"/>
              <a:ext cx="350" cy="296"/>
            </a:xfrm>
            <a:prstGeom prst="ellipse">
              <a:avLst/>
            </a:prstGeom>
            <a:solidFill>
              <a:srgbClr val="0066FF"/>
            </a:solidFill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8" name="Text Box 79"/>
            <p:cNvSpPr txBox="1">
              <a:spLocks noChangeArrowheads="1"/>
            </p:cNvSpPr>
            <p:nvPr/>
          </p:nvSpPr>
          <p:spPr bwMode="auto">
            <a:xfrm>
              <a:off x="3598" y="2918"/>
              <a:ext cx="278" cy="25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6159" name="Oval 31"/>
            <p:cNvSpPr>
              <a:spLocks noChangeArrowheads="1"/>
            </p:cNvSpPr>
            <p:nvPr/>
          </p:nvSpPr>
          <p:spPr bwMode="auto">
            <a:xfrm>
              <a:off x="1899" y="1016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60" name="Text Box 32"/>
            <p:cNvSpPr txBox="1">
              <a:spLocks noChangeArrowheads="1"/>
            </p:cNvSpPr>
            <p:nvPr/>
          </p:nvSpPr>
          <p:spPr bwMode="auto">
            <a:xfrm>
              <a:off x="1976" y="1039"/>
              <a:ext cx="196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161" name="Oval 34"/>
            <p:cNvSpPr>
              <a:spLocks noChangeArrowheads="1"/>
            </p:cNvSpPr>
            <p:nvPr/>
          </p:nvSpPr>
          <p:spPr bwMode="auto">
            <a:xfrm>
              <a:off x="2309" y="1954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62" name="Text Box 35"/>
            <p:cNvSpPr txBox="1">
              <a:spLocks noChangeArrowheads="1"/>
            </p:cNvSpPr>
            <p:nvPr/>
          </p:nvSpPr>
          <p:spPr bwMode="auto">
            <a:xfrm>
              <a:off x="2386" y="1977"/>
              <a:ext cx="197" cy="25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6163" name="Oval 37"/>
            <p:cNvSpPr>
              <a:spLocks noChangeArrowheads="1"/>
            </p:cNvSpPr>
            <p:nvPr/>
          </p:nvSpPr>
          <p:spPr bwMode="auto">
            <a:xfrm>
              <a:off x="1489" y="1954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64" name="Text Box 38"/>
            <p:cNvSpPr txBox="1">
              <a:spLocks noChangeArrowheads="1"/>
            </p:cNvSpPr>
            <p:nvPr/>
          </p:nvSpPr>
          <p:spPr bwMode="auto">
            <a:xfrm>
              <a:off x="1566" y="1977"/>
              <a:ext cx="196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6165" name="Oval 40"/>
            <p:cNvSpPr>
              <a:spLocks noChangeArrowheads="1"/>
            </p:cNvSpPr>
            <p:nvPr/>
          </p:nvSpPr>
          <p:spPr bwMode="auto">
            <a:xfrm>
              <a:off x="1899" y="2892"/>
              <a:ext cx="350" cy="296"/>
            </a:xfrm>
            <a:prstGeom prst="ellipse">
              <a:avLst/>
            </a:prstGeom>
            <a:solidFill>
              <a:srgbClr val="0066FF"/>
            </a:solidFill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66" name="Text Box 41"/>
            <p:cNvSpPr txBox="1">
              <a:spLocks noChangeArrowheads="1"/>
            </p:cNvSpPr>
            <p:nvPr/>
          </p:nvSpPr>
          <p:spPr bwMode="auto">
            <a:xfrm>
              <a:off x="1976" y="2915"/>
              <a:ext cx="197" cy="25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6167" name="Line 42"/>
            <p:cNvSpPr>
              <a:spLocks noChangeShapeType="1"/>
            </p:cNvSpPr>
            <p:nvPr/>
          </p:nvSpPr>
          <p:spPr bwMode="auto">
            <a:xfrm flipH="1">
              <a:off x="1732" y="1309"/>
              <a:ext cx="303" cy="6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68" name="Line 43"/>
            <p:cNvSpPr>
              <a:spLocks noChangeShapeType="1"/>
            </p:cNvSpPr>
            <p:nvPr/>
          </p:nvSpPr>
          <p:spPr bwMode="auto">
            <a:xfrm>
              <a:off x="1732" y="2236"/>
              <a:ext cx="280" cy="65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69" name="Line 44"/>
            <p:cNvSpPr>
              <a:spLocks noChangeShapeType="1"/>
            </p:cNvSpPr>
            <p:nvPr/>
          </p:nvSpPr>
          <p:spPr bwMode="auto">
            <a:xfrm flipH="1">
              <a:off x="2128" y="2250"/>
              <a:ext cx="303" cy="64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70" name="Line 45"/>
            <p:cNvSpPr>
              <a:spLocks noChangeShapeType="1"/>
            </p:cNvSpPr>
            <p:nvPr/>
          </p:nvSpPr>
          <p:spPr bwMode="auto">
            <a:xfrm>
              <a:off x="2128" y="1314"/>
              <a:ext cx="280" cy="6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71" name="Line 46"/>
            <p:cNvSpPr>
              <a:spLocks noChangeShapeType="1"/>
            </p:cNvSpPr>
            <p:nvPr/>
          </p:nvSpPr>
          <p:spPr bwMode="auto">
            <a:xfrm>
              <a:off x="2074" y="798"/>
              <a:ext cx="0" cy="20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72" name="Oval 49"/>
            <p:cNvSpPr>
              <a:spLocks noChangeArrowheads="1"/>
            </p:cNvSpPr>
            <p:nvPr/>
          </p:nvSpPr>
          <p:spPr bwMode="auto">
            <a:xfrm>
              <a:off x="2725" y="1018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73" name="Text Box 50"/>
            <p:cNvSpPr txBox="1">
              <a:spLocks noChangeArrowheads="1"/>
            </p:cNvSpPr>
            <p:nvPr/>
          </p:nvSpPr>
          <p:spPr bwMode="auto">
            <a:xfrm>
              <a:off x="2802" y="1041"/>
              <a:ext cx="196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174" name="Oval 52"/>
            <p:cNvSpPr>
              <a:spLocks noChangeArrowheads="1"/>
            </p:cNvSpPr>
            <p:nvPr/>
          </p:nvSpPr>
          <p:spPr bwMode="auto">
            <a:xfrm>
              <a:off x="3135" y="1956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75" name="Text Box 53"/>
            <p:cNvSpPr txBox="1">
              <a:spLocks noChangeArrowheads="1"/>
            </p:cNvSpPr>
            <p:nvPr/>
          </p:nvSpPr>
          <p:spPr bwMode="auto">
            <a:xfrm>
              <a:off x="3212" y="1979"/>
              <a:ext cx="197" cy="25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6176" name="Oval 58"/>
            <p:cNvSpPr>
              <a:spLocks noChangeArrowheads="1"/>
            </p:cNvSpPr>
            <p:nvPr/>
          </p:nvSpPr>
          <p:spPr bwMode="auto">
            <a:xfrm>
              <a:off x="2725" y="2894"/>
              <a:ext cx="350" cy="296"/>
            </a:xfrm>
            <a:prstGeom prst="ellipse">
              <a:avLst/>
            </a:prstGeom>
            <a:solidFill>
              <a:srgbClr val="0066FF"/>
            </a:solidFill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77" name="Text Box 59"/>
            <p:cNvSpPr txBox="1">
              <a:spLocks noChangeArrowheads="1"/>
            </p:cNvSpPr>
            <p:nvPr/>
          </p:nvSpPr>
          <p:spPr bwMode="auto">
            <a:xfrm>
              <a:off x="2802" y="2917"/>
              <a:ext cx="197" cy="25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6178" name="Line 61"/>
            <p:cNvSpPr>
              <a:spLocks noChangeShapeType="1"/>
            </p:cNvSpPr>
            <p:nvPr/>
          </p:nvSpPr>
          <p:spPr bwMode="auto">
            <a:xfrm>
              <a:off x="2592" y="2238"/>
              <a:ext cx="249" cy="65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79" name="Line 62"/>
            <p:cNvSpPr>
              <a:spLocks noChangeShapeType="1"/>
            </p:cNvSpPr>
            <p:nvPr/>
          </p:nvSpPr>
          <p:spPr bwMode="auto">
            <a:xfrm flipH="1">
              <a:off x="2972" y="2250"/>
              <a:ext cx="293" cy="6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arrow" w="med" len="med"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80" name="Line 63"/>
            <p:cNvSpPr>
              <a:spLocks noChangeShapeType="1"/>
            </p:cNvSpPr>
            <p:nvPr/>
          </p:nvSpPr>
          <p:spPr bwMode="auto">
            <a:xfrm flipH="1" flipV="1">
              <a:off x="2967" y="1293"/>
              <a:ext cx="241" cy="68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81" name="Line 64"/>
            <p:cNvSpPr>
              <a:spLocks noChangeShapeType="1"/>
            </p:cNvSpPr>
            <p:nvPr/>
          </p:nvSpPr>
          <p:spPr bwMode="auto">
            <a:xfrm>
              <a:off x="2900" y="800"/>
              <a:ext cx="0" cy="20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82" name="Oval 69"/>
            <p:cNvSpPr>
              <a:spLocks noChangeArrowheads="1"/>
            </p:cNvSpPr>
            <p:nvPr/>
          </p:nvSpPr>
          <p:spPr bwMode="auto">
            <a:xfrm>
              <a:off x="3548" y="1019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83" name="Text Box 70"/>
            <p:cNvSpPr txBox="1">
              <a:spLocks noChangeArrowheads="1"/>
            </p:cNvSpPr>
            <p:nvPr/>
          </p:nvSpPr>
          <p:spPr bwMode="auto">
            <a:xfrm>
              <a:off x="3625" y="1042"/>
              <a:ext cx="197" cy="25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6184" name="Oval 72"/>
            <p:cNvSpPr>
              <a:spLocks noChangeArrowheads="1"/>
            </p:cNvSpPr>
            <p:nvPr/>
          </p:nvSpPr>
          <p:spPr bwMode="auto">
            <a:xfrm>
              <a:off x="3958" y="1957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85" name="Text Box 73"/>
            <p:cNvSpPr txBox="1">
              <a:spLocks noChangeArrowheads="1"/>
            </p:cNvSpPr>
            <p:nvPr/>
          </p:nvSpPr>
          <p:spPr bwMode="auto">
            <a:xfrm>
              <a:off x="4035" y="1980"/>
              <a:ext cx="196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6186" name="Line 80"/>
            <p:cNvSpPr>
              <a:spLocks noChangeShapeType="1"/>
            </p:cNvSpPr>
            <p:nvPr/>
          </p:nvSpPr>
          <p:spPr bwMode="auto">
            <a:xfrm flipH="1">
              <a:off x="3368" y="1312"/>
              <a:ext cx="298" cy="6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87" name="Line 81"/>
            <p:cNvSpPr>
              <a:spLocks noChangeShapeType="1"/>
            </p:cNvSpPr>
            <p:nvPr/>
          </p:nvSpPr>
          <p:spPr bwMode="auto">
            <a:xfrm>
              <a:off x="3414" y="2231"/>
              <a:ext cx="252" cy="6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88" name="Line 82"/>
            <p:cNvSpPr>
              <a:spLocks noChangeShapeType="1"/>
            </p:cNvSpPr>
            <p:nvPr/>
          </p:nvSpPr>
          <p:spPr bwMode="auto">
            <a:xfrm flipH="1">
              <a:off x="3782" y="2262"/>
              <a:ext cx="319" cy="63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89" name="Line 83"/>
            <p:cNvSpPr>
              <a:spLocks noChangeShapeType="1"/>
            </p:cNvSpPr>
            <p:nvPr/>
          </p:nvSpPr>
          <p:spPr bwMode="auto">
            <a:xfrm>
              <a:off x="3782" y="1309"/>
              <a:ext cx="280" cy="6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90" name="Line 88"/>
            <p:cNvSpPr>
              <a:spLocks noChangeShapeType="1"/>
            </p:cNvSpPr>
            <p:nvPr/>
          </p:nvSpPr>
          <p:spPr bwMode="auto">
            <a:xfrm flipH="1">
              <a:off x="2545" y="1319"/>
              <a:ext cx="296" cy="63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91" name="Line 105"/>
            <p:cNvSpPr>
              <a:spLocks noChangeShapeType="1"/>
            </p:cNvSpPr>
            <p:nvPr/>
          </p:nvSpPr>
          <p:spPr bwMode="auto">
            <a:xfrm>
              <a:off x="3723" y="806"/>
              <a:ext cx="0" cy="20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155" name="Text Box 111"/>
          <p:cNvSpPr txBox="1">
            <a:spLocks noChangeArrowheads="1"/>
          </p:cNvSpPr>
          <p:nvPr/>
        </p:nvSpPr>
        <p:spPr bwMode="auto">
          <a:xfrm>
            <a:off x="2363788" y="4802187"/>
            <a:ext cx="4545012" cy="193899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N</a:t>
            </a:r>
            <a:r>
              <a:rPr lang="en-US" baseline="-25000" dirty="0">
                <a:solidFill>
                  <a:schemeClr val="tx1"/>
                </a:solidFill>
                <a:latin typeface="Gill Sans MT" pitchFamily="34" charset="0"/>
              </a:rPr>
              <a:t>0</a:t>
            </a: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 = { 1, 2, 3 }</a:t>
            </a:r>
          </a:p>
          <a:p>
            <a:pPr algn="ctr">
              <a:spcBef>
                <a:spcPct val="50000"/>
              </a:spcBef>
            </a:pPr>
            <a:r>
              <a:rPr lang="en-US" dirty="0" err="1">
                <a:solidFill>
                  <a:schemeClr val="tx1"/>
                </a:solidFill>
                <a:latin typeface="Gill Sans MT" pitchFamily="34" charset="0"/>
              </a:rPr>
              <a:t>N</a:t>
            </a:r>
            <a:r>
              <a:rPr lang="en-US" baseline="-25000" dirty="0" err="1">
                <a:solidFill>
                  <a:schemeClr val="tx1"/>
                </a:solidFill>
                <a:latin typeface="Gill Sans MT" pitchFamily="34" charset="0"/>
              </a:rPr>
              <a:t>f</a:t>
            </a: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 = { 8, 9, 10 }</a:t>
            </a:r>
          </a:p>
          <a:p>
            <a:pPr algn="ctr">
              <a:spcBef>
                <a:spcPct val="50000"/>
              </a:spcBef>
            </a:pP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E = { (1,4), (1,5), (2,5), (3,6), (3, 7), (4, 8), (5,8), (5,9), </a:t>
            </a:r>
            <a:r>
              <a:rPr lang="en-US">
                <a:solidFill>
                  <a:schemeClr val="tx1"/>
                </a:solidFill>
                <a:latin typeface="Gill Sans MT" pitchFamily="34" charset="0"/>
              </a:rPr>
              <a:t>(6,2), </a:t>
            </a: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(6,10), (7,10) (9,6) }</a:t>
            </a:r>
          </a:p>
        </p:txBody>
      </p:sp>
      <p:sp>
        <p:nvSpPr>
          <p:cNvPr id="17481" name="AutoShape 73"/>
          <p:cNvSpPr>
            <a:spLocks noChangeArrowheads="1"/>
          </p:cNvSpPr>
          <p:nvPr/>
        </p:nvSpPr>
        <p:spPr bwMode="auto">
          <a:xfrm>
            <a:off x="7243762" y="1628781"/>
            <a:ext cx="1798638" cy="1608138"/>
          </a:xfrm>
          <a:prstGeom prst="irregularSeal2">
            <a:avLst/>
          </a:prstGeom>
          <a:solidFill>
            <a:schemeClr val="tx1">
              <a:lumMod val="65000"/>
            </a:schemeClr>
          </a:solidFill>
          <a:ln w="28575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Not a</a:t>
            </a:r>
          </a:p>
          <a:p>
            <a:pPr algn="ctr">
              <a:defRPr/>
            </a:pPr>
            <a:r>
              <a:rPr 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valid</a:t>
            </a:r>
          </a:p>
          <a:p>
            <a:pPr algn="ctr">
              <a:defRPr/>
            </a:pPr>
            <a:r>
              <a:rPr 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graph</a:t>
            </a:r>
          </a:p>
        </p:txBody>
      </p:sp>
    </p:spTree>
    <p:extLst>
      <p:ext uri="{BB962C8B-B14F-4D97-AF65-F5344CB8AC3E}">
        <p14:creationId xmlns:p14="http://schemas.microsoft.com/office/powerpoint/2010/main" val="404122279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17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8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Introduction to Software Testing, Edition 2  (Ch 07)</a:t>
            </a:r>
          </a:p>
        </p:txBody>
      </p:sp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© Ammann &amp; Offutt</a:t>
            </a:r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4558299-12A8-4EFB-9663-A283F29346C6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1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Paths in Graphs</a:t>
            </a: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8113" y="768858"/>
            <a:ext cx="8867775" cy="2524125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Path</a:t>
            </a:r>
            <a:r>
              <a:rPr lang="en-US" dirty="0"/>
              <a:t> : A sequence of nodes – [n</a:t>
            </a:r>
            <a:r>
              <a:rPr lang="en-US" baseline="-25000" dirty="0"/>
              <a:t>1</a:t>
            </a:r>
            <a:r>
              <a:rPr lang="en-US" dirty="0"/>
              <a:t>, n</a:t>
            </a:r>
            <a:r>
              <a:rPr lang="en-US" baseline="-25000" dirty="0"/>
              <a:t>2</a:t>
            </a:r>
            <a:r>
              <a:rPr lang="en-US" dirty="0"/>
              <a:t>, …, </a:t>
            </a:r>
            <a:r>
              <a:rPr lang="en-US" dirty="0" err="1"/>
              <a:t>n</a:t>
            </a:r>
            <a:r>
              <a:rPr lang="en-US" baseline="-25000" dirty="0" err="1"/>
              <a:t>M</a:t>
            </a:r>
            <a:r>
              <a:rPr lang="en-US" dirty="0"/>
              <a:t>]</a:t>
            </a:r>
          </a:p>
          <a:p>
            <a:pPr lvl="1"/>
            <a:r>
              <a:rPr lang="en-US" dirty="0"/>
              <a:t>Each pair of nodes is an edge</a:t>
            </a:r>
          </a:p>
          <a:p>
            <a:r>
              <a:rPr lang="en-US" dirty="0">
                <a:solidFill>
                  <a:schemeClr val="tx2"/>
                </a:solidFill>
              </a:rPr>
              <a:t>Length</a:t>
            </a:r>
            <a:r>
              <a:rPr lang="en-US" dirty="0"/>
              <a:t> : The number of edges</a:t>
            </a:r>
          </a:p>
          <a:p>
            <a:pPr lvl="1"/>
            <a:r>
              <a:rPr lang="en-US" dirty="0"/>
              <a:t>A single node is a path of length 0</a:t>
            </a:r>
          </a:p>
          <a:p>
            <a:r>
              <a:rPr lang="en-US" dirty="0" err="1">
                <a:solidFill>
                  <a:schemeClr val="tx2"/>
                </a:solidFill>
              </a:rPr>
              <a:t>Subpath</a:t>
            </a:r>
            <a:r>
              <a:rPr lang="en-US" dirty="0"/>
              <a:t> : A subsequence of nodes in </a:t>
            </a:r>
            <a:r>
              <a:rPr lang="en-US" i="1" dirty="0"/>
              <a:t>p</a:t>
            </a:r>
            <a:r>
              <a:rPr lang="en-US" dirty="0"/>
              <a:t> is a </a:t>
            </a:r>
            <a:r>
              <a:rPr lang="en-US" dirty="0" err="1"/>
              <a:t>subpath</a:t>
            </a:r>
            <a:r>
              <a:rPr lang="en-US" dirty="0"/>
              <a:t> of </a:t>
            </a:r>
            <a:r>
              <a:rPr lang="en-US" i="1" dirty="0"/>
              <a:t>p</a:t>
            </a:r>
          </a:p>
        </p:txBody>
      </p:sp>
      <p:grpSp>
        <p:nvGrpSpPr>
          <p:cNvPr id="2" name="Group 55"/>
          <p:cNvGrpSpPr>
            <a:grpSpLocks/>
          </p:cNvGrpSpPr>
          <p:nvPr/>
        </p:nvGrpSpPr>
        <p:grpSpPr bwMode="auto">
          <a:xfrm>
            <a:off x="177800" y="3620090"/>
            <a:ext cx="4475163" cy="2892425"/>
            <a:chOff x="244" y="2197"/>
            <a:chExt cx="2819" cy="1822"/>
          </a:xfrm>
        </p:grpSpPr>
        <p:sp>
          <p:nvSpPr>
            <p:cNvPr id="7178" name="Line 15"/>
            <p:cNvSpPr>
              <a:spLocks noChangeShapeType="1"/>
            </p:cNvSpPr>
            <p:nvPr/>
          </p:nvSpPr>
          <p:spPr bwMode="auto">
            <a:xfrm flipH="1">
              <a:off x="463" y="2641"/>
              <a:ext cx="239" cy="40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79" name="Line 16"/>
            <p:cNvSpPr>
              <a:spLocks noChangeShapeType="1"/>
            </p:cNvSpPr>
            <p:nvPr/>
          </p:nvSpPr>
          <p:spPr bwMode="auto">
            <a:xfrm>
              <a:off x="509" y="3338"/>
              <a:ext cx="222" cy="3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80" name="Line 17"/>
            <p:cNvSpPr>
              <a:spLocks noChangeShapeType="1"/>
            </p:cNvSpPr>
            <p:nvPr/>
          </p:nvSpPr>
          <p:spPr bwMode="auto">
            <a:xfrm flipH="1">
              <a:off x="898" y="3318"/>
              <a:ext cx="229" cy="40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81" name="Line 18"/>
            <p:cNvSpPr>
              <a:spLocks noChangeShapeType="1"/>
            </p:cNvSpPr>
            <p:nvPr/>
          </p:nvSpPr>
          <p:spPr bwMode="auto">
            <a:xfrm>
              <a:off x="939" y="2646"/>
              <a:ext cx="188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82" name="Line 19"/>
            <p:cNvSpPr>
              <a:spLocks noChangeShapeType="1"/>
            </p:cNvSpPr>
            <p:nvPr/>
          </p:nvSpPr>
          <p:spPr bwMode="auto">
            <a:xfrm>
              <a:off x="829" y="2202"/>
              <a:ext cx="0" cy="16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7183" name="Group 50"/>
            <p:cNvGrpSpPr>
              <a:grpSpLocks/>
            </p:cNvGrpSpPr>
            <p:nvPr/>
          </p:nvGrpSpPr>
          <p:grpSpPr bwMode="auto">
            <a:xfrm>
              <a:off x="654" y="3720"/>
              <a:ext cx="1999" cy="299"/>
              <a:chOff x="654" y="3720"/>
              <a:chExt cx="1999" cy="299"/>
            </a:xfrm>
          </p:grpSpPr>
          <p:grpSp>
            <p:nvGrpSpPr>
              <p:cNvPr id="7217" name="Group 42"/>
              <p:cNvGrpSpPr>
                <a:grpSpLocks/>
              </p:cNvGrpSpPr>
              <p:nvPr/>
            </p:nvGrpSpPr>
            <p:grpSpPr bwMode="auto">
              <a:xfrm>
                <a:off x="2303" y="3723"/>
                <a:ext cx="350" cy="296"/>
                <a:chOff x="2303" y="3723"/>
                <a:chExt cx="350" cy="296"/>
              </a:xfrm>
            </p:grpSpPr>
            <p:sp>
              <p:nvSpPr>
                <p:cNvPr id="7224" name="Oval 5"/>
                <p:cNvSpPr>
                  <a:spLocks noChangeArrowheads="1"/>
                </p:cNvSpPr>
                <p:nvPr/>
              </p:nvSpPr>
              <p:spPr bwMode="auto">
                <a:xfrm>
                  <a:off x="2303" y="3723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571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25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2340" y="3746"/>
                  <a:ext cx="278" cy="25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dirty="0">
                      <a:solidFill>
                        <a:schemeClr val="tx1"/>
                      </a:solidFill>
                    </a:rPr>
                    <a:t>10</a:t>
                  </a:r>
                </a:p>
              </p:txBody>
            </p:sp>
          </p:grpSp>
          <p:grpSp>
            <p:nvGrpSpPr>
              <p:cNvPr id="7218" name="Group 40"/>
              <p:cNvGrpSpPr>
                <a:grpSpLocks/>
              </p:cNvGrpSpPr>
              <p:nvPr/>
            </p:nvGrpSpPr>
            <p:grpSpPr bwMode="auto">
              <a:xfrm>
                <a:off x="654" y="3720"/>
                <a:ext cx="350" cy="296"/>
                <a:chOff x="654" y="3720"/>
                <a:chExt cx="350" cy="296"/>
              </a:xfrm>
            </p:grpSpPr>
            <p:sp>
              <p:nvSpPr>
                <p:cNvPr id="7222" name="Oval 13"/>
                <p:cNvSpPr>
                  <a:spLocks noChangeArrowheads="1"/>
                </p:cNvSpPr>
                <p:nvPr/>
              </p:nvSpPr>
              <p:spPr bwMode="auto">
                <a:xfrm>
                  <a:off x="654" y="3720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571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23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731" y="3743"/>
                  <a:ext cx="196" cy="25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</p:grpSp>
          <p:grpSp>
            <p:nvGrpSpPr>
              <p:cNvPr id="7219" name="Group 41"/>
              <p:cNvGrpSpPr>
                <a:grpSpLocks/>
              </p:cNvGrpSpPr>
              <p:nvPr/>
            </p:nvGrpSpPr>
            <p:grpSpPr bwMode="auto">
              <a:xfrm>
                <a:off x="1478" y="3722"/>
                <a:ext cx="350" cy="296"/>
                <a:chOff x="1480" y="3722"/>
                <a:chExt cx="350" cy="296"/>
              </a:xfrm>
            </p:grpSpPr>
            <p:sp>
              <p:nvSpPr>
                <p:cNvPr id="7220" name="Oval 24"/>
                <p:cNvSpPr>
                  <a:spLocks noChangeArrowheads="1"/>
                </p:cNvSpPr>
                <p:nvPr/>
              </p:nvSpPr>
              <p:spPr bwMode="auto">
                <a:xfrm>
                  <a:off x="1480" y="3722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571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21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1557" y="3745"/>
                  <a:ext cx="196" cy="25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</p:grpSp>
        </p:grpSp>
        <p:sp>
          <p:nvSpPr>
            <p:cNvPr id="7184" name="Line 26"/>
            <p:cNvSpPr>
              <a:spLocks noChangeShapeType="1"/>
            </p:cNvSpPr>
            <p:nvPr/>
          </p:nvSpPr>
          <p:spPr bwMode="auto">
            <a:xfrm>
              <a:off x="1343" y="3318"/>
              <a:ext cx="236" cy="40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85" name="Line 27"/>
            <p:cNvSpPr>
              <a:spLocks noChangeShapeType="1"/>
            </p:cNvSpPr>
            <p:nvPr/>
          </p:nvSpPr>
          <p:spPr bwMode="auto">
            <a:xfrm flipH="1">
              <a:off x="1734" y="3330"/>
              <a:ext cx="223" cy="40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arrow" w="med" len="med"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86" name="Line 28"/>
            <p:cNvSpPr>
              <a:spLocks noChangeShapeType="1"/>
            </p:cNvSpPr>
            <p:nvPr/>
          </p:nvSpPr>
          <p:spPr bwMode="auto">
            <a:xfrm>
              <a:off x="1768" y="2640"/>
              <a:ext cx="212" cy="4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arrow" w="med" len="med"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87" name="Line 29"/>
            <p:cNvSpPr>
              <a:spLocks noChangeShapeType="1"/>
            </p:cNvSpPr>
            <p:nvPr/>
          </p:nvSpPr>
          <p:spPr bwMode="auto">
            <a:xfrm>
              <a:off x="1655" y="2197"/>
              <a:ext cx="0" cy="1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7188" name="Group 52"/>
            <p:cNvGrpSpPr>
              <a:grpSpLocks/>
            </p:cNvGrpSpPr>
            <p:nvPr/>
          </p:nvGrpSpPr>
          <p:grpSpPr bwMode="auto">
            <a:xfrm>
              <a:off x="654" y="2376"/>
              <a:ext cx="1999" cy="299"/>
              <a:chOff x="654" y="2376"/>
              <a:chExt cx="1999" cy="299"/>
            </a:xfrm>
          </p:grpSpPr>
          <p:grpSp>
            <p:nvGrpSpPr>
              <p:cNvPr id="7208" name="Group 47"/>
              <p:cNvGrpSpPr>
                <a:grpSpLocks/>
              </p:cNvGrpSpPr>
              <p:nvPr/>
            </p:nvGrpSpPr>
            <p:grpSpPr bwMode="auto">
              <a:xfrm>
                <a:off x="654" y="2376"/>
                <a:ext cx="350" cy="296"/>
                <a:chOff x="654" y="1844"/>
                <a:chExt cx="350" cy="296"/>
              </a:xfrm>
            </p:grpSpPr>
            <p:sp>
              <p:nvSpPr>
                <p:cNvPr id="7215" name="Oval 7"/>
                <p:cNvSpPr>
                  <a:spLocks noChangeArrowheads="1"/>
                </p:cNvSpPr>
                <p:nvPr/>
              </p:nvSpPr>
              <p:spPr bwMode="auto">
                <a:xfrm>
                  <a:off x="654" y="1844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16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731" y="1867"/>
                  <a:ext cx="196" cy="25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</p:grpSp>
          <p:grpSp>
            <p:nvGrpSpPr>
              <p:cNvPr id="7209" name="Group 48"/>
              <p:cNvGrpSpPr>
                <a:grpSpLocks/>
              </p:cNvGrpSpPr>
              <p:nvPr/>
            </p:nvGrpSpPr>
            <p:grpSpPr bwMode="auto">
              <a:xfrm>
                <a:off x="1478" y="2378"/>
                <a:ext cx="350" cy="296"/>
                <a:chOff x="1480" y="1846"/>
                <a:chExt cx="350" cy="296"/>
              </a:xfrm>
            </p:grpSpPr>
            <p:sp>
              <p:nvSpPr>
                <p:cNvPr id="7213" name="Oval 20"/>
                <p:cNvSpPr>
                  <a:spLocks noChangeArrowheads="1"/>
                </p:cNvSpPr>
                <p:nvPr/>
              </p:nvSpPr>
              <p:spPr bwMode="auto">
                <a:xfrm>
                  <a:off x="1480" y="1846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14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1557" y="1869"/>
                  <a:ext cx="196" cy="25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</p:grpSp>
          <p:grpSp>
            <p:nvGrpSpPr>
              <p:cNvPr id="7210" name="Group 49"/>
              <p:cNvGrpSpPr>
                <a:grpSpLocks/>
              </p:cNvGrpSpPr>
              <p:nvPr/>
            </p:nvGrpSpPr>
            <p:grpSpPr bwMode="auto">
              <a:xfrm>
                <a:off x="2303" y="2379"/>
                <a:ext cx="350" cy="296"/>
                <a:chOff x="2303" y="1847"/>
                <a:chExt cx="350" cy="296"/>
              </a:xfrm>
            </p:grpSpPr>
            <p:sp>
              <p:nvSpPr>
                <p:cNvPr id="7211" name="Oval 30"/>
                <p:cNvSpPr>
                  <a:spLocks noChangeArrowheads="1"/>
                </p:cNvSpPr>
                <p:nvPr/>
              </p:nvSpPr>
              <p:spPr bwMode="auto">
                <a:xfrm>
                  <a:off x="2303" y="1847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12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2380" y="1870"/>
                  <a:ext cx="196" cy="25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</p:grpSp>
        </p:grpSp>
        <p:grpSp>
          <p:nvGrpSpPr>
            <p:cNvPr id="7189" name="Group 51"/>
            <p:cNvGrpSpPr>
              <a:grpSpLocks/>
            </p:cNvGrpSpPr>
            <p:nvPr/>
          </p:nvGrpSpPr>
          <p:grpSpPr bwMode="auto">
            <a:xfrm>
              <a:off x="244" y="3048"/>
              <a:ext cx="2819" cy="299"/>
              <a:chOff x="244" y="3153"/>
              <a:chExt cx="2819" cy="299"/>
            </a:xfrm>
          </p:grpSpPr>
          <p:grpSp>
            <p:nvGrpSpPr>
              <p:cNvPr id="7196" name="Group 45"/>
              <p:cNvGrpSpPr>
                <a:grpSpLocks/>
              </p:cNvGrpSpPr>
              <p:nvPr/>
            </p:nvGrpSpPr>
            <p:grpSpPr bwMode="auto">
              <a:xfrm>
                <a:off x="1067" y="3153"/>
                <a:ext cx="350" cy="296"/>
                <a:chOff x="1064" y="2782"/>
                <a:chExt cx="350" cy="296"/>
              </a:xfrm>
            </p:grpSpPr>
            <p:sp>
              <p:nvSpPr>
                <p:cNvPr id="7206" name="Oval 9"/>
                <p:cNvSpPr>
                  <a:spLocks noChangeArrowheads="1"/>
                </p:cNvSpPr>
                <p:nvPr/>
              </p:nvSpPr>
              <p:spPr bwMode="auto">
                <a:xfrm>
                  <a:off x="1064" y="2782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07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1141" y="2805"/>
                  <a:ext cx="196" cy="25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</p:grpSp>
          <p:grpSp>
            <p:nvGrpSpPr>
              <p:cNvPr id="7197" name="Group 46"/>
              <p:cNvGrpSpPr>
                <a:grpSpLocks/>
              </p:cNvGrpSpPr>
              <p:nvPr/>
            </p:nvGrpSpPr>
            <p:grpSpPr bwMode="auto">
              <a:xfrm>
                <a:off x="244" y="3153"/>
                <a:ext cx="350" cy="296"/>
                <a:chOff x="244" y="2782"/>
                <a:chExt cx="350" cy="296"/>
              </a:xfrm>
            </p:grpSpPr>
            <p:sp>
              <p:nvSpPr>
                <p:cNvPr id="7204" name="Oval 11"/>
                <p:cNvSpPr>
                  <a:spLocks noChangeArrowheads="1"/>
                </p:cNvSpPr>
                <p:nvPr/>
              </p:nvSpPr>
              <p:spPr bwMode="auto">
                <a:xfrm>
                  <a:off x="244" y="2782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05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321" y="2805"/>
                  <a:ext cx="197" cy="25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dirty="0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</p:grpSp>
          <p:grpSp>
            <p:nvGrpSpPr>
              <p:cNvPr id="7198" name="Group 44"/>
              <p:cNvGrpSpPr>
                <a:grpSpLocks/>
              </p:cNvGrpSpPr>
              <p:nvPr/>
            </p:nvGrpSpPr>
            <p:grpSpPr bwMode="auto">
              <a:xfrm>
                <a:off x="1890" y="3155"/>
                <a:ext cx="350" cy="296"/>
                <a:chOff x="1890" y="2784"/>
                <a:chExt cx="350" cy="296"/>
              </a:xfrm>
            </p:grpSpPr>
            <p:sp>
              <p:nvSpPr>
                <p:cNvPr id="7202" name="Oval 22"/>
                <p:cNvSpPr>
                  <a:spLocks noChangeArrowheads="1"/>
                </p:cNvSpPr>
                <p:nvPr/>
              </p:nvSpPr>
              <p:spPr bwMode="auto">
                <a:xfrm>
                  <a:off x="1890" y="2784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03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1967" y="2807"/>
                  <a:ext cx="196" cy="25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dirty="0">
                      <a:solidFill>
                        <a:schemeClr val="tx1"/>
                      </a:solidFill>
                    </a:rPr>
                    <a:t>6</a:t>
                  </a:r>
                </a:p>
              </p:txBody>
            </p:sp>
          </p:grpSp>
          <p:grpSp>
            <p:nvGrpSpPr>
              <p:cNvPr id="7199" name="Group 43"/>
              <p:cNvGrpSpPr>
                <a:grpSpLocks/>
              </p:cNvGrpSpPr>
              <p:nvPr/>
            </p:nvGrpSpPr>
            <p:grpSpPr bwMode="auto">
              <a:xfrm>
                <a:off x="2713" y="3156"/>
                <a:ext cx="350" cy="296"/>
                <a:chOff x="2713" y="2785"/>
                <a:chExt cx="350" cy="296"/>
              </a:xfrm>
            </p:grpSpPr>
            <p:sp>
              <p:nvSpPr>
                <p:cNvPr id="7200" name="Oval 32"/>
                <p:cNvSpPr>
                  <a:spLocks noChangeArrowheads="1"/>
                </p:cNvSpPr>
                <p:nvPr/>
              </p:nvSpPr>
              <p:spPr bwMode="auto">
                <a:xfrm>
                  <a:off x="2713" y="2785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01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2790" y="2808"/>
                  <a:ext cx="196" cy="25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</p:grpSp>
        </p:grpSp>
        <p:sp>
          <p:nvSpPr>
            <p:cNvPr id="7190" name="Line 34"/>
            <p:cNvSpPr>
              <a:spLocks noChangeShapeType="1"/>
            </p:cNvSpPr>
            <p:nvPr/>
          </p:nvSpPr>
          <p:spPr bwMode="auto">
            <a:xfrm flipH="1">
              <a:off x="2142" y="2640"/>
              <a:ext cx="219" cy="4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91" name="Line 35"/>
            <p:cNvSpPr>
              <a:spLocks noChangeShapeType="1"/>
            </p:cNvSpPr>
            <p:nvPr/>
          </p:nvSpPr>
          <p:spPr bwMode="auto">
            <a:xfrm>
              <a:off x="2181" y="3335"/>
              <a:ext cx="212" cy="3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92" name="Line 36"/>
            <p:cNvSpPr>
              <a:spLocks noChangeShapeType="1"/>
            </p:cNvSpPr>
            <p:nvPr/>
          </p:nvSpPr>
          <p:spPr bwMode="auto">
            <a:xfrm flipH="1">
              <a:off x="2533" y="3302"/>
              <a:ext cx="231" cy="41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93" name="Line 37"/>
            <p:cNvSpPr>
              <a:spLocks noChangeShapeType="1"/>
            </p:cNvSpPr>
            <p:nvPr/>
          </p:nvSpPr>
          <p:spPr bwMode="auto">
            <a:xfrm>
              <a:off x="2589" y="2633"/>
              <a:ext cx="200" cy="45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94" name="Line 38"/>
            <p:cNvSpPr>
              <a:spLocks noChangeShapeType="1"/>
            </p:cNvSpPr>
            <p:nvPr/>
          </p:nvSpPr>
          <p:spPr bwMode="auto">
            <a:xfrm flipH="1">
              <a:off x="1340" y="2655"/>
              <a:ext cx="208" cy="41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95" name="Line 39"/>
            <p:cNvSpPr>
              <a:spLocks noChangeShapeType="1"/>
            </p:cNvSpPr>
            <p:nvPr/>
          </p:nvSpPr>
          <p:spPr bwMode="auto">
            <a:xfrm>
              <a:off x="2478" y="2232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5701" name="Text Box 53"/>
          <p:cNvSpPr txBox="1">
            <a:spLocks noChangeArrowheads="1"/>
          </p:cNvSpPr>
          <p:nvPr/>
        </p:nvSpPr>
        <p:spPr bwMode="auto">
          <a:xfrm>
            <a:off x="5676977" y="4080465"/>
            <a:ext cx="1712913" cy="1781175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u="sng" dirty="0">
                <a:solidFill>
                  <a:schemeClr val="tx1"/>
                </a:solidFill>
              </a:rPr>
              <a:t>A Few Paths</a:t>
            </a:r>
          </a:p>
          <a:p>
            <a:pPr>
              <a:spcBef>
                <a:spcPct val="50000"/>
              </a:spcBef>
            </a:pPr>
            <a:r>
              <a:rPr lang="en-US" dirty="0">
                <a:solidFill>
                  <a:schemeClr val="tx1"/>
                </a:solidFill>
              </a:rPr>
              <a:t>[ 1, 4, 8 ]</a:t>
            </a:r>
          </a:p>
          <a:p>
            <a:pPr>
              <a:spcBef>
                <a:spcPct val="50000"/>
              </a:spcBef>
            </a:pPr>
            <a:r>
              <a:rPr lang="en-US" dirty="0">
                <a:solidFill>
                  <a:schemeClr val="tx1"/>
                </a:solidFill>
              </a:rPr>
              <a:t>[ 2, 5, 9, 6, 2 ]</a:t>
            </a:r>
          </a:p>
          <a:p>
            <a:pPr>
              <a:spcBef>
                <a:spcPct val="50000"/>
              </a:spcBef>
            </a:pPr>
            <a:r>
              <a:rPr lang="en-US" dirty="0">
                <a:solidFill>
                  <a:schemeClr val="tx1"/>
                </a:solidFill>
              </a:rPr>
              <a:t>[ 3, 7, 10 ]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5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70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Introduction to Software Testing, Edition 2  (Ch 07)</a:t>
            </a:r>
          </a:p>
        </p:txBody>
      </p:sp>
      <p:sp>
        <p:nvSpPr>
          <p:cNvPr id="8195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© Ammann &amp; Offutt</a:t>
            </a:r>
          </a:p>
        </p:txBody>
      </p:sp>
      <p:sp>
        <p:nvSpPr>
          <p:cNvPr id="819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97D8F11-1EA8-4375-9A1A-D6C90561F807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 Paths and SESEs</a:t>
            </a:r>
          </a:p>
        </p:txBody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8113" y="971550"/>
            <a:ext cx="8867775" cy="5292725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Test Path</a:t>
            </a:r>
            <a:r>
              <a:rPr lang="en-US" dirty="0"/>
              <a:t> : A path that starts at an initial node and ends at a final node</a:t>
            </a:r>
          </a:p>
          <a:p>
            <a:r>
              <a:rPr lang="en-US" dirty="0"/>
              <a:t>Test paths represent execution of test cases</a:t>
            </a:r>
          </a:p>
          <a:p>
            <a:pPr lvl="1"/>
            <a:r>
              <a:rPr lang="en-US" sz="2000" dirty="0"/>
              <a:t>Some test paths can be executed by many tests</a:t>
            </a:r>
          </a:p>
          <a:p>
            <a:pPr lvl="1"/>
            <a:r>
              <a:rPr lang="en-US" sz="2000" dirty="0"/>
              <a:t>Some test paths cannot be executed by any tests</a:t>
            </a:r>
          </a:p>
          <a:p>
            <a:r>
              <a:rPr lang="en-US" dirty="0">
                <a:solidFill>
                  <a:schemeClr val="tx2"/>
                </a:solidFill>
              </a:rPr>
              <a:t>SESE graphs</a:t>
            </a:r>
            <a:r>
              <a:rPr lang="en-US" dirty="0"/>
              <a:t> : All  test paths start at a single node and end at another node</a:t>
            </a:r>
          </a:p>
          <a:p>
            <a:pPr lvl="1"/>
            <a:r>
              <a:rPr lang="en-US" sz="2000" dirty="0"/>
              <a:t>Single-entry, single-exit</a:t>
            </a:r>
          </a:p>
          <a:p>
            <a:pPr lvl="1"/>
            <a:r>
              <a:rPr lang="en-US" sz="2000" dirty="0"/>
              <a:t>N0 and </a:t>
            </a:r>
            <a:r>
              <a:rPr lang="en-US" sz="2000" dirty="0" err="1"/>
              <a:t>Nf</a:t>
            </a:r>
            <a:r>
              <a:rPr lang="en-US" sz="2000" dirty="0"/>
              <a:t> have exactly one node</a:t>
            </a:r>
          </a:p>
        </p:txBody>
      </p:sp>
      <p:grpSp>
        <p:nvGrpSpPr>
          <p:cNvPr id="2" name="Group 41"/>
          <p:cNvGrpSpPr>
            <a:grpSpLocks/>
          </p:cNvGrpSpPr>
          <p:nvPr/>
        </p:nvGrpSpPr>
        <p:grpSpPr bwMode="auto">
          <a:xfrm>
            <a:off x="798513" y="4708525"/>
            <a:ext cx="4346575" cy="1443038"/>
            <a:chOff x="503" y="2966"/>
            <a:chExt cx="2738" cy="909"/>
          </a:xfrm>
        </p:grpSpPr>
        <p:grpSp>
          <p:nvGrpSpPr>
            <p:cNvPr id="8201" name="Group 18"/>
            <p:cNvGrpSpPr>
              <a:grpSpLocks/>
            </p:cNvGrpSpPr>
            <p:nvPr/>
          </p:nvGrpSpPr>
          <p:grpSpPr bwMode="auto">
            <a:xfrm>
              <a:off x="730" y="3273"/>
              <a:ext cx="350" cy="296"/>
              <a:chOff x="4288" y="1746"/>
              <a:chExt cx="350" cy="296"/>
            </a:xfrm>
          </p:grpSpPr>
          <p:sp>
            <p:nvSpPr>
              <p:cNvPr id="8231" name="Oval 5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32" name="Text Box 6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</p:grpSp>
        <p:grpSp>
          <p:nvGrpSpPr>
            <p:cNvPr id="8202" name="Group 31"/>
            <p:cNvGrpSpPr>
              <a:grpSpLocks/>
            </p:cNvGrpSpPr>
            <p:nvPr/>
          </p:nvGrpSpPr>
          <p:grpSpPr bwMode="auto">
            <a:xfrm>
              <a:off x="1255" y="2966"/>
              <a:ext cx="380" cy="908"/>
              <a:chOff x="1346" y="2965"/>
              <a:chExt cx="380" cy="908"/>
            </a:xfrm>
          </p:grpSpPr>
          <p:grpSp>
            <p:nvGrpSpPr>
              <p:cNvPr id="8225" name="Group 19"/>
              <p:cNvGrpSpPr>
                <a:grpSpLocks/>
              </p:cNvGrpSpPr>
              <p:nvPr/>
            </p:nvGrpSpPr>
            <p:grpSpPr bwMode="auto">
              <a:xfrm>
                <a:off x="1346" y="3577"/>
                <a:ext cx="350" cy="296"/>
                <a:chOff x="4738" y="2684"/>
                <a:chExt cx="350" cy="296"/>
              </a:xfrm>
            </p:grpSpPr>
            <p:sp>
              <p:nvSpPr>
                <p:cNvPr id="8229" name="Oval 7"/>
                <p:cNvSpPr>
                  <a:spLocks noChangeArrowheads="1"/>
                </p:cNvSpPr>
                <p:nvPr/>
              </p:nvSpPr>
              <p:spPr bwMode="auto">
                <a:xfrm>
                  <a:off x="4738" y="2684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30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4815" y="2707"/>
                  <a:ext cx="196" cy="25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</p:grpSp>
          <p:grpSp>
            <p:nvGrpSpPr>
              <p:cNvPr id="8226" name="Group 20"/>
              <p:cNvGrpSpPr>
                <a:grpSpLocks/>
              </p:cNvGrpSpPr>
              <p:nvPr/>
            </p:nvGrpSpPr>
            <p:grpSpPr bwMode="auto">
              <a:xfrm>
                <a:off x="1376" y="2965"/>
                <a:ext cx="350" cy="296"/>
                <a:chOff x="3838" y="2684"/>
                <a:chExt cx="350" cy="296"/>
              </a:xfrm>
            </p:grpSpPr>
            <p:sp>
              <p:nvSpPr>
                <p:cNvPr id="8227" name="Oval 9"/>
                <p:cNvSpPr>
                  <a:spLocks noChangeArrowheads="1"/>
                </p:cNvSpPr>
                <p:nvPr/>
              </p:nvSpPr>
              <p:spPr bwMode="auto">
                <a:xfrm>
                  <a:off x="3838" y="2684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28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3915" y="2707"/>
                  <a:ext cx="196" cy="25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</p:grpSp>
        </p:grpSp>
        <p:grpSp>
          <p:nvGrpSpPr>
            <p:cNvPr id="8203" name="Group 21"/>
            <p:cNvGrpSpPr>
              <a:grpSpLocks/>
            </p:cNvGrpSpPr>
            <p:nvPr/>
          </p:nvGrpSpPr>
          <p:grpSpPr bwMode="auto">
            <a:xfrm>
              <a:off x="2891" y="3273"/>
              <a:ext cx="350" cy="296"/>
              <a:chOff x="4288" y="3622"/>
              <a:chExt cx="350" cy="296"/>
            </a:xfrm>
          </p:grpSpPr>
          <p:sp>
            <p:nvSpPr>
              <p:cNvPr id="8223" name="Oval 11"/>
              <p:cNvSpPr>
                <a:spLocks noChangeArrowheads="1"/>
              </p:cNvSpPr>
              <p:nvPr/>
            </p:nvSpPr>
            <p:spPr bwMode="auto">
              <a:xfrm>
                <a:off x="4288" y="3622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24" name="Text Box 12"/>
              <p:cNvSpPr txBox="1">
                <a:spLocks noChangeArrowheads="1"/>
              </p:cNvSpPr>
              <p:nvPr/>
            </p:nvSpPr>
            <p:spPr bwMode="auto">
              <a:xfrm>
                <a:off x="4365" y="3645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</p:grpSp>
        <p:sp>
          <p:nvSpPr>
            <p:cNvPr id="8204" name="Line 13"/>
            <p:cNvSpPr>
              <a:spLocks noChangeShapeType="1"/>
            </p:cNvSpPr>
            <p:nvPr/>
          </p:nvSpPr>
          <p:spPr bwMode="auto">
            <a:xfrm flipV="1">
              <a:off x="1075" y="3193"/>
              <a:ext cx="250" cy="16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05" name="Line 17"/>
            <p:cNvSpPr>
              <a:spLocks noChangeShapeType="1"/>
            </p:cNvSpPr>
            <p:nvPr/>
          </p:nvSpPr>
          <p:spPr bwMode="auto">
            <a:xfrm>
              <a:off x="503" y="3421"/>
              <a:ext cx="2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8206" name="Group 22"/>
            <p:cNvGrpSpPr>
              <a:grpSpLocks/>
            </p:cNvGrpSpPr>
            <p:nvPr/>
          </p:nvGrpSpPr>
          <p:grpSpPr bwMode="auto">
            <a:xfrm>
              <a:off x="1810" y="3273"/>
              <a:ext cx="350" cy="296"/>
              <a:chOff x="4288" y="1746"/>
              <a:chExt cx="350" cy="296"/>
            </a:xfrm>
          </p:grpSpPr>
          <p:sp>
            <p:nvSpPr>
              <p:cNvPr id="8221" name="Oval 23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22" name="Text Box 24"/>
              <p:cNvSpPr txBox="1">
                <a:spLocks noChangeArrowheads="1"/>
              </p:cNvSpPr>
              <p:nvPr/>
            </p:nvSpPr>
            <p:spPr bwMode="auto">
              <a:xfrm>
                <a:off x="4364" y="1769"/>
                <a:ext cx="197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</p:grpSp>
        <p:grpSp>
          <p:nvGrpSpPr>
            <p:cNvPr id="8207" name="Group 32"/>
            <p:cNvGrpSpPr>
              <a:grpSpLocks/>
            </p:cNvGrpSpPr>
            <p:nvPr/>
          </p:nvGrpSpPr>
          <p:grpSpPr bwMode="auto">
            <a:xfrm>
              <a:off x="2335" y="2967"/>
              <a:ext cx="380" cy="908"/>
              <a:chOff x="2450" y="2968"/>
              <a:chExt cx="380" cy="908"/>
            </a:xfrm>
          </p:grpSpPr>
          <p:grpSp>
            <p:nvGrpSpPr>
              <p:cNvPr id="8215" name="Group 25"/>
              <p:cNvGrpSpPr>
                <a:grpSpLocks/>
              </p:cNvGrpSpPr>
              <p:nvPr/>
            </p:nvGrpSpPr>
            <p:grpSpPr bwMode="auto">
              <a:xfrm>
                <a:off x="2450" y="3580"/>
                <a:ext cx="350" cy="296"/>
                <a:chOff x="4738" y="2684"/>
                <a:chExt cx="350" cy="296"/>
              </a:xfrm>
            </p:grpSpPr>
            <p:sp>
              <p:nvSpPr>
                <p:cNvPr id="8219" name="Oval 26"/>
                <p:cNvSpPr>
                  <a:spLocks noChangeArrowheads="1"/>
                </p:cNvSpPr>
                <p:nvPr/>
              </p:nvSpPr>
              <p:spPr bwMode="auto">
                <a:xfrm>
                  <a:off x="4738" y="2684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20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4815" y="2707"/>
                  <a:ext cx="196" cy="25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dirty="0">
                      <a:solidFill>
                        <a:schemeClr val="tx1"/>
                      </a:solidFill>
                    </a:rPr>
                    <a:t>6</a:t>
                  </a:r>
                </a:p>
              </p:txBody>
            </p:sp>
          </p:grpSp>
          <p:grpSp>
            <p:nvGrpSpPr>
              <p:cNvPr id="8216" name="Group 28"/>
              <p:cNvGrpSpPr>
                <a:grpSpLocks/>
              </p:cNvGrpSpPr>
              <p:nvPr/>
            </p:nvGrpSpPr>
            <p:grpSpPr bwMode="auto">
              <a:xfrm>
                <a:off x="2480" y="2968"/>
                <a:ext cx="350" cy="296"/>
                <a:chOff x="3838" y="2684"/>
                <a:chExt cx="350" cy="296"/>
              </a:xfrm>
            </p:grpSpPr>
            <p:sp>
              <p:nvSpPr>
                <p:cNvPr id="8217" name="Oval 29"/>
                <p:cNvSpPr>
                  <a:spLocks noChangeArrowheads="1"/>
                </p:cNvSpPr>
                <p:nvPr/>
              </p:nvSpPr>
              <p:spPr bwMode="auto">
                <a:xfrm>
                  <a:off x="3838" y="2684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18" name="Text Box 30"/>
                <p:cNvSpPr txBox="1">
                  <a:spLocks noChangeArrowheads="1"/>
                </p:cNvSpPr>
                <p:nvPr/>
              </p:nvSpPr>
              <p:spPr bwMode="auto">
                <a:xfrm>
                  <a:off x="3915" y="2707"/>
                  <a:ext cx="196" cy="25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</p:grpSp>
        </p:grpSp>
        <p:sp>
          <p:nvSpPr>
            <p:cNvPr id="8208" name="Line 33"/>
            <p:cNvSpPr>
              <a:spLocks noChangeShapeType="1"/>
            </p:cNvSpPr>
            <p:nvPr/>
          </p:nvSpPr>
          <p:spPr bwMode="auto">
            <a:xfrm flipV="1">
              <a:off x="2679" y="3513"/>
              <a:ext cx="250" cy="16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09" name="Line 34"/>
            <p:cNvSpPr>
              <a:spLocks noChangeShapeType="1"/>
            </p:cNvSpPr>
            <p:nvPr/>
          </p:nvSpPr>
          <p:spPr bwMode="auto">
            <a:xfrm flipV="1">
              <a:off x="1595" y="3513"/>
              <a:ext cx="250" cy="16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10" name="Line 35"/>
            <p:cNvSpPr>
              <a:spLocks noChangeShapeType="1"/>
            </p:cNvSpPr>
            <p:nvPr/>
          </p:nvSpPr>
          <p:spPr bwMode="auto">
            <a:xfrm flipV="1">
              <a:off x="2147" y="3193"/>
              <a:ext cx="250" cy="16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11" name="Line 36"/>
            <p:cNvSpPr>
              <a:spLocks noChangeShapeType="1"/>
            </p:cNvSpPr>
            <p:nvPr/>
          </p:nvSpPr>
          <p:spPr bwMode="auto">
            <a:xfrm>
              <a:off x="1055" y="3517"/>
              <a:ext cx="218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12" name="Line 37"/>
            <p:cNvSpPr>
              <a:spLocks noChangeShapeType="1"/>
            </p:cNvSpPr>
            <p:nvPr/>
          </p:nvSpPr>
          <p:spPr bwMode="auto">
            <a:xfrm>
              <a:off x="1607" y="3198"/>
              <a:ext cx="218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13" name="Line 38"/>
            <p:cNvSpPr>
              <a:spLocks noChangeShapeType="1"/>
            </p:cNvSpPr>
            <p:nvPr/>
          </p:nvSpPr>
          <p:spPr bwMode="auto">
            <a:xfrm>
              <a:off x="2123" y="3518"/>
              <a:ext cx="218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14" name="Line 39"/>
            <p:cNvSpPr>
              <a:spLocks noChangeShapeType="1"/>
            </p:cNvSpPr>
            <p:nvPr/>
          </p:nvSpPr>
          <p:spPr bwMode="auto">
            <a:xfrm>
              <a:off x="2707" y="3197"/>
              <a:ext cx="218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6712" name="Text Box 40"/>
          <p:cNvSpPr txBox="1">
            <a:spLocks noChangeArrowheads="1"/>
          </p:cNvSpPr>
          <p:nvPr/>
        </p:nvSpPr>
        <p:spPr bwMode="auto">
          <a:xfrm>
            <a:off x="5543550" y="4464050"/>
            <a:ext cx="3303588" cy="1938992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/>
            <a:r>
              <a:rPr lang="en-US" u="sng" dirty="0">
                <a:solidFill>
                  <a:schemeClr val="tx1"/>
                </a:solidFill>
                <a:latin typeface="Gill Sans MT" pitchFamily="34" charset="0"/>
              </a:rPr>
              <a:t>Double-diamond graph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Four test paths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[1, 2, 4, 5, 7]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[1, 2, 4, 6, 7]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[1, 3, 4, 5, 7]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[1, 3, 4, 6, 7]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6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7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Introduction to Software Testing, Edition 2  (Ch 07)</a:t>
            </a:r>
          </a:p>
        </p:txBody>
      </p:sp>
      <p:sp>
        <p:nvSpPr>
          <p:cNvPr id="9219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© Ammann &amp; Offutt</a:t>
            </a:r>
          </a:p>
        </p:txBody>
      </p:sp>
      <p:sp>
        <p:nvSpPr>
          <p:cNvPr id="922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BDF47E0-E672-4537-A0E9-7D71FC56AF9E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92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Visiting and Touring</a:t>
            </a:r>
          </a:p>
        </p:txBody>
      </p:sp>
      <p:sp>
        <p:nvSpPr>
          <p:cNvPr id="92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8113" y="1085850"/>
            <a:ext cx="8867775" cy="1579563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Visit</a:t>
            </a:r>
            <a:r>
              <a:rPr lang="en-US" dirty="0"/>
              <a:t> : A test path </a:t>
            </a:r>
            <a:r>
              <a:rPr lang="en-US" i="1" dirty="0"/>
              <a:t>p</a:t>
            </a:r>
            <a:r>
              <a:rPr lang="en-US" dirty="0"/>
              <a:t> </a:t>
            </a:r>
            <a:r>
              <a:rPr lang="en-US" i="1" dirty="0">
                <a:solidFill>
                  <a:schemeClr val="tx2"/>
                </a:solidFill>
              </a:rPr>
              <a:t>visits</a:t>
            </a:r>
            <a:r>
              <a:rPr lang="en-US" dirty="0"/>
              <a:t> node </a:t>
            </a:r>
            <a:r>
              <a:rPr lang="en-US" i="1" dirty="0"/>
              <a:t>n</a:t>
            </a:r>
            <a:r>
              <a:rPr lang="en-US" dirty="0"/>
              <a:t> if </a:t>
            </a:r>
            <a:r>
              <a:rPr lang="en-US" i="1" dirty="0"/>
              <a:t>n</a:t>
            </a:r>
            <a:r>
              <a:rPr lang="en-US" dirty="0"/>
              <a:t> is in </a:t>
            </a:r>
            <a:r>
              <a:rPr lang="en-US" i="1" dirty="0"/>
              <a:t>p</a:t>
            </a:r>
          </a:p>
          <a:p>
            <a:pPr>
              <a:buFontTx/>
              <a:buNone/>
            </a:pPr>
            <a:r>
              <a:rPr lang="en-US" dirty="0"/>
              <a:t>               A test path </a:t>
            </a:r>
            <a:r>
              <a:rPr lang="en-US" i="1" dirty="0"/>
              <a:t>p</a:t>
            </a:r>
            <a:r>
              <a:rPr lang="en-US" dirty="0"/>
              <a:t> </a:t>
            </a:r>
            <a:r>
              <a:rPr lang="en-US" i="1" dirty="0">
                <a:solidFill>
                  <a:schemeClr val="tx2"/>
                </a:solidFill>
              </a:rPr>
              <a:t>visits</a:t>
            </a:r>
            <a:r>
              <a:rPr lang="en-US" dirty="0"/>
              <a:t> edge </a:t>
            </a:r>
            <a:r>
              <a:rPr lang="en-US" i="1" dirty="0"/>
              <a:t>e</a:t>
            </a:r>
            <a:r>
              <a:rPr lang="en-US" dirty="0"/>
              <a:t> if </a:t>
            </a:r>
            <a:r>
              <a:rPr lang="en-US" i="1" dirty="0"/>
              <a:t>e</a:t>
            </a:r>
            <a:r>
              <a:rPr lang="en-US" dirty="0"/>
              <a:t> is in </a:t>
            </a:r>
            <a:r>
              <a:rPr lang="en-US" i="1" dirty="0"/>
              <a:t>p</a:t>
            </a:r>
          </a:p>
          <a:p>
            <a:r>
              <a:rPr lang="en-US" dirty="0">
                <a:solidFill>
                  <a:schemeClr val="tx2"/>
                </a:solidFill>
              </a:rPr>
              <a:t>Tour</a:t>
            </a:r>
            <a:r>
              <a:rPr lang="en-US" dirty="0"/>
              <a:t> : A test path </a:t>
            </a:r>
            <a:r>
              <a:rPr lang="en-US" i="1" dirty="0"/>
              <a:t>p</a:t>
            </a:r>
            <a:r>
              <a:rPr lang="en-US" dirty="0"/>
              <a:t> </a:t>
            </a:r>
            <a:r>
              <a:rPr lang="en-US" i="1" dirty="0">
                <a:solidFill>
                  <a:schemeClr val="tx2"/>
                </a:solidFill>
              </a:rPr>
              <a:t>tours</a:t>
            </a:r>
            <a:r>
              <a:rPr lang="en-US" dirty="0"/>
              <a:t> </a:t>
            </a:r>
            <a:r>
              <a:rPr lang="en-US" dirty="0" err="1"/>
              <a:t>subpath</a:t>
            </a:r>
            <a:r>
              <a:rPr lang="en-US" dirty="0"/>
              <a:t> </a:t>
            </a:r>
            <a:r>
              <a:rPr lang="en-US" i="1" dirty="0"/>
              <a:t>q</a:t>
            </a:r>
            <a:r>
              <a:rPr lang="en-US" dirty="0"/>
              <a:t> if </a:t>
            </a:r>
            <a:r>
              <a:rPr lang="en-US" i="1" dirty="0"/>
              <a:t>q</a:t>
            </a:r>
            <a:r>
              <a:rPr lang="en-US" dirty="0"/>
              <a:t> is a </a:t>
            </a:r>
            <a:r>
              <a:rPr lang="en-US" dirty="0" err="1"/>
              <a:t>subpath</a:t>
            </a:r>
            <a:r>
              <a:rPr lang="en-US" dirty="0"/>
              <a:t> of </a:t>
            </a:r>
            <a:r>
              <a:rPr lang="en-US" i="1" dirty="0"/>
              <a:t>p</a:t>
            </a:r>
          </a:p>
        </p:txBody>
      </p:sp>
      <p:sp>
        <p:nvSpPr>
          <p:cNvPr id="9223" name="Text Box 4"/>
          <p:cNvSpPr txBox="1">
            <a:spLocks noChangeArrowheads="1"/>
          </p:cNvSpPr>
          <p:nvPr/>
        </p:nvSpPr>
        <p:spPr bwMode="auto">
          <a:xfrm>
            <a:off x="747713" y="3028950"/>
            <a:ext cx="7646987" cy="3046988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Path [ 1, 2, 4, 5, 7 ]</a:t>
            </a:r>
          </a:p>
          <a:p>
            <a:pPr>
              <a:spcBef>
                <a:spcPct val="50000"/>
              </a:spcBef>
            </a:pPr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Visits nodes 1, 2, 4, 5, 7</a:t>
            </a:r>
          </a:p>
          <a:p>
            <a:pPr>
              <a:spcBef>
                <a:spcPct val="50000"/>
              </a:spcBef>
            </a:pPr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Visits edges (1, 2),   (2, 4),   (4, 5),  (5, 7)</a:t>
            </a:r>
          </a:p>
          <a:p>
            <a:pPr>
              <a:spcBef>
                <a:spcPct val="50000"/>
              </a:spcBef>
            </a:pPr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Tours </a:t>
            </a:r>
            <a:r>
              <a:rPr lang="en-US" sz="2400" dirty="0" err="1">
                <a:solidFill>
                  <a:schemeClr val="tx1"/>
                </a:solidFill>
                <a:latin typeface="Gill Sans MT" panose="020B0502020104020203" pitchFamily="34" charset="0"/>
              </a:rPr>
              <a:t>subpaths</a:t>
            </a:r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 [1, 2, 4],   [2, 4, 5],   [4, 5, 7],   [1, 2, 4, 5],   [2, 4, 5, 7],  [1, 2, 4, 5, 7]</a:t>
            </a:r>
          </a:p>
          <a:p>
            <a:pPr>
              <a:spcBef>
                <a:spcPct val="50000"/>
              </a:spcBef>
            </a:pPr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  (</a:t>
            </a:r>
            <a:r>
              <a:rPr lang="en-US" sz="2400" i="1" dirty="0">
                <a:solidFill>
                  <a:schemeClr val="tx1"/>
                </a:solidFill>
                <a:latin typeface="Gill Sans MT" panose="020B0502020104020203" pitchFamily="34" charset="0"/>
              </a:rPr>
              <a:t>Also, each edge is technically a </a:t>
            </a:r>
            <a:r>
              <a:rPr lang="en-US" sz="2400" i="1" dirty="0" err="1">
                <a:solidFill>
                  <a:schemeClr val="tx1"/>
                </a:solidFill>
                <a:latin typeface="Gill Sans MT" panose="020B0502020104020203" pitchFamily="34" charset="0"/>
              </a:rPr>
              <a:t>subpath</a:t>
            </a:r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)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Introduction to Software Testing, Edition 2  (Ch 07)</a:t>
            </a:r>
          </a:p>
        </p:txBody>
      </p:sp>
      <p:sp>
        <p:nvSpPr>
          <p:cNvPr id="10243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© Ammann &amp; Offutt</a:t>
            </a:r>
          </a:p>
        </p:txBody>
      </p:sp>
      <p:sp>
        <p:nvSpPr>
          <p:cNvPr id="1024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8BED11B-2865-4676-956E-71C5326D5E08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02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Tests and Test Paths</a:t>
            </a:r>
          </a:p>
        </p:txBody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8113" y="1271588"/>
            <a:ext cx="8867775" cy="5072062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path (</a:t>
            </a:r>
            <a:r>
              <a:rPr lang="en-US" i="1" dirty="0">
                <a:solidFill>
                  <a:schemeClr val="tx2"/>
                </a:solidFill>
              </a:rPr>
              <a:t>t</a:t>
            </a:r>
            <a:r>
              <a:rPr lang="en-US" dirty="0">
                <a:solidFill>
                  <a:schemeClr val="tx2"/>
                </a:solidFill>
              </a:rPr>
              <a:t>)</a:t>
            </a:r>
            <a:r>
              <a:rPr lang="en-US" dirty="0"/>
              <a:t> : The test path executed by test </a:t>
            </a:r>
            <a:r>
              <a:rPr lang="en-US" i="1" dirty="0"/>
              <a:t>t</a:t>
            </a:r>
            <a:endParaRPr lang="en-US" sz="1800" dirty="0"/>
          </a:p>
          <a:p>
            <a:r>
              <a:rPr lang="en-US" dirty="0">
                <a:solidFill>
                  <a:schemeClr val="tx2"/>
                </a:solidFill>
              </a:rPr>
              <a:t>path (</a:t>
            </a:r>
            <a:r>
              <a:rPr lang="en-US" i="1" dirty="0">
                <a:solidFill>
                  <a:schemeClr val="tx2"/>
                </a:solidFill>
              </a:rPr>
              <a:t>T</a:t>
            </a:r>
            <a:r>
              <a:rPr lang="en-US" dirty="0">
                <a:solidFill>
                  <a:schemeClr val="tx2"/>
                </a:solidFill>
              </a:rPr>
              <a:t>)</a:t>
            </a:r>
            <a:r>
              <a:rPr lang="en-US" dirty="0"/>
              <a:t> : The set of test paths executed by the set of tests </a:t>
            </a:r>
            <a:r>
              <a:rPr lang="en-US" i="1" dirty="0"/>
              <a:t>T</a:t>
            </a:r>
            <a:endParaRPr lang="en-US" dirty="0"/>
          </a:p>
          <a:p>
            <a:r>
              <a:rPr lang="en-US" dirty="0"/>
              <a:t>Each test executes </a:t>
            </a:r>
            <a:r>
              <a:rPr lang="en-US" dirty="0">
                <a:solidFill>
                  <a:schemeClr val="tx2"/>
                </a:solidFill>
              </a:rPr>
              <a:t>one and only one</a:t>
            </a:r>
            <a:r>
              <a:rPr lang="en-US" dirty="0"/>
              <a:t> test path</a:t>
            </a:r>
          </a:p>
          <a:p>
            <a:pPr lvl="1"/>
            <a:r>
              <a:rPr lang="en-US" dirty="0"/>
              <a:t>Complete execution from a start node to a final node</a:t>
            </a:r>
          </a:p>
          <a:p>
            <a:r>
              <a:rPr lang="en-US" dirty="0"/>
              <a:t>A location in a graph (node or edge) can be </a:t>
            </a:r>
            <a:r>
              <a:rPr lang="en-US" dirty="0">
                <a:solidFill>
                  <a:schemeClr val="tx2"/>
                </a:solidFill>
              </a:rPr>
              <a:t>reached</a:t>
            </a:r>
            <a:r>
              <a:rPr lang="en-US" dirty="0"/>
              <a:t> from another location if there is a sequence of edges from the first location to the second</a:t>
            </a:r>
          </a:p>
          <a:p>
            <a:pPr lvl="1"/>
            <a:r>
              <a:rPr lang="en-US" i="1" dirty="0">
                <a:solidFill>
                  <a:schemeClr val="tx2"/>
                </a:solidFill>
              </a:rPr>
              <a:t>Syntactic</a:t>
            </a:r>
            <a:r>
              <a:rPr lang="en-US" i="1" dirty="0"/>
              <a:t> reach</a:t>
            </a:r>
            <a:r>
              <a:rPr lang="en-US" dirty="0"/>
              <a:t> : A </a:t>
            </a:r>
            <a:r>
              <a:rPr lang="en-US" dirty="0" err="1"/>
              <a:t>subpath</a:t>
            </a:r>
            <a:r>
              <a:rPr lang="en-US" dirty="0"/>
              <a:t> exists in the graph</a:t>
            </a:r>
          </a:p>
          <a:p>
            <a:pPr lvl="1"/>
            <a:r>
              <a:rPr lang="en-US" i="1" dirty="0">
                <a:solidFill>
                  <a:schemeClr val="tx2"/>
                </a:solidFill>
              </a:rPr>
              <a:t>Semantic</a:t>
            </a:r>
            <a:r>
              <a:rPr lang="en-US" i="1" dirty="0"/>
              <a:t> reach</a:t>
            </a:r>
            <a:r>
              <a:rPr lang="en-US" dirty="0"/>
              <a:t> : A test exists that can execute that </a:t>
            </a:r>
            <a:r>
              <a:rPr lang="en-US" dirty="0" err="1"/>
              <a:t>subpath</a:t>
            </a:r>
            <a:endParaRPr lang="en-US" dirty="0"/>
          </a:p>
          <a:p>
            <a:pPr lvl="1"/>
            <a:r>
              <a:rPr lang="en-US" dirty="0"/>
              <a:t>This distinction will become important in section 7.3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Introduction to Software Testing, Edition 2  (Ch 07)</a:t>
            </a:r>
          </a:p>
        </p:txBody>
      </p:sp>
      <p:sp>
        <p:nvSpPr>
          <p:cNvPr id="11267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© Ammann &amp; Offutt</a:t>
            </a:r>
          </a:p>
        </p:txBody>
      </p:sp>
      <p:sp>
        <p:nvSpPr>
          <p:cNvPr id="1126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1075BF2-F07B-4249-853E-5AE4406243F5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12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Tests and Test Paths</a:t>
            </a:r>
          </a:p>
        </p:txBody>
      </p:sp>
      <p:sp>
        <p:nvSpPr>
          <p:cNvPr id="11270" name="Text Box 4"/>
          <p:cNvSpPr txBox="1">
            <a:spLocks noChangeArrowheads="1"/>
          </p:cNvSpPr>
          <p:nvPr/>
        </p:nvSpPr>
        <p:spPr bwMode="auto">
          <a:xfrm>
            <a:off x="471488" y="904334"/>
            <a:ext cx="1046162" cy="457200"/>
          </a:xfrm>
          <a:prstGeom prst="rect">
            <a:avLst/>
          </a:prstGeom>
          <a:solidFill>
            <a:srgbClr val="0099FF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dirty="0">
                <a:solidFill>
                  <a:schemeClr val="tx1"/>
                </a:solidFill>
                <a:latin typeface="Gill Sans MT" pitchFamily="34" charset="0"/>
              </a:rPr>
              <a:t>test 1</a:t>
            </a:r>
          </a:p>
        </p:txBody>
      </p:sp>
      <p:sp>
        <p:nvSpPr>
          <p:cNvPr id="11271" name="Text Box 10"/>
          <p:cNvSpPr txBox="1">
            <a:spLocks noChangeArrowheads="1"/>
          </p:cNvSpPr>
          <p:nvPr/>
        </p:nvSpPr>
        <p:spPr bwMode="auto">
          <a:xfrm>
            <a:off x="471488" y="1648872"/>
            <a:ext cx="1046162" cy="457200"/>
          </a:xfrm>
          <a:prstGeom prst="rect">
            <a:avLst/>
          </a:prstGeom>
          <a:solidFill>
            <a:srgbClr val="0099FF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>
                <a:solidFill>
                  <a:schemeClr val="tx1"/>
                </a:solidFill>
                <a:latin typeface="Gill Sans MT" pitchFamily="34" charset="0"/>
              </a:rPr>
              <a:t>test 2</a:t>
            </a:r>
          </a:p>
        </p:txBody>
      </p:sp>
      <p:sp>
        <p:nvSpPr>
          <p:cNvPr id="11272" name="Text Box 11"/>
          <p:cNvSpPr txBox="1">
            <a:spLocks noChangeArrowheads="1"/>
          </p:cNvSpPr>
          <p:nvPr/>
        </p:nvSpPr>
        <p:spPr bwMode="auto">
          <a:xfrm>
            <a:off x="471488" y="2374359"/>
            <a:ext cx="1046162" cy="457200"/>
          </a:xfrm>
          <a:prstGeom prst="rect">
            <a:avLst/>
          </a:prstGeom>
          <a:solidFill>
            <a:srgbClr val="0099FF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>
                <a:solidFill>
                  <a:schemeClr val="tx1"/>
                </a:solidFill>
                <a:latin typeface="Gill Sans MT" pitchFamily="34" charset="0"/>
              </a:rPr>
              <a:t>test 3</a:t>
            </a:r>
          </a:p>
        </p:txBody>
      </p:sp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1685925" y="904334"/>
            <a:ext cx="5091113" cy="1704975"/>
            <a:chOff x="1062" y="904"/>
            <a:chExt cx="3207" cy="1074"/>
          </a:xfrm>
        </p:grpSpPr>
        <p:sp>
          <p:nvSpPr>
            <p:cNvPr id="11300" name="Text Box 13"/>
            <p:cNvSpPr txBox="1">
              <a:spLocks noChangeArrowheads="1"/>
            </p:cNvSpPr>
            <p:nvPr/>
          </p:nvSpPr>
          <p:spPr bwMode="auto">
            <a:xfrm>
              <a:off x="2032" y="904"/>
              <a:ext cx="1267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>
                  <a:solidFill>
                    <a:schemeClr val="tx1"/>
                  </a:solidFill>
                  <a:latin typeface="Gill Sans MT" pitchFamily="34" charset="0"/>
                </a:rPr>
                <a:t>many-to-one</a:t>
              </a:r>
            </a:p>
          </p:txBody>
        </p:sp>
        <p:sp>
          <p:nvSpPr>
            <p:cNvPr id="11301" name="Line 14"/>
            <p:cNvSpPr>
              <a:spLocks noChangeShapeType="1"/>
            </p:cNvSpPr>
            <p:nvPr/>
          </p:nvSpPr>
          <p:spPr bwMode="auto">
            <a:xfrm>
              <a:off x="1069" y="1517"/>
              <a:ext cx="319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11302" name="Line 17"/>
            <p:cNvSpPr>
              <a:spLocks noChangeShapeType="1"/>
            </p:cNvSpPr>
            <p:nvPr/>
          </p:nvSpPr>
          <p:spPr bwMode="auto">
            <a:xfrm>
              <a:off x="1062" y="1056"/>
              <a:ext cx="3207" cy="30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11303" name="Line 19"/>
            <p:cNvSpPr>
              <a:spLocks noChangeShapeType="1"/>
            </p:cNvSpPr>
            <p:nvPr/>
          </p:nvSpPr>
          <p:spPr bwMode="auto">
            <a:xfrm flipV="1">
              <a:off x="1065" y="1670"/>
              <a:ext cx="3200" cy="3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</p:grpSp>
      <p:grpSp>
        <p:nvGrpSpPr>
          <p:cNvPr id="3" name="Group 43"/>
          <p:cNvGrpSpPr>
            <a:grpSpLocks/>
          </p:cNvGrpSpPr>
          <p:nvPr/>
        </p:nvGrpSpPr>
        <p:grpSpPr bwMode="auto">
          <a:xfrm>
            <a:off x="561975" y="3722147"/>
            <a:ext cx="1046163" cy="1944687"/>
            <a:chOff x="354" y="2451"/>
            <a:chExt cx="659" cy="1225"/>
          </a:xfrm>
        </p:grpSpPr>
        <p:sp>
          <p:nvSpPr>
            <p:cNvPr id="11297" name="Text Box 22"/>
            <p:cNvSpPr txBox="1">
              <a:spLocks noChangeArrowheads="1"/>
            </p:cNvSpPr>
            <p:nvPr/>
          </p:nvSpPr>
          <p:spPr bwMode="auto">
            <a:xfrm>
              <a:off x="354" y="2451"/>
              <a:ext cx="659" cy="288"/>
            </a:xfrm>
            <a:prstGeom prst="rect">
              <a:avLst/>
            </a:prstGeom>
            <a:solidFill>
              <a:srgbClr val="0099FF"/>
            </a:solid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>
                  <a:solidFill>
                    <a:schemeClr val="tx1"/>
                  </a:solidFill>
                  <a:latin typeface="Gill Sans MT" pitchFamily="34" charset="0"/>
                </a:rPr>
                <a:t>test 1</a:t>
              </a:r>
            </a:p>
          </p:txBody>
        </p:sp>
        <p:sp>
          <p:nvSpPr>
            <p:cNvPr id="11298" name="Text Box 23"/>
            <p:cNvSpPr txBox="1">
              <a:spLocks noChangeArrowheads="1"/>
            </p:cNvSpPr>
            <p:nvPr/>
          </p:nvSpPr>
          <p:spPr bwMode="auto">
            <a:xfrm>
              <a:off x="354" y="2920"/>
              <a:ext cx="659" cy="288"/>
            </a:xfrm>
            <a:prstGeom prst="rect">
              <a:avLst/>
            </a:prstGeom>
            <a:solidFill>
              <a:srgbClr val="0099FF"/>
            </a:solid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>
                  <a:solidFill>
                    <a:schemeClr val="tx1"/>
                  </a:solidFill>
                  <a:latin typeface="Gill Sans MT" pitchFamily="34" charset="0"/>
                </a:rPr>
                <a:t>test 2</a:t>
              </a:r>
            </a:p>
          </p:txBody>
        </p:sp>
        <p:sp>
          <p:nvSpPr>
            <p:cNvPr id="11299" name="Text Box 24"/>
            <p:cNvSpPr txBox="1">
              <a:spLocks noChangeArrowheads="1"/>
            </p:cNvSpPr>
            <p:nvPr/>
          </p:nvSpPr>
          <p:spPr bwMode="auto">
            <a:xfrm>
              <a:off x="354" y="3388"/>
              <a:ext cx="659" cy="288"/>
            </a:xfrm>
            <a:prstGeom prst="rect">
              <a:avLst/>
            </a:prstGeom>
            <a:solidFill>
              <a:srgbClr val="0099FF"/>
            </a:solid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>
                  <a:solidFill>
                    <a:schemeClr val="tx1"/>
                  </a:solidFill>
                  <a:latin typeface="Gill Sans MT" pitchFamily="34" charset="0"/>
                </a:rPr>
                <a:t>test 3</a:t>
              </a:r>
            </a:p>
          </p:txBody>
        </p:sp>
      </p:grpSp>
      <p:grpSp>
        <p:nvGrpSpPr>
          <p:cNvPr id="4" name="Group 44"/>
          <p:cNvGrpSpPr>
            <a:grpSpLocks/>
          </p:cNvGrpSpPr>
          <p:nvPr/>
        </p:nvGrpSpPr>
        <p:grpSpPr bwMode="auto">
          <a:xfrm>
            <a:off x="1785938" y="3550697"/>
            <a:ext cx="5076825" cy="1887537"/>
            <a:chOff x="1125" y="2343"/>
            <a:chExt cx="3198" cy="1189"/>
          </a:xfrm>
        </p:grpSpPr>
        <p:sp>
          <p:nvSpPr>
            <p:cNvPr id="11287" name="Text Box 27"/>
            <p:cNvSpPr txBox="1">
              <a:spLocks noChangeArrowheads="1"/>
            </p:cNvSpPr>
            <p:nvPr/>
          </p:nvSpPr>
          <p:spPr bwMode="auto">
            <a:xfrm>
              <a:off x="1719" y="2343"/>
              <a:ext cx="2322" cy="29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dirty="0">
                  <a:solidFill>
                    <a:schemeClr val="tx1"/>
                  </a:solidFill>
                  <a:latin typeface="Gill Sans MT" pitchFamily="34" charset="0"/>
                </a:rPr>
                <a:t>many-to-many</a:t>
              </a:r>
            </a:p>
          </p:txBody>
        </p:sp>
        <p:sp>
          <p:nvSpPr>
            <p:cNvPr id="11288" name="Line 28"/>
            <p:cNvSpPr>
              <a:spLocks noChangeShapeType="1"/>
            </p:cNvSpPr>
            <p:nvPr/>
          </p:nvSpPr>
          <p:spPr bwMode="auto">
            <a:xfrm>
              <a:off x="1128" y="3064"/>
              <a:ext cx="319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11289" name="Line 29"/>
            <p:cNvSpPr>
              <a:spLocks noChangeShapeType="1"/>
            </p:cNvSpPr>
            <p:nvPr/>
          </p:nvSpPr>
          <p:spPr bwMode="auto">
            <a:xfrm>
              <a:off x="1131" y="2622"/>
              <a:ext cx="3190" cy="33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11290" name="Line 30"/>
            <p:cNvSpPr>
              <a:spLocks noChangeShapeType="1"/>
            </p:cNvSpPr>
            <p:nvPr/>
          </p:nvSpPr>
          <p:spPr bwMode="auto">
            <a:xfrm flipV="1">
              <a:off x="1125" y="3166"/>
              <a:ext cx="3187" cy="3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11291" name="Line 33"/>
            <p:cNvSpPr>
              <a:spLocks noChangeShapeType="1"/>
            </p:cNvSpPr>
            <p:nvPr/>
          </p:nvSpPr>
          <p:spPr bwMode="auto">
            <a:xfrm>
              <a:off x="1128" y="3532"/>
              <a:ext cx="319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11292" name="Line 34"/>
            <p:cNvSpPr>
              <a:spLocks noChangeShapeType="1"/>
            </p:cNvSpPr>
            <p:nvPr/>
          </p:nvSpPr>
          <p:spPr bwMode="auto">
            <a:xfrm>
              <a:off x="1128" y="2595"/>
              <a:ext cx="319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11293" name="Line 38"/>
            <p:cNvSpPr>
              <a:spLocks noChangeShapeType="1"/>
            </p:cNvSpPr>
            <p:nvPr/>
          </p:nvSpPr>
          <p:spPr bwMode="auto">
            <a:xfrm flipV="1">
              <a:off x="1133" y="2686"/>
              <a:ext cx="3190" cy="33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11294" name="Line 39"/>
            <p:cNvSpPr>
              <a:spLocks noChangeShapeType="1"/>
            </p:cNvSpPr>
            <p:nvPr/>
          </p:nvSpPr>
          <p:spPr bwMode="auto">
            <a:xfrm>
              <a:off x="1133" y="3105"/>
              <a:ext cx="3184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11295" name="Line 40"/>
            <p:cNvSpPr>
              <a:spLocks noChangeShapeType="1"/>
            </p:cNvSpPr>
            <p:nvPr/>
          </p:nvSpPr>
          <p:spPr bwMode="auto">
            <a:xfrm flipV="1">
              <a:off x="1127" y="2776"/>
              <a:ext cx="3194" cy="70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11296" name="Line 41"/>
            <p:cNvSpPr>
              <a:spLocks noChangeShapeType="1"/>
            </p:cNvSpPr>
            <p:nvPr/>
          </p:nvSpPr>
          <p:spPr bwMode="auto">
            <a:xfrm>
              <a:off x="1126" y="2647"/>
              <a:ext cx="3191" cy="71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</p:grpSp>
      <p:grpSp>
        <p:nvGrpSpPr>
          <p:cNvPr id="5" name="Group 47"/>
          <p:cNvGrpSpPr>
            <a:grpSpLocks/>
          </p:cNvGrpSpPr>
          <p:nvPr/>
        </p:nvGrpSpPr>
        <p:grpSpPr bwMode="auto">
          <a:xfrm>
            <a:off x="127000" y="3720569"/>
            <a:ext cx="8890000" cy="2924180"/>
            <a:chOff x="80" y="2450"/>
            <a:chExt cx="5600" cy="1842"/>
          </a:xfrm>
        </p:grpSpPr>
        <p:grpSp>
          <p:nvGrpSpPr>
            <p:cNvPr id="11282" name="Group 45"/>
            <p:cNvGrpSpPr>
              <a:grpSpLocks/>
            </p:cNvGrpSpPr>
            <p:nvPr/>
          </p:nvGrpSpPr>
          <p:grpSpPr bwMode="auto">
            <a:xfrm>
              <a:off x="4364" y="2450"/>
              <a:ext cx="1242" cy="1229"/>
              <a:chOff x="4364" y="2450"/>
              <a:chExt cx="1242" cy="1229"/>
            </a:xfrm>
          </p:grpSpPr>
          <p:sp>
            <p:nvSpPr>
              <p:cNvPr id="11284" name="Text Box 25"/>
              <p:cNvSpPr txBox="1">
                <a:spLocks noChangeArrowheads="1"/>
              </p:cNvSpPr>
              <p:nvPr/>
            </p:nvSpPr>
            <p:spPr bwMode="auto">
              <a:xfrm>
                <a:off x="4364" y="2450"/>
                <a:ext cx="1242" cy="291"/>
              </a:xfrm>
              <a:prstGeom prst="rect">
                <a:avLst/>
              </a:prstGeom>
              <a:solidFill>
                <a:srgbClr val="0099FF"/>
              </a:solidFill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 dirty="0">
                    <a:solidFill>
                      <a:schemeClr val="tx1"/>
                    </a:solidFill>
                    <a:latin typeface="Gill Sans MT" pitchFamily="34" charset="0"/>
                  </a:rPr>
                  <a:t>Test Path 1</a:t>
                </a:r>
              </a:p>
            </p:txBody>
          </p:sp>
          <p:sp>
            <p:nvSpPr>
              <p:cNvPr id="11285" name="Text Box 31"/>
              <p:cNvSpPr txBox="1">
                <a:spLocks noChangeArrowheads="1"/>
              </p:cNvSpPr>
              <p:nvPr/>
            </p:nvSpPr>
            <p:spPr bwMode="auto">
              <a:xfrm>
                <a:off x="4364" y="2925"/>
                <a:ext cx="1242" cy="291"/>
              </a:xfrm>
              <a:prstGeom prst="rect">
                <a:avLst/>
              </a:prstGeom>
              <a:solidFill>
                <a:srgbClr val="0099FF"/>
              </a:solidFill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>
                    <a:solidFill>
                      <a:schemeClr val="tx1"/>
                    </a:solidFill>
                    <a:latin typeface="Gill Sans MT" pitchFamily="34" charset="0"/>
                  </a:rPr>
                  <a:t>Test Path 2</a:t>
                </a:r>
              </a:p>
            </p:txBody>
          </p:sp>
          <p:sp>
            <p:nvSpPr>
              <p:cNvPr id="11286" name="Text Box 32"/>
              <p:cNvSpPr txBox="1">
                <a:spLocks noChangeArrowheads="1"/>
              </p:cNvSpPr>
              <p:nvPr/>
            </p:nvSpPr>
            <p:spPr bwMode="auto">
              <a:xfrm>
                <a:off x="4364" y="3388"/>
                <a:ext cx="1242" cy="291"/>
              </a:xfrm>
              <a:prstGeom prst="rect">
                <a:avLst/>
              </a:prstGeom>
              <a:solidFill>
                <a:srgbClr val="0099FF"/>
              </a:solidFill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>
                    <a:solidFill>
                      <a:schemeClr val="tx1"/>
                    </a:solidFill>
                    <a:latin typeface="Gill Sans MT" pitchFamily="34" charset="0"/>
                  </a:rPr>
                  <a:t>Test Path 3</a:t>
                </a:r>
              </a:p>
            </p:txBody>
          </p:sp>
        </p:grpSp>
        <p:sp>
          <p:nvSpPr>
            <p:cNvPr id="11283" name="Text Box 42"/>
            <p:cNvSpPr txBox="1">
              <a:spLocks noChangeArrowheads="1"/>
            </p:cNvSpPr>
            <p:nvPr/>
          </p:nvSpPr>
          <p:spPr bwMode="auto">
            <a:xfrm>
              <a:off x="80" y="3769"/>
              <a:ext cx="5600" cy="52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dirty="0">
                  <a:latin typeface="Gill Sans MT" pitchFamily="34" charset="0"/>
                </a:rPr>
                <a:t>Non-deterministic software–the same test can execute different test paths</a:t>
              </a:r>
            </a:p>
          </p:txBody>
        </p:sp>
      </p:grpSp>
      <p:grpSp>
        <p:nvGrpSpPr>
          <p:cNvPr id="7" name="Group 49"/>
          <p:cNvGrpSpPr>
            <a:grpSpLocks/>
          </p:cNvGrpSpPr>
          <p:nvPr/>
        </p:nvGrpSpPr>
        <p:grpSpPr bwMode="auto">
          <a:xfrm>
            <a:off x="31750" y="1466309"/>
            <a:ext cx="9078913" cy="1876426"/>
            <a:chOff x="20" y="1030"/>
            <a:chExt cx="5719" cy="1182"/>
          </a:xfrm>
        </p:grpSpPr>
        <p:grpSp>
          <p:nvGrpSpPr>
            <p:cNvPr id="11278" name="Group 46"/>
            <p:cNvGrpSpPr>
              <a:grpSpLocks/>
            </p:cNvGrpSpPr>
            <p:nvPr/>
          </p:nvGrpSpPr>
          <p:grpSpPr bwMode="auto">
            <a:xfrm>
              <a:off x="20" y="1030"/>
              <a:ext cx="5719" cy="1182"/>
              <a:chOff x="20" y="1030"/>
              <a:chExt cx="5719" cy="1182"/>
            </a:xfrm>
          </p:grpSpPr>
          <p:sp>
            <p:nvSpPr>
              <p:cNvPr id="11280" name="Text Box 12"/>
              <p:cNvSpPr txBox="1">
                <a:spLocks noChangeArrowheads="1"/>
              </p:cNvSpPr>
              <p:nvPr/>
            </p:nvSpPr>
            <p:spPr bwMode="auto">
              <a:xfrm>
                <a:off x="4364" y="1030"/>
                <a:ext cx="659" cy="523"/>
              </a:xfrm>
              <a:prstGeom prst="rect">
                <a:avLst/>
              </a:prstGeom>
              <a:solidFill>
                <a:srgbClr val="0099FF"/>
              </a:solidFill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>
                    <a:solidFill>
                      <a:schemeClr val="tx1"/>
                    </a:solidFill>
                    <a:latin typeface="Gill Sans MT" pitchFamily="34" charset="0"/>
                  </a:rPr>
                  <a:t>Test Path</a:t>
                </a:r>
              </a:p>
            </p:txBody>
          </p:sp>
          <p:sp>
            <p:nvSpPr>
              <p:cNvPr id="11281" name="Text Box 21"/>
              <p:cNvSpPr txBox="1">
                <a:spLocks noChangeArrowheads="1"/>
              </p:cNvSpPr>
              <p:nvPr/>
            </p:nvSpPr>
            <p:spPr bwMode="auto">
              <a:xfrm>
                <a:off x="20" y="1921"/>
                <a:ext cx="5719" cy="291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 dirty="0">
                    <a:latin typeface="Gill Sans MT" pitchFamily="34" charset="0"/>
                  </a:rPr>
                  <a:t>Deterministic</a:t>
                </a:r>
                <a:r>
                  <a:rPr lang="en-US" dirty="0">
                    <a:latin typeface="Gill Sans MT" pitchFamily="34" charset="0"/>
                  </a:rPr>
                  <a:t> software–test </a:t>
                </a:r>
                <a:r>
                  <a:rPr lang="en-US" sz="2400" dirty="0">
                    <a:latin typeface="Gill Sans MT" pitchFamily="34" charset="0"/>
                  </a:rPr>
                  <a:t>always executes the same test path</a:t>
                </a:r>
              </a:p>
            </p:txBody>
          </p:sp>
        </p:grpSp>
        <p:sp>
          <p:nvSpPr>
            <p:cNvPr id="11279" name="Line 48"/>
            <p:cNvSpPr>
              <a:spLocks noChangeShapeType="1"/>
            </p:cNvSpPr>
            <p:nvPr/>
          </p:nvSpPr>
          <p:spPr bwMode="auto">
            <a:xfrm>
              <a:off x="20" y="2208"/>
              <a:ext cx="571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Introduction to Software Testing, Edition 2  (Ch 07)</a:t>
            </a:r>
          </a:p>
        </p:txBody>
      </p:sp>
      <p:sp>
        <p:nvSpPr>
          <p:cNvPr id="12291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© Ammann &amp; Offutt</a:t>
            </a:r>
          </a:p>
        </p:txBody>
      </p:sp>
      <p:sp>
        <p:nvSpPr>
          <p:cNvPr id="1229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A51CF3E-0E49-4644-8CB2-173B6991A532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>
          <a:xfrm>
            <a:off x="48768" y="96838"/>
            <a:ext cx="9005888" cy="925512"/>
          </a:xfrm>
        </p:spPr>
        <p:txBody>
          <a:bodyPr/>
          <a:lstStyle/>
          <a:p>
            <a:r>
              <a:rPr lang="en-US" dirty="0"/>
              <a:t>Testing and Covering Graphs </a:t>
            </a:r>
            <a:r>
              <a:rPr lang="en-US" sz="3200" dirty="0"/>
              <a:t>(7.2)</a:t>
            </a:r>
          </a:p>
        </p:txBody>
      </p:sp>
      <p:sp>
        <p:nvSpPr>
          <p:cNvPr id="122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8113" y="1085850"/>
            <a:ext cx="8867775" cy="1276350"/>
          </a:xfrm>
        </p:spPr>
        <p:txBody>
          <a:bodyPr/>
          <a:lstStyle/>
          <a:p>
            <a:r>
              <a:rPr lang="en-US" dirty="0"/>
              <a:t>We use graphs in testing as follows :</a:t>
            </a:r>
          </a:p>
          <a:p>
            <a:pPr lvl="1"/>
            <a:r>
              <a:rPr lang="en-US" dirty="0"/>
              <a:t>Develop a </a:t>
            </a:r>
            <a:r>
              <a:rPr lang="en-US" b="1" dirty="0">
                <a:solidFill>
                  <a:srgbClr val="FF0000"/>
                </a:solidFill>
              </a:rPr>
              <a:t>model</a:t>
            </a:r>
            <a:r>
              <a:rPr lang="en-US" dirty="0"/>
              <a:t> of the software as a graph</a:t>
            </a:r>
          </a:p>
          <a:p>
            <a:pPr lvl="1"/>
            <a:r>
              <a:rPr lang="en-US" dirty="0"/>
              <a:t>Require tests to visit or tour specific sets of nodes, edges or </a:t>
            </a:r>
            <a:r>
              <a:rPr lang="en-US" dirty="0" err="1"/>
              <a:t>subpaths</a:t>
            </a:r>
            <a:endParaRPr lang="en-US" dirty="0"/>
          </a:p>
        </p:txBody>
      </p:sp>
      <p:sp>
        <p:nvSpPr>
          <p:cNvPr id="160772" name="Rectangle 4"/>
          <p:cNvSpPr>
            <a:spLocks noChangeArrowheads="1"/>
          </p:cNvSpPr>
          <p:nvPr/>
        </p:nvSpPr>
        <p:spPr bwMode="auto">
          <a:xfrm>
            <a:off x="138113" y="2747727"/>
            <a:ext cx="8867775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Test Requirements (TR)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 : Describe properties of test paths</a:t>
            </a:r>
          </a:p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Test Criterion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 : Rules that define test requirements</a:t>
            </a:r>
          </a:p>
          <a:p>
            <a:pPr marL="285750" indent="-285750" algn="just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Satisfaction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 : </a:t>
            </a:r>
            <a:r>
              <a:rPr lang="en-US" sz="2400" b="0" i="1" dirty="0">
                <a:solidFill>
                  <a:schemeClr val="tx1"/>
                </a:solidFill>
                <a:latin typeface="Gill Sans MT" pitchFamily="34" charset="0"/>
              </a:rPr>
              <a:t>Given a set TR of test requirements for a criterion C, a set of tests T satisfies C on a graph if and only if for every test requirement in TR, there is a test path in path(T) that meets the test requirement </a:t>
            </a:r>
            <a:r>
              <a:rPr lang="en-US" sz="2400" b="0" i="1" dirty="0" err="1">
                <a:solidFill>
                  <a:schemeClr val="tx1"/>
                </a:solidFill>
                <a:latin typeface="Gill Sans MT" pitchFamily="34" charset="0"/>
              </a:rPr>
              <a:t>tr</a:t>
            </a:r>
            <a:endParaRPr lang="en-US" sz="2400" b="0" i="1" dirty="0">
              <a:solidFill>
                <a:schemeClr val="tx1"/>
              </a:solidFill>
              <a:latin typeface="Gill Sans MT" pitchFamily="34" charset="0"/>
            </a:endParaRPr>
          </a:p>
        </p:txBody>
      </p:sp>
      <p:sp>
        <p:nvSpPr>
          <p:cNvPr id="160773" name="Rectangle 5"/>
          <p:cNvSpPr>
            <a:spLocks noChangeArrowheads="1"/>
          </p:cNvSpPr>
          <p:nvPr/>
        </p:nvSpPr>
        <p:spPr bwMode="auto">
          <a:xfrm>
            <a:off x="138113" y="4686300"/>
            <a:ext cx="8867775" cy="157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Structural Coverage Criteria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 : Defined on a graph just in terms of nodes and edges</a:t>
            </a:r>
          </a:p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Data Flow Coverage Criteria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 : Requires a graph to be annotated with references to variables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60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60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2" grpId="0"/>
      <p:bldP spid="16077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Introduction to Software Testing, Edition 2  (Ch 07)</a:t>
            </a:r>
          </a:p>
        </p:txBody>
      </p:sp>
      <p:sp>
        <p:nvSpPr>
          <p:cNvPr id="13315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© Ammann &amp; Offutt</a:t>
            </a:r>
          </a:p>
        </p:txBody>
      </p:sp>
      <p:sp>
        <p:nvSpPr>
          <p:cNvPr id="1331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C202B98-B982-4E8A-8301-3A3838CE7E2E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331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96838"/>
            <a:ext cx="7772400" cy="825500"/>
          </a:xfrm>
        </p:spPr>
        <p:txBody>
          <a:bodyPr/>
          <a:lstStyle/>
          <a:p>
            <a:r>
              <a:rPr lang="en-US"/>
              <a:t>Node and Edge Coverage</a:t>
            </a:r>
          </a:p>
        </p:txBody>
      </p:sp>
      <p:sp>
        <p:nvSpPr>
          <p:cNvPr id="133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8113" y="1266825"/>
            <a:ext cx="8867775" cy="766763"/>
          </a:xfrm>
        </p:spPr>
        <p:txBody>
          <a:bodyPr/>
          <a:lstStyle/>
          <a:p>
            <a:r>
              <a:rPr lang="en-US" dirty="0"/>
              <a:t>The first (and simplest) two criteria require that each node and edge in a graph be executed </a:t>
            </a:r>
          </a:p>
        </p:txBody>
      </p:sp>
      <p:sp>
        <p:nvSpPr>
          <p:cNvPr id="169988" name="Text Box 4"/>
          <p:cNvSpPr txBox="1">
            <a:spLocks noChangeArrowheads="1"/>
          </p:cNvSpPr>
          <p:nvPr/>
        </p:nvSpPr>
        <p:spPr bwMode="auto">
          <a:xfrm>
            <a:off x="441325" y="2511425"/>
            <a:ext cx="8262938" cy="1206500"/>
          </a:xfrm>
          <a:prstGeom prst="rect">
            <a:avLst/>
          </a:prstGeom>
          <a:gradFill rotWithShape="1">
            <a:gsLst>
              <a:gs pos="0">
                <a:srgbClr val="3399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defRPr/>
            </a:pPr>
            <a:r>
              <a:rPr lang="en-US" sz="2400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Node Coverage (NC)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 : Test set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T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 satisfies node coverage on graph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G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iff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 for every syntactically reachable node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n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 in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N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, there is some path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p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 in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path(T)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 such that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p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 visits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n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.</a:t>
            </a:r>
          </a:p>
        </p:txBody>
      </p:sp>
      <p:sp>
        <p:nvSpPr>
          <p:cNvPr id="169989" name="Text Box 5"/>
          <p:cNvSpPr txBox="1">
            <a:spLocks noChangeArrowheads="1"/>
          </p:cNvSpPr>
          <p:nvPr/>
        </p:nvSpPr>
        <p:spPr bwMode="auto">
          <a:xfrm>
            <a:off x="439738" y="5390660"/>
            <a:ext cx="8262937" cy="830997"/>
          </a:xfrm>
          <a:prstGeom prst="rect">
            <a:avLst/>
          </a:prstGeom>
          <a:gradFill rotWithShape="1">
            <a:gsLst>
              <a:gs pos="0">
                <a:srgbClr val="66C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defRPr/>
            </a:pPr>
            <a:r>
              <a:rPr lang="en-US" sz="2400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Node Coverage (NC)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 : TR contains each reachable node in G.</a:t>
            </a:r>
          </a:p>
        </p:txBody>
      </p:sp>
      <p:sp>
        <p:nvSpPr>
          <p:cNvPr id="169990" name="Rectangle 6"/>
          <p:cNvSpPr>
            <a:spLocks noChangeArrowheads="1"/>
          </p:cNvSpPr>
          <p:nvPr/>
        </p:nvSpPr>
        <p:spPr bwMode="auto">
          <a:xfrm>
            <a:off x="138113" y="4211638"/>
            <a:ext cx="8867775" cy="75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This statement is a bit cumbersome, so we abbreviate it in terms of the set of test requirements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9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9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69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988" grpId="0" animBg="1" autoUpdateAnimBg="0"/>
      <p:bldP spid="169989" grpId="0" animBg="1" autoUpdateAnimBg="0"/>
      <p:bldP spid="169990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Introduction to Software Testing, Edition 2  (Ch 07)</a:t>
            </a:r>
          </a:p>
        </p:txBody>
      </p:sp>
      <p:sp>
        <p:nvSpPr>
          <p:cNvPr id="14339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© Ammann &amp; Offutt</a:t>
            </a:r>
          </a:p>
        </p:txBody>
      </p:sp>
      <p:sp>
        <p:nvSpPr>
          <p:cNvPr id="1434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5D2ACFA-D953-4088-AB01-C9EEF9441D30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434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96838"/>
            <a:ext cx="7772400" cy="825500"/>
          </a:xfrm>
        </p:spPr>
        <p:txBody>
          <a:bodyPr/>
          <a:lstStyle/>
          <a:p>
            <a:r>
              <a:rPr lang="en-US"/>
              <a:t>Node and Edge Coverage</a:t>
            </a:r>
          </a:p>
        </p:txBody>
      </p:sp>
      <p:sp>
        <p:nvSpPr>
          <p:cNvPr id="143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8113" y="1035050"/>
            <a:ext cx="8867775" cy="471488"/>
          </a:xfrm>
        </p:spPr>
        <p:txBody>
          <a:bodyPr/>
          <a:lstStyle/>
          <a:p>
            <a:r>
              <a:rPr lang="en-US" dirty="0"/>
              <a:t>Edge coverage is slightly stronger than node coverage </a:t>
            </a:r>
          </a:p>
        </p:txBody>
      </p:sp>
      <p:sp>
        <p:nvSpPr>
          <p:cNvPr id="168965" name="Text Box 5"/>
          <p:cNvSpPr txBox="1">
            <a:spLocks noChangeArrowheads="1"/>
          </p:cNvSpPr>
          <p:nvPr/>
        </p:nvSpPr>
        <p:spPr bwMode="auto">
          <a:xfrm>
            <a:off x="460375" y="1645986"/>
            <a:ext cx="8262938" cy="841375"/>
          </a:xfrm>
          <a:prstGeom prst="rect">
            <a:avLst/>
          </a:prstGeom>
          <a:gradFill rotWithShape="1">
            <a:gsLst>
              <a:gs pos="0">
                <a:srgbClr val="0066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defRPr/>
            </a:pPr>
            <a:r>
              <a:rPr lang="en-US" sz="2400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Edge Coverage (EC)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 : TR contains each reachable path of length up to 1, inclusive, in G.</a:t>
            </a:r>
          </a:p>
        </p:txBody>
      </p:sp>
      <p:sp>
        <p:nvSpPr>
          <p:cNvPr id="168968" name="Rectangle 8"/>
          <p:cNvSpPr>
            <a:spLocks noChangeArrowheads="1"/>
          </p:cNvSpPr>
          <p:nvPr/>
        </p:nvSpPr>
        <p:spPr bwMode="auto">
          <a:xfrm>
            <a:off x="138113" y="2614778"/>
            <a:ext cx="8867775" cy="75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The phrase “</a:t>
            </a:r>
            <a:r>
              <a:rPr lang="en-US" sz="2800" b="0" i="1" dirty="0">
                <a:solidFill>
                  <a:schemeClr val="tx1"/>
                </a:solidFill>
                <a:latin typeface="Gill Sans MT" pitchFamily="34" charset="0"/>
              </a:rPr>
              <a:t>length up to 1</a:t>
            </a: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” allows for graphs with one node and no edges</a:t>
            </a:r>
          </a:p>
        </p:txBody>
      </p:sp>
      <p:sp>
        <p:nvSpPr>
          <p:cNvPr id="168969" name="Rectangle 9"/>
          <p:cNvSpPr>
            <a:spLocks noChangeArrowheads="1"/>
          </p:cNvSpPr>
          <p:nvPr/>
        </p:nvSpPr>
        <p:spPr bwMode="auto">
          <a:xfrm>
            <a:off x="153988" y="3509876"/>
            <a:ext cx="8867775" cy="75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NC and EC are only different when there is an edge and another </a:t>
            </a:r>
            <a:r>
              <a:rPr lang="en-US" sz="2800" b="0" dirty="0" err="1">
                <a:solidFill>
                  <a:schemeClr val="tx1"/>
                </a:solidFill>
                <a:latin typeface="Gill Sans MT" pitchFamily="34" charset="0"/>
              </a:rPr>
              <a:t>subpath</a:t>
            </a: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 between a pair of nodes (as in an “if-else” statement)</a:t>
            </a:r>
          </a:p>
        </p:txBody>
      </p:sp>
      <p:sp>
        <p:nvSpPr>
          <p:cNvPr id="169003" name="Text Box 43"/>
          <p:cNvSpPr txBox="1">
            <a:spLocks noChangeArrowheads="1"/>
          </p:cNvSpPr>
          <p:nvPr/>
        </p:nvSpPr>
        <p:spPr bwMode="auto">
          <a:xfrm>
            <a:off x="3643313" y="4560888"/>
            <a:ext cx="5289672" cy="1938992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en-US" u="sng" dirty="0">
                <a:solidFill>
                  <a:schemeClr val="tx1"/>
                </a:solidFill>
                <a:latin typeface="Gill Sans MT" pitchFamily="34" charset="0"/>
              </a:rPr>
              <a:t>Node Coverage</a:t>
            </a: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 :  TR = { 1, 2, 3 }</a:t>
            </a:r>
          </a:p>
          <a:p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                             Test Path = [ 1, 2, 3 ]</a:t>
            </a:r>
          </a:p>
          <a:p>
            <a:endParaRPr lang="en-US" dirty="0">
              <a:solidFill>
                <a:schemeClr val="tx1"/>
              </a:solidFill>
              <a:latin typeface="Gill Sans MT" pitchFamily="34" charset="0"/>
            </a:endParaRPr>
          </a:p>
          <a:p>
            <a:r>
              <a:rPr lang="en-US" u="sng" dirty="0">
                <a:solidFill>
                  <a:schemeClr val="tx1"/>
                </a:solidFill>
                <a:latin typeface="Gill Sans MT" pitchFamily="34" charset="0"/>
              </a:rPr>
              <a:t>Edge Coverage</a:t>
            </a: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 : TR = { (1, 2), (1, 3), (2, 3) }</a:t>
            </a:r>
          </a:p>
          <a:p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                             Test Paths = [ 1, 2, 3 ]</a:t>
            </a:r>
          </a:p>
          <a:p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                                                   [ 1, 3 ]</a:t>
            </a:r>
          </a:p>
        </p:txBody>
      </p:sp>
      <p:grpSp>
        <p:nvGrpSpPr>
          <p:cNvPr id="2" name="Group 47"/>
          <p:cNvGrpSpPr>
            <a:grpSpLocks/>
          </p:cNvGrpSpPr>
          <p:nvPr/>
        </p:nvGrpSpPr>
        <p:grpSpPr bwMode="auto">
          <a:xfrm>
            <a:off x="1847937" y="4633583"/>
            <a:ext cx="1436687" cy="1749425"/>
            <a:chOff x="979" y="2843"/>
            <a:chExt cx="905" cy="1102"/>
          </a:xfrm>
        </p:grpSpPr>
        <p:grpSp>
          <p:nvGrpSpPr>
            <p:cNvPr id="14348" name="Group 11"/>
            <p:cNvGrpSpPr>
              <a:grpSpLocks/>
            </p:cNvGrpSpPr>
            <p:nvPr/>
          </p:nvGrpSpPr>
          <p:grpSpPr bwMode="auto">
            <a:xfrm>
              <a:off x="979" y="3344"/>
              <a:ext cx="350" cy="296"/>
              <a:chOff x="4288" y="1746"/>
              <a:chExt cx="350" cy="296"/>
            </a:xfrm>
          </p:grpSpPr>
          <p:sp>
            <p:nvSpPr>
              <p:cNvPr id="14360" name="Oval 12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Gill Sans MT" pitchFamily="34" charset="0"/>
                </a:endParaRPr>
              </a:p>
            </p:txBody>
          </p:sp>
          <p:sp>
            <p:nvSpPr>
              <p:cNvPr id="14361" name="Text Box 13"/>
              <p:cNvSpPr txBox="1">
                <a:spLocks noChangeArrowheads="1"/>
              </p:cNvSpPr>
              <p:nvPr/>
            </p:nvSpPr>
            <p:spPr bwMode="auto">
              <a:xfrm>
                <a:off x="4356" y="1769"/>
                <a:ext cx="205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dirty="0">
                    <a:solidFill>
                      <a:schemeClr val="tx1"/>
                    </a:solidFill>
                    <a:latin typeface="Gill Sans MT" pitchFamily="34" charset="0"/>
                  </a:rPr>
                  <a:t>2</a:t>
                </a:r>
              </a:p>
            </p:txBody>
          </p:sp>
        </p:grpSp>
        <p:grpSp>
          <p:nvGrpSpPr>
            <p:cNvPr id="14349" name="Group 14"/>
            <p:cNvGrpSpPr>
              <a:grpSpLocks/>
            </p:cNvGrpSpPr>
            <p:nvPr/>
          </p:nvGrpSpPr>
          <p:grpSpPr bwMode="auto">
            <a:xfrm>
              <a:off x="1504" y="3037"/>
              <a:ext cx="380" cy="908"/>
              <a:chOff x="1346" y="2965"/>
              <a:chExt cx="380" cy="908"/>
            </a:xfrm>
          </p:grpSpPr>
          <p:grpSp>
            <p:nvGrpSpPr>
              <p:cNvPr id="14354" name="Group 15"/>
              <p:cNvGrpSpPr>
                <a:grpSpLocks/>
              </p:cNvGrpSpPr>
              <p:nvPr/>
            </p:nvGrpSpPr>
            <p:grpSpPr bwMode="auto">
              <a:xfrm>
                <a:off x="1346" y="3577"/>
                <a:ext cx="350" cy="296"/>
                <a:chOff x="4738" y="2684"/>
                <a:chExt cx="350" cy="296"/>
              </a:xfrm>
            </p:grpSpPr>
            <p:sp>
              <p:nvSpPr>
                <p:cNvPr id="14358" name="Oval 16"/>
                <p:cNvSpPr>
                  <a:spLocks noChangeArrowheads="1"/>
                </p:cNvSpPr>
                <p:nvPr/>
              </p:nvSpPr>
              <p:spPr bwMode="auto">
                <a:xfrm>
                  <a:off x="4738" y="2684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571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>
                    <a:latin typeface="Gill Sans MT" pitchFamily="34" charset="0"/>
                  </a:endParaRPr>
                </a:p>
              </p:txBody>
            </p:sp>
            <p:sp>
              <p:nvSpPr>
                <p:cNvPr id="14359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4815" y="2707"/>
                  <a:ext cx="205" cy="25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dirty="0">
                      <a:solidFill>
                        <a:schemeClr val="tx1"/>
                      </a:solidFill>
                      <a:latin typeface="Gill Sans MT" pitchFamily="34" charset="0"/>
                    </a:rPr>
                    <a:t>3</a:t>
                  </a:r>
                </a:p>
              </p:txBody>
            </p:sp>
          </p:grpSp>
          <p:grpSp>
            <p:nvGrpSpPr>
              <p:cNvPr id="14355" name="Group 18"/>
              <p:cNvGrpSpPr>
                <a:grpSpLocks/>
              </p:cNvGrpSpPr>
              <p:nvPr/>
            </p:nvGrpSpPr>
            <p:grpSpPr bwMode="auto">
              <a:xfrm>
                <a:off x="1376" y="2965"/>
                <a:ext cx="350" cy="296"/>
                <a:chOff x="3838" y="2684"/>
                <a:chExt cx="350" cy="296"/>
              </a:xfrm>
            </p:grpSpPr>
            <p:sp>
              <p:nvSpPr>
                <p:cNvPr id="14356" name="Oval 19"/>
                <p:cNvSpPr>
                  <a:spLocks noChangeArrowheads="1"/>
                </p:cNvSpPr>
                <p:nvPr/>
              </p:nvSpPr>
              <p:spPr bwMode="auto">
                <a:xfrm>
                  <a:off x="3838" y="2684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>
                    <a:latin typeface="Gill Sans MT" pitchFamily="34" charset="0"/>
                  </a:endParaRPr>
                </a:p>
              </p:txBody>
            </p:sp>
            <p:sp>
              <p:nvSpPr>
                <p:cNvPr id="14357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3915" y="2707"/>
                  <a:ext cx="205" cy="25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dirty="0">
                      <a:solidFill>
                        <a:schemeClr val="tx1"/>
                      </a:solidFill>
                      <a:latin typeface="Gill Sans MT" pitchFamily="34" charset="0"/>
                    </a:rPr>
                    <a:t>1</a:t>
                  </a:r>
                </a:p>
              </p:txBody>
            </p:sp>
          </p:grpSp>
        </p:grpSp>
        <p:sp>
          <p:nvSpPr>
            <p:cNvPr id="14350" name="Line 24"/>
            <p:cNvSpPr>
              <a:spLocks noChangeShapeType="1"/>
            </p:cNvSpPr>
            <p:nvPr/>
          </p:nvSpPr>
          <p:spPr bwMode="auto">
            <a:xfrm flipV="1">
              <a:off x="1324" y="3264"/>
              <a:ext cx="250" cy="16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arrow" w="med" len="med"/>
              <a:tailEnd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14351" name="Line 39"/>
            <p:cNvSpPr>
              <a:spLocks noChangeShapeType="1"/>
            </p:cNvSpPr>
            <p:nvPr/>
          </p:nvSpPr>
          <p:spPr bwMode="auto">
            <a:xfrm>
              <a:off x="1304" y="3588"/>
              <a:ext cx="218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14352" name="Line 44"/>
            <p:cNvSpPr>
              <a:spLocks noChangeShapeType="1"/>
            </p:cNvSpPr>
            <p:nvPr/>
          </p:nvSpPr>
          <p:spPr bwMode="auto">
            <a:xfrm>
              <a:off x="1694" y="3335"/>
              <a:ext cx="0" cy="31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14353" name="Line 45"/>
            <p:cNvSpPr>
              <a:spLocks noChangeShapeType="1"/>
            </p:cNvSpPr>
            <p:nvPr/>
          </p:nvSpPr>
          <p:spPr bwMode="auto">
            <a:xfrm>
              <a:off x="1694" y="2843"/>
              <a:ext cx="0" cy="1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8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8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8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69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965" grpId="0" animBg="1" autoUpdateAnimBg="0"/>
      <p:bldP spid="168968" grpId="0" autoUpdateAnimBg="0"/>
      <p:bldP spid="168969" grpId="0" autoUpdateAnimBg="0"/>
      <p:bldP spid="169003" grpId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Introduction to Software Testing, Edition 2  (Ch 07)</a:t>
            </a:r>
          </a:p>
        </p:txBody>
      </p:sp>
      <p:sp>
        <p:nvSpPr>
          <p:cNvPr id="15363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© Ammann &amp; Offutt</a:t>
            </a:r>
          </a:p>
        </p:txBody>
      </p:sp>
      <p:sp>
        <p:nvSpPr>
          <p:cNvPr id="1536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0D8EB9E-4E24-4E8F-80BB-A6521719AB4F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15365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96838"/>
            <a:ext cx="7772400" cy="825500"/>
          </a:xfrm>
        </p:spPr>
        <p:txBody>
          <a:bodyPr/>
          <a:lstStyle/>
          <a:p>
            <a:r>
              <a:rPr lang="en-US"/>
              <a:t>Paths of Length 1 and 0</a:t>
            </a:r>
          </a:p>
        </p:txBody>
      </p:sp>
      <p:sp>
        <p:nvSpPr>
          <p:cNvPr id="153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8113" y="886989"/>
            <a:ext cx="8867775" cy="766763"/>
          </a:xfrm>
        </p:spPr>
        <p:txBody>
          <a:bodyPr/>
          <a:lstStyle/>
          <a:p>
            <a:r>
              <a:rPr lang="en-US" dirty="0"/>
              <a:t>A graph with </a:t>
            </a:r>
            <a:r>
              <a:rPr lang="en-US" dirty="0">
                <a:solidFill>
                  <a:schemeClr val="tx2"/>
                </a:solidFill>
              </a:rPr>
              <a:t>only one node</a:t>
            </a:r>
            <a:r>
              <a:rPr lang="en-US" dirty="0"/>
              <a:t> will not have any edges </a:t>
            </a:r>
          </a:p>
        </p:txBody>
      </p:sp>
      <p:sp>
        <p:nvSpPr>
          <p:cNvPr id="194566" name="Rectangle 6"/>
          <p:cNvSpPr>
            <a:spLocks noChangeArrowheads="1"/>
          </p:cNvSpPr>
          <p:nvPr/>
        </p:nvSpPr>
        <p:spPr bwMode="auto">
          <a:xfrm>
            <a:off x="138113" y="2301452"/>
            <a:ext cx="8867775" cy="75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It may seem trivial, but formally, Edge Coverage needs to require Node Coverage on this graph</a:t>
            </a:r>
          </a:p>
        </p:txBody>
      </p:sp>
      <p:grpSp>
        <p:nvGrpSpPr>
          <p:cNvPr id="2" name="Group 22"/>
          <p:cNvGrpSpPr>
            <a:grpSpLocks/>
          </p:cNvGrpSpPr>
          <p:nvPr/>
        </p:nvGrpSpPr>
        <p:grpSpPr bwMode="auto">
          <a:xfrm>
            <a:off x="3513138" y="1425152"/>
            <a:ext cx="555625" cy="777875"/>
            <a:chOff x="1068" y="1209"/>
            <a:chExt cx="350" cy="490"/>
          </a:xfrm>
        </p:grpSpPr>
        <p:grpSp>
          <p:nvGrpSpPr>
            <p:cNvPr id="15380" name="Group 15"/>
            <p:cNvGrpSpPr>
              <a:grpSpLocks/>
            </p:cNvGrpSpPr>
            <p:nvPr/>
          </p:nvGrpSpPr>
          <p:grpSpPr bwMode="auto">
            <a:xfrm>
              <a:off x="1068" y="1403"/>
              <a:ext cx="350" cy="296"/>
              <a:chOff x="3838" y="2684"/>
              <a:chExt cx="350" cy="296"/>
            </a:xfrm>
          </p:grpSpPr>
          <p:sp>
            <p:nvSpPr>
              <p:cNvPr id="15382" name="Oval 16"/>
              <p:cNvSpPr>
                <a:spLocks noChangeArrowheads="1"/>
              </p:cNvSpPr>
              <p:nvPr/>
            </p:nvSpPr>
            <p:spPr bwMode="auto">
              <a:xfrm>
                <a:off x="38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383" name="Text Box 17"/>
              <p:cNvSpPr txBox="1">
                <a:spLocks noChangeArrowheads="1"/>
              </p:cNvSpPr>
              <p:nvPr/>
            </p:nvSpPr>
            <p:spPr bwMode="auto">
              <a:xfrm>
                <a:off x="3915" y="2707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</p:grpSp>
        <p:sp>
          <p:nvSpPr>
            <p:cNvPr id="15381" name="Line 21"/>
            <p:cNvSpPr>
              <a:spLocks noChangeShapeType="1"/>
            </p:cNvSpPr>
            <p:nvPr/>
          </p:nvSpPr>
          <p:spPr bwMode="auto">
            <a:xfrm>
              <a:off x="1243" y="1209"/>
              <a:ext cx="0" cy="1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4583" name="Rectangle 23"/>
          <p:cNvSpPr>
            <a:spLocks noChangeArrowheads="1"/>
          </p:cNvSpPr>
          <p:nvPr/>
        </p:nvSpPr>
        <p:spPr bwMode="auto">
          <a:xfrm>
            <a:off x="138113" y="3117427"/>
            <a:ext cx="8867775" cy="75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Otherwise, Edge Coverage will not subsume Node Coverage</a:t>
            </a:r>
          </a:p>
          <a:p>
            <a:pPr marL="685800" lvl="1" indent="-228600">
              <a:lnSpc>
                <a:spcPct val="90000"/>
              </a:lnSpc>
              <a:spcBef>
                <a:spcPct val="30000"/>
              </a:spcBef>
              <a:buSzPct val="100000"/>
              <a:buFontTx/>
              <a:buChar char="–"/>
            </a:pP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So we define “</a:t>
            </a:r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length up to 1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” instead of simply “length 1”</a:t>
            </a:r>
          </a:p>
        </p:txBody>
      </p:sp>
      <p:grpSp>
        <p:nvGrpSpPr>
          <p:cNvPr id="4" name="Group 39"/>
          <p:cNvGrpSpPr>
            <a:grpSpLocks/>
          </p:cNvGrpSpPr>
          <p:nvPr/>
        </p:nvGrpSpPr>
        <p:grpSpPr bwMode="auto">
          <a:xfrm>
            <a:off x="6943725" y="4449849"/>
            <a:ext cx="555625" cy="1749425"/>
            <a:chOff x="1637" y="2541"/>
            <a:chExt cx="350" cy="1102"/>
          </a:xfrm>
        </p:grpSpPr>
        <p:grpSp>
          <p:nvGrpSpPr>
            <p:cNvPr id="15372" name="Group 29"/>
            <p:cNvGrpSpPr>
              <a:grpSpLocks/>
            </p:cNvGrpSpPr>
            <p:nvPr/>
          </p:nvGrpSpPr>
          <p:grpSpPr bwMode="auto">
            <a:xfrm>
              <a:off x="1637" y="3347"/>
              <a:ext cx="350" cy="296"/>
              <a:chOff x="4738" y="2684"/>
              <a:chExt cx="350" cy="296"/>
            </a:xfrm>
          </p:grpSpPr>
          <p:sp>
            <p:nvSpPr>
              <p:cNvPr id="15378" name="Oval 30"/>
              <p:cNvSpPr>
                <a:spLocks noChangeArrowheads="1"/>
              </p:cNvSpPr>
              <p:nvPr/>
            </p:nvSpPr>
            <p:spPr bwMode="auto">
              <a:xfrm>
                <a:off x="47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379" name="Text Box 31"/>
              <p:cNvSpPr txBox="1">
                <a:spLocks noChangeArrowheads="1"/>
              </p:cNvSpPr>
              <p:nvPr/>
            </p:nvSpPr>
            <p:spPr bwMode="auto">
              <a:xfrm>
                <a:off x="4815" y="2707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</p:grpSp>
        <p:grpSp>
          <p:nvGrpSpPr>
            <p:cNvPr id="15373" name="Group 32"/>
            <p:cNvGrpSpPr>
              <a:grpSpLocks/>
            </p:cNvGrpSpPr>
            <p:nvPr/>
          </p:nvGrpSpPr>
          <p:grpSpPr bwMode="auto">
            <a:xfrm>
              <a:off x="1637" y="2735"/>
              <a:ext cx="350" cy="296"/>
              <a:chOff x="3838" y="2684"/>
              <a:chExt cx="350" cy="296"/>
            </a:xfrm>
          </p:grpSpPr>
          <p:sp>
            <p:nvSpPr>
              <p:cNvPr id="15376" name="Oval 33"/>
              <p:cNvSpPr>
                <a:spLocks noChangeArrowheads="1"/>
              </p:cNvSpPr>
              <p:nvPr/>
            </p:nvSpPr>
            <p:spPr bwMode="auto">
              <a:xfrm>
                <a:off x="38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377" name="Text Box 34"/>
              <p:cNvSpPr txBox="1">
                <a:spLocks noChangeArrowheads="1"/>
              </p:cNvSpPr>
              <p:nvPr/>
            </p:nvSpPr>
            <p:spPr bwMode="auto">
              <a:xfrm>
                <a:off x="3915" y="2707"/>
                <a:ext cx="197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</p:grpSp>
        <p:sp>
          <p:nvSpPr>
            <p:cNvPr id="15374" name="Line 37"/>
            <p:cNvSpPr>
              <a:spLocks noChangeShapeType="1"/>
            </p:cNvSpPr>
            <p:nvPr/>
          </p:nvSpPr>
          <p:spPr bwMode="auto">
            <a:xfrm>
              <a:off x="1812" y="3033"/>
              <a:ext cx="0" cy="31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75" name="Line 38"/>
            <p:cNvSpPr>
              <a:spLocks noChangeShapeType="1"/>
            </p:cNvSpPr>
            <p:nvPr/>
          </p:nvSpPr>
          <p:spPr bwMode="auto">
            <a:xfrm>
              <a:off x="1812" y="2541"/>
              <a:ext cx="0" cy="1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4600" name="Rectangle 40"/>
          <p:cNvSpPr>
            <a:spLocks noChangeArrowheads="1"/>
          </p:cNvSpPr>
          <p:nvPr/>
        </p:nvSpPr>
        <p:spPr bwMode="auto">
          <a:xfrm>
            <a:off x="138113" y="4524324"/>
            <a:ext cx="6421437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We have the same issue with graphs that only have </a:t>
            </a:r>
            <a:r>
              <a:rPr lang="en-US" sz="2800" b="0" dirty="0">
                <a:solidFill>
                  <a:schemeClr val="tx2"/>
                </a:solidFill>
                <a:latin typeface="Gill Sans MT" pitchFamily="34" charset="0"/>
              </a:rPr>
              <a:t>one edge</a:t>
            </a: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 – for Edge-Pair Coverage …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4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4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6" grpId="0" autoUpdateAnimBg="0"/>
      <p:bldP spid="194583" grpId="0" autoUpdateAnimBg="0"/>
      <p:bldP spid="194600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Introduction to Software Testing, Edition 2  (Ch 07)</a:t>
            </a:r>
          </a:p>
        </p:txBody>
      </p:sp>
      <p:sp>
        <p:nvSpPr>
          <p:cNvPr id="16387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© Ammann &amp; Offutt</a:t>
            </a:r>
          </a:p>
        </p:txBody>
      </p:sp>
      <p:sp>
        <p:nvSpPr>
          <p:cNvPr id="1638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7F4CF52-2955-412D-B513-A4A2CB4DCADA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163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Covering Multiple Edges</a:t>
            </a:r>
          </a:p>
        </p:txBody>
      </p:sp>
      <p:sp>
        <p:nvSpPr>
          <p:cNvPr id="1639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38113" y="892089"/>
            <a:ext cx="8867775" cy="663575"/>
          </a:xfrm>
          <a:noFill/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dirty="0"/>
              <a:t>Edge-pair coverage requires </a:t>
            </a:r>
            <a:r>
              <a:rPr lang="en-US" dirty="0">
                <a:solidFill>
                  <a:schemeClr val="tx2"/>
                </a:solidFill>
              </a:rPr>
              <a:t>pairs of edges</a:t>
            </a:r>
            <a:r>
              <a:rPr lang="en-US" dirty="0"/>
              <a:t>, or </a:t>
            </a:r>
            <a:r>
              <a:rPr lang="en-US" dirty="0" err="1"/>
              <a:t>subpaths</a:t>
            </a:r>
            <a:r>
              <a:rPr lang="en-US" dirty="0"/>
              <a:t> of length 2</a:t>
            </a:r>
          </a:p>
        </p:txBody>
      </p:sp>
      <p:sp>
        <p:nvSpPr>
          <p:cNvPr id="164869" name="Text Box 5"/>
          <p:cNvSpPr txBox="1">
            <a:spLocks noChangeArrowheads="1"/>
          </p:cNvSpPr>
          <p:nvPr/>
        </p:nvSpPr>
        <p:spPr bwMode="auto">
          <a:xfrm>
            <a:off x="441325" y="1701403"/>
            <a:ext cx="8262938" cy="841375"/>
          </a:xfrm>
          <a:prstGeom prst="rect">
            <a:avLst/>
          </a:prstGeom>
          <a:gradFill rotWithShape="1">
            <a:gsLst>
              <a:gs pos="0">
                <a:srgbClr val="0066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defRPr/>
            </a:pPr>
            <a:r>
              <a:rPr lang="en-US" sz="2400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Edge-Pair Coverage (EPC)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 : TR contains each reachable path of length up to 2, inclusive, in G.</a:t>
            </a:r>
          </a:p>
        </p:txBody>
      </p:sp>
      <p:sp>
        <p:nvSpPr>
          <p:cNvPr id="164870" name="Rectangle 6"/>
          <p:cNvSpPr>
            <a:spLocks noChangeArrowheads="1"/>
          </p:cNvSpPr>
          <p:nvPr/>
        </p:nvSpPr>
        <p:spPr bwMode="auto">
          <a:xfrm>
            <a:off x="138113" y="2688517"/>
            <a:ext cx="8867775" cy="75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The phrase “</a:t>
            </a:r>
            <a:r>
              <a:rPr lang="en-US" sz="2800" b="0" dirty="0">
                <a:solidFill>
                  <a:schemeClr val="tx2"/>
                </a:solidFill>
                <a:latin typeface="Gill Sans MT" pitchFamily="34" charset="0"/>
              </a:rPr>
              <a:t>length up to 2</a:t>
            </a: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” is used to include graphs that have less than 2 edges</a:t>
            </a:r>
          </a:p>
        </p:txBody>
      </p:sp>
      <p:sp>
        <p:nvSpPr>
          <p:cNvPr id="164873" name="Rectangle 9"/>
          <p:cNvSpPr>
            <a:spLocks noChangeArrowheads="1"/>
          </p:cNvSpPr>
          <p:nvPr/>
        </p:nvSpPr>
        <p:spPr bwMode="auto">
          <a:xfrm>
            <a:off x="138113" y="5787006"/>
            <a:ext cx="8867775" cy="44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The logical extension is to require </a:t>
            </a:r>
            <a:r>
              <a:rPr lang="en-US" sz="2800" b="0" dirty="0">
                <a:solidFill>
                  <a:schemeClr val="tx2"/>
                </a:solidFill>
                <a:latin typeface="Gill Sans MT" pitchFamily="34" charset="0"/>
              </a:rPr>
              <a:t>all paths</a:t>
            </a: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 …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262660" y="3786534"/>
            <a:ext cx="2953785" cy="1819448"/>
            <a:chOff x="1262660" y="4345334"/>
            <a:chExt cx="2953785" cy="1819448"/>
          </a:xfrm>
        </p:grpSpPr>
        <p:sp>
          <p:nvSpPr>
            <p:cNvPr id="16" name="Line 37"/>
            <p:cNvSpPr>
              <a:spLocks noChangeShapeType="1"/>
            </p:cNvSpPr>
            <p:nvPr/>
          </p:nvSpPr>
          <p:spPr bwMode="auto">
            <a:xfrm>
              <a:off x="1818285" y="5261408"/>
              <a:ext cx="63926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Oval 33"/>
            <p:cNvSpPr>
              <a:spLocks noChangeArrowheads="1"/>
            </p:cNvSpPr>
            <p:nvPr/>
          </p:nvSpPr>
          <p:spPr bwMode="auto">
            <a:xfrm>
              <a:off x="1262660" y="5013758"/>
              <a:ext cx="555625" cy="469900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6" name="Oval 33"/>
            <p:cNvSpPr>
              <a:spLocks noChangeArrowheads="1"/>
            </p:cNvSpPr>
            <p:nvPr/>
          </p:nvSpPr>
          <p:spPr bwMode="auto">
            <a:xfrm>
              <a:off x="1262660" y="5682182"/>
              <a:ext cx="555625" cy="469900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8" name="Oval 33"/>
            <p:cNvSpPr>
              <a:spLocks noChangeArrowheads="1"/>
            </p:cNvSpPr>
            <p:nvPr/>
          </p:nvSpPr>
          <p:spPr bwMode="auto">
            <a:xfrm>
              <a:off x="3660820" y="4358034"/>
              <a:ext cx="555625" cy="469900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3660820" y="5694882"/>
              <a:ext cx="555625" cy="469900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32" name="Line 37"/>
            <p:cNvSpPr>
              <a:spLocks noChangeShapeType="1"/>
            </p:cNvSpPr>
            <p:nvPr/>
          </p:nvSpPr>
          <p:spPr bwMode="auto">
            <a:xfrm>
              <a:off x="1724337" y="4727921"/>
              <a:ext cx="811874" cy="3961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Line 37"/>
            <p:cNvSpPr>
              <a:spLocks noChangeShapeType="1"/>
            </p:cNvSpPr>
            <p:nvPr/>
          </p:nvSpPr>
          <p:spPr bwMode="auto">
            <a:xfrm>
              <a:off x="2910606" y="5423276"/>
              <a:ext cx="750214" cy="3961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Oval 33"/>
            <p:cNvSpPr>
              <a:spLocks noChangeArrowheads="1"/>
            </p:cNvSpPr>
            <p:nvPr/>
          </p:nvSpPr>
          <p:spPr bwMode="auto">
            <a:xfrm>
              <a:off x="1262660" y="4345334"/>
              <a:ext cx="555625" cy="469900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4" name="Line 37"/>
            <p:cNvSpPr>
              <a:spLocks noChangeShapeType="1"/>
            </p:cNvSpPr>
            <p:nvPr/>
          </p:nvSpPr>
          <p:spPr bwMode="auto">
            <a:xfrm flipV="1">
              <a:off x="1785997" y="5423275"/>
              <a:ext cx="750214" cy="3961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Line 37"/>
            <p:cNvSpPr>
              <a:spLocks noChangeShapeType="1"/>
            </p:cNvSpPr>
            <p:nvPr/>
          </p:nvSpPr>
          <p:spPr bwMode="auto">
            <a:xfrm flipV="1">
              <a:off x="2961891" y="4727922"/>
              <a:ext cx="750214" cy="3961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Oval 30"/>
            <p:cNvSpPr>
              <a:spLocks noChangeArrowheads="1"/>
            </p:cNvSpPr>
            <p:nvPr/>
          </p:nvSpPr>
          <p:spPr bwMode="auto">
            <a:xfrm>
              <a:off x="2457551" y="5035724"/>
              <a:ext cx="555625" cy="469900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</p:grpSp>
      <p:sp>
        <p:nvSpPr>
          <p:cNvPr id="36" name="Text Box 43"/>
          <p:cNvSpPr txBox="1">
            <a:spLocks noChangeArrowheads="1"/>
          </p:cNvSpPr>
          <p:nvPr/>
        </p:nvSpPr>
        <p:spPr bwMode="auto">
          <a:xfrm>
            <a:off x="4852988" y="4034539"/>
            <a:ext cx="4152900" cy="1323439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en-US" u="sng" dirty="0">
                <a:solidFill>
                  <a:schemeClr val="tx1"/>
                </a:solidFill>
                <a:latin typeface="Gill Sans MT" pitchFamily="34" charset="0"/>
              </a:rPr>
              <a:t>Edge-Pair Coverage</a:t>
            </a: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 :</a:t>
            </a:r>
          </a:p>
          <a:p>
            <a:endParaRPr lang="en-US" dirty="0">
              <a:solidFill>
                <a:schemeClr val="tx1"/>
              </a:solidFill>
              <a:latin typeface="Gill Sans MT" pitchFamily="34" charset="0"/>
            </a:endParaRPr>
          </a:p>
          <a:p>
            <a:endParaRPr lang="en-US" dirty="0">
              <a:solidFill>
                <a:schemeClr val="tx1"/>
              </a:solidFill>
              <a:latin typeface="Gill Sans MT" pitchFamily="34" charset="0"/>
            </a:endParaRPr>
          </a:p>
          <a:p>
            <a:endParaRPr lang="en-US" dirty="0">
              <a:solidFill>
                <a:schemeClr val="tx1"/>
              </a:solidFill>
              <a:latin typeface="Gill Sans MT" pitchFamily="34" charset="0"/>
            </a:endParaRPr>
          </a:p>
        </p:txBody>
      </p:sp>
      <p:sp>
        <p:nvSpPr>
          <p:cNvPr id="37" name="Text Box 43"/>
          <p:cNvSpPr txBox="1">
            <a:spLocks noChangeArrowheads="1"/>
          </p:cNvSpPr>
          <p:nvPr/>
        </p:nvSpPr>
        <p:spPr bwMode="auto">
          <a:xfrm>
            <a:off x="5020574" y="4423208"/>
            <a:ext cx="3683689" cy="70788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TR = { [1,4,5], [1,4,6], [2,4,5], [2,4,6], [3,4,5], [3,4,6] }</a:t>
            </a:r>
          </a:p>
        </p:txBody>
      </p:sp>
    </p:spTree>
    <p:extLst>
      <p:ext uri="{BB962C8B-B14F-4D97-AF65-F5344CB8AC3E}">
        <p14:creationId xmlns:p14="http://schemas.microsoft.com/office/powerpoint/2010/main" val="390803344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4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4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64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69" grpId="0" animBg="1" autoUpdateAnimBg="0"/>
      <p:bldP spid="164870" grpId="0" autoUpdateAnimBg="0"/>
      <p:bldP spid="164873" grpId="0" autoUpdateAnimBg="0"/>
      <p:bldP spid="36" grpId="0" animBg="1" autoUpdateAnimBg="0"/>
      <p:bldP spid="3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Introduction to Software Testing, Edition 2  (Ch 07)</a:t>
            </a:r>
          </a:p>
        </p:txBody>
      </p:sp>
      <p:sp>
        <p:nvSpPr>
          <p:cNvPr id="16387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© Ammann &amp; Offutt</a:t>
            </a:r>
          </a:p>
        </p:txBody>
      </p:sp>
      <p:sp>
        <p:nvSpPr>
          <p:cNvPr id="1638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7F4CF52-2955-412D-B513-A4A2CB4DCADA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63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Covering Multiple Edges</a:t>
            </a:r>
          </a:p>
        </p:txBody>
      </p:sp>
      <p:sp>
        <p:nvSpPr>
          <p:cNvPr id="164871" name="Text Box 7"/>
          <p:cNvSpPr txBox="1">
            <a:spLocks noChangeArrowheads="1"/>
          </p:cNvSpPr>
          <p:nvPr/>
        </p:nvSpPr>
        <p:spPr bwMode="auto">
          <a:xfrm>
            <a:off x="232904" y="1618828"/>
            <a:ext cx="8681035" cy="461665"/>
          </a:xfrm>
          <a:prstGeom prst="rect">
            <a:avLst/>
          </a:prstGeom>
          <a:gradFill rotWithShape="1">
            <a:gsLst>
              <a:gs pos="0">
                <a:srgbClr val="0066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  <a:defRPr/>
            </a:pPr>
            <a:r>
              <a:rPr lang="en-US" sz="2400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Complete Path Coverage (CPC)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 : TR contains all paths in G.</a:t>
            </a:r>
          </a:p>
        </p:txBody>
      </p:sp>
      <p:sp>
        <p:nvSpPr>
          <p:cNvPr id="164872" name="Text Box 8"/>
          <p:cNvSpPr txBox="1">
            <a:spLocks noChangeArrowheads="1"/>
          </p:cNvSpPr>
          <p:nvPr/>
        </p:nvSpPr>
        <p:spPr bwMode="auto">
          <a:xfrm>
            <a:off x="439738" y="4523232"/>
            <a:ext cx="8262937" cy="841375"/>
          </a:xfrm>
          <a:prstGeom prst="rect">
            <a:avLst/>
          </a:prstGeom>
          <a:gradFill rotWithShape="1">
            <a:gsLst>
              <a:gs pos="0">
                <a:srgbClr val="0066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defRPr/>
            </a:pPr>
            <a:r>
              <a:rPr lang="en-US" sz="2400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Specified Path Coverage (SPC)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 : TR contains a set S of test paths, where S is supplied as a parameter.</a:t>
            </a:r>
          </a:p>
        </p:txBody>
      </p:sp>
      <p:sp>
        <p:nvSpPr>
          <p:cNvPr id="164874" name="Rectangle 10"/>
          <p:cNvSpPr>
            <a:spLocks noChangeArrowheads="1"/>
          </p:cNvSpPr>
          <p:nvPr/>
        </p:nvSpPr>
        <p:spPr bwMode="auto">
          <a:xfrm>
            <a:off x="138113" y="3009956"/>
            <a:ext cx="8867775" cy="9089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>
              <a:lnSpc>
                <a:spcPct val="90000"/>
              </a:lnSpc>
              <a:spcBef>
                <a:spcPct val="30000"/>
              </a:spcBef>
              <a:buSzPct val="85000"/>
            </a:pP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Unfortunately, this is </a:t>
            </a:r>
            <a:r>
              <a:rPr lang="en-US" sz="2800" b="0" dirty="0">
                <a:solidFill>
                  <a:schemeClr val="tx2"/>
                </a:solidFill>
                <a:latin typeface="Gill Sans MT" pitchFamily="34" charset="0"/>
              </a:rPr>
              <a:t>impossible</a:t>
            </a: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 if the graph has a loop, so a weak compromise makes the tester decide which paths:</a:t>
            </a:r>
          </a:p>
        </p:txBody>
      </p:sp>
    </p:spTree>
    <p:extLst>
      <p:ext uri="{BB962C8B-B14F-4D97-AF65-F5344CB8AC3E}">
        <p14:creationId xmlns:p14="http://schemas.microsoft.com/office/powerpoint/2010/main" val="417547003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4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4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64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71" grpId="0" animBg="1" autoUpdateAnimBg="0"/>
      <p:bldP spid="164872" grpId="0" animBg="1" autoUpdateAnimBg="0"/>
      <p:bldP spid="164874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Date Placeholder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Introduction to Software Testing, Edition 2  (Ch 07)</a:t>
            </a:r>
          </a:p>
        </p:txBody>
      </p:sp>
      <p:sp>
        <p:nvSpPr>
          <p:cNvPr id="17411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© Ammann &amp; Offutt</a:t>
            </a:r>
          </a:p>
        </p:txBody>
      </p:sp>
      <p:sp>
        <p:nvSpPr>
          <p:cNvPr id="1741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B485C38-656B-499D-8844-B48F32295213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174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Structural Coverage Example</a:t>
            </a:r>
          </a:p>
        </p:txBody>
      </p:sp>
      <p:sp>
        <p:nvSpPr>
          <p:cNvPr id="173092" name="Text Box 36"/>
          <p:cNvSpPr txBox="1">
            <a:spLocks noChangeArrowheads="1"/>
          </p:cNvSpPr>
          <p:nvPr/>
        </p:nvSpPr>
        <p:spPr bwMode="auto">
          <a:xfrm>
            <a:off x="2459038" y="942975"/>
            <a:ext cx="6515100" cy="1015663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/>
            <a:r>
              <a:rPr lang="en-US" u="sng" dirty="0">
                <a:solidFill>
                  <a:schemeClr val="tx1"/>
                </a:solidFill>
                <a:latin typeface="Gill Sans MT" pitchFamily="34" charset="0"/>
              </a:rPr>
              <a:t>Node Coverage</a:t>
            </a:r>
            <a:endParaRPr lang="en-US" dirty="0">
              <a:solidFill>
                <a:schemeClr val="tx1"/>
              </a:solidFill>
              <a:latin typeface="Gill Sans MT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TR = { 1, 2, 3, 4, 5, 6, 7 }</a:t>
            </a:r>
          </a:p>
          <a:p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Test Paths: [ 1, 2, 3, 4, 7 ] [ 1,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Gill Sans MT" pitchFamily="34" charset="0"/>
              </a:rPr>
              <a:t>2</a:t>
            </a: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, 3, </a:t>
            </a:r>
            <a:r>
              <a:rPr lang="en-US" dirty="0">
                <a:solidFill>
                  <a:srgbClr val="FF0000"/>
                </a:solidFill>
                <a:latin typeface="Gill Sans MT" pitchFamily="34" charset="0"/>
              </a:rPr>
              <a:t>5, 6, 5</a:t>
            </a: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, 7 ]</a:t>
            </a:r>
          </a:p>
        </p:txBody>
      </p:sp>
      <p:grpSp>
        <p:nvGrpSpPr>
          <p:cNvPr id="17415" name="Group 14"/>
          <p:cNvGrpSpPr>
            <a:grpSpLocks/>
          </p:cNvGrpSpPr>
          <p:nvPr/>
        </p:nvGrpSpPr>
        <p:grpSpPr bwMode="auto">
          <a:xfrm>
            <a:off x="901700" y="5116513"/>
            <a:ext cx="555625" cy="469900"/>
            <a:chOff x="4288" y="3622"/>
            <a:chExt cx="350" cy="296"/>
          </a:xfrm>
        </p:grpSpPr>
        <p:sp>
          <p:nvSpPr>
            <p:cNvPr id="17447" name="Oval 15"/>
            <p:cNvSpPr>
              <a:spLocks noChangeArrowheads="1"/>
            </p:cNvSpPr>
            <p:nvPr/>
          </p:nvSpPr>
          <p:spPr bwMode="auto">
            <a:xfrm>
              <a:off x="4288" y="3622"/>
              <a:ext cx="350" cy="296"/>
            </a:xfrm>
            <a:prstGeom prst="ellipse">
              <a:avLst/>
            </a:prstGeom>
            <a:solidFill>
              <a:srgbClr val="0066FF"/>
            </a:solidFill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17448" name="Text Box 16"/>
            <p:cNvSpPr txBox="1">
              <a:spLocks noChangeArrowheads="1"/>
            </p:cNvSpPr>
            <p:nvPr/>
          </p:nvSpPr>
          <p:spPr bwMode="auto">
            <a:xfrm>
              <a:off x="4365" y="3645"/>
              <a:ext cx="205" cy="25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  <a:latin typeface="Gill Sans MT" pitchFamily="34" charset="0"/>
                </a:rPr>
                <a:t>7</a:t>
              </a:r>
            </a:p>
          </p:txBody>
        </p:sp>
      </p:grpSp>
      <p:grpSp>
        <p:nvGrpSpPr>
          <p:cNvPr id="17416" name="Group 4"/>
          <p:cNvGrpSpPr>
            <a:grpSpLocks/>
          </p:cNvGrpSpPr>
          <p:nvPr/>
        </p:nvGrpSpPr>
        <p:grpSpPr bwMode="auto">
          <a:xfrm>
            <a:off x="901700" y="1936750"/>
            <a:ext cx="555625" cy="469900"/>
            <a:chOff x="4288" y="1746"/>
            <a:chExt cx="350" cy="296"/>
          </a:xfrm>
        </p:grpSpPr>
        <p:sp>
          <p:nvSpPr>
            <p:cNvPr id="17445" name="Oval 5"/>
            <p:cNvSpPr>
              <a:spLocks noChangeArrowheads="1"/>
            </p:cNvSpPr>
            <p:nvPr/>
          </p:nvSpPr>
          <p:spPr bwMode="auto">
            <a:xfrm>
              <a:off x="4288" y="1746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17446" name="Text Box 6"/>
            <p:cNvSpPr txBox="1">
              <a:spLocks noChangeArrowheads="1"/>
            </p:cNvSpPr>
            <p:nvPr/>
          </p:nvSpPr>
          <p:spPr bwMode="auto">
            <a:xfrm>
              <a:off x="4356" y="1769"/>
              <a:ext cx="205" cy="25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dirty="0">
                  <a:solidFill>
                    <a:schemeClr val="tx1"/>
                  </a:solidFill>
                  <a:latin typeface="Gill Sans MT" pitchFamily="34" charset="0"/>
                </a:rPr>
                <a:t>1</a:t>
              </a:r>
            </a:p>
          </p:txBody>
        </p:sp>
      </p:grpSp>
      <p:grpSp>
        <p:nvGrpSpPr>
          <p:cNvPr id="17417" name="Group 8"/>
          <p:cNvGrpSpPr>
            <a:grpSpLocks/>
          </p:cNvGrpSpPr>
          <p:nvPr/>
        </p:nvGrpSpPr>
        <p:grpSpPr bwMode="auto">
          <a:xfrm>
            <a:off x="901700" y="3357563"/>
            <a:ext cx="555625" cy="469900"/>
            <a:chOff x="4738" y="2684"/>
            <a:chExt cx="350" cy="296"/>
          </a:xfrm>
        </p:grpSpPr>
        <p:sp>
          <p:nvSpPr>
            <p:cNvPr id="17443" name="Oval 9"/>
            <p:cNvSpPr>
              <a:spLocks noChangeArrowheads="1"/>
            </p:cNvSpPr>
            <p:nvPr/>
          </p:nvSpPr>
          <p:spPr bwMode="auto">
            <a:xfrm>
              <a:off x="4738" y="2684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17444" name="Text Box 10"/>
            <p:cNvSpPr txBox="1">
              <a:spLocks noChangeArrowheads="1"/>
            </p:cNvSpPr>
            <p:nvPr/>
          </p:nvSpPr>
          <p:spPr bwMode="auto">
            <a:xfrm>
              <a:off x="4815" y="2707"/>
              <a:ext cx="205" cy="25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  <a:latin typeface="Gill Sans MT" pitchFamily="34" charset="0"/>
                </a:rPr>
                <a:t>3</a:t>
              </a:r>
            </a:p>
          </p:txBody>
        </p:sp>
      </p:grpSp>
      <p:grpSp>
        <p:nvGrpSpPr>
          <p:cNvPr id="17418" name="Group 11"/>
          <p:cNvGrpSpPr>
            <a:grpSpLocks/>
          </p:cNvGrpSpPr>
          <p:nvPr/>
        </p:nvGrpSpPr>
        <p:grpSpPr bwMode="auto">
          <a:xfrm>
            <a:off x="271463" y="2646363"/>
            <a:ext cx="555625" cy="469900"/>
            <a:chOff x="3838" y="2684"/>
            <a:chExt cx="350" cy="296"/>
          </a:xfrm>
        </p:grpSpPr>
        <p:sp>
          <p:nvSpPr>
            <p:cNvPr id="17441" name="Oval 12"/>
            <p:cNvSpPr>
              <a:spLocks noChangeArrowheads="1"/>
            </p:cNvSpPr>
            <p:nvPr/>
          </p:nvSpPr>
          <p:spPr bwMode="auto">
            <a:xfrm>
              <a:off x="3838" y="2684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17442" name="Text Box 13"/>
            <p:cNvSpPr txBox="1">
              <a:spLocks noChangeArrowheads="1"/>
            </p:cNvSpPr>
            <p:nvPr/>
          </p:nvSpPr>
          <p:spPr bwMode="auto">
            <a:xfrm>
              <a:off x="3915" y="2707"/>
              <a:ext cx="205" cy="25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  <a:latin typeface="Gill Sans MT" pitchFamily="34" charset="0"/>
                </a:rPr>
                <a:t>2</a:t>
              </a:r>
            </a:p>
          </p:txBody>
        </p:sp>
      </p:grpSp>
      <p:sp>
        <p:nvSpPr>
          <p:cNvPr id="17419" name="Line 17"/>
          <p:cNvSpPr>
            <a:spLocks noChangeShapeType="1"/>
          </p:cNvSpPr>
          <p:nvPr/>
        </p:nvSpPr>
        <p:spPr bwMode="auto">
          <a:xfrm flipH="1">
            <a:off x="723900" y="3806825"/>
            <a:ext cx="336550" cy="3032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arrow" w="med" len="med"/>
          </a:ln>
        </p:spPr>
        <p:txBody>
          <a:bodyPr/>
          <a:lstStyle/>
          <a:p>
            <a:endParaRPr lang="en-US">
              <a:latin typeface="Gill Sans MT" pitchFamily="34" charset="0"/>
            </a:endParaRPr>
          </a:p>
        </p:txBody>
      </p:sp>
      <p:sp>
        <p:nvSpPr>
          <p:cNvPr id="17420" name="Line 18"/>
          <p:cNvSpPr>
            <a:spLocks noChangeShapeType="1"/>
          </p:cNvSpPr>
          <p:nvPr/>
        </p:nvSpPr>
        <p:spPr bwMode="auto">
          <a:xfrm flipH="1">
            <a:off x="1179513" y="1612900"/>
            <a:ext cx="1587" cy="3095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arrow" w="med" len="med"/>
          </a:ln>
        </p:spPr>
        <p:txBody>
          <a:bodyPr/>
          <a:lstStyle/>
          <a:p>
            <a:endParaRPr lang="en-US">
              <a:latin typeface="Gill Sans MT" pitchFamily="34" charset="0"/>
            </a:endParaRPr>
          </a:p>
        </p:txBody>
      </p:sp>
      <p:grpSp>
        <p:nvGrpSpPr>
          <p:cNvPr id="17421" name="Group 19"/>
          <p:cNvGrpSpPr>
            <a:grpSpLocks/>
          </p:cNvGrpSpPr>
          <p:nvPr/>
        </p:nvGrpSpPr>
        <p:grpSpPr bwMode="auto">
          <a:xfrm>
            <a:off x="271463" y="4068763"/>
            <a:ext cx="555625" cy="469900"/>
            <a:chOff x="4288" y="1746"/>
            <a:chExt cx="350" cy="296"/>
          </a:xfrm>
        </p:grpSpPr>
        <p:sp>
          <p:nvSpPr>
            <p:cNvPr id="17439" name="Oval 20"/>
            <p:cNvSpPr>
              <a:spLocks noChangeArrowheads="1"/>
            </p:cNvSpPr>
            <p:nvPr/>
          </p:nvSpPr>
          <p:spPr bwMode="auto">
            <a:xfrm>
              <a:off x="4288" y="1746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17440" name="Text Box 21"/>
            <p:cNvSpPr txBox="1">
              <a:spLocks noChangeArrowheads="1"/>
            </p:cNvSpPr>
            <p:nvPr/>
          </p:nvSpPr>
          <p:spPr bwMode="auto">
            <a:xfrm>
              <a:off x="4356" y="1769"/>
              <a:ext cx="205" cy="25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dirty="0">
                  <a:solidFill>
                    <a:schemeClr val="tx1"/>
                  </a:solidFill>
                  <a:latin typeface="Gill Sans MT" pitchFamily="34" charset="0"/>
                </a:rPr>
                <a:t>4</a:t>
              </a:r>
            </a:p>
          </p:txBody>
        </p:sp>
      </p:grpSp>
      <p:grpSp>
        <p:nvGrpSpPr>
          <p:cNvPr id="17422" name="Group 26"/>
          <p:cNvGrpSpPr>
            <a:grpSpLocks/>
          </p:cNvGrpSpPr>
          <p:nvPr/>
        </p:nvGrpSpPr>
        <p:grpSpPr bwMode="auto">
          <a:xfrm>
            <a:off x="1487488" y="4068763"/>
            <a:ext cx="555625" cy="469900"/>
            <a:chOff x="3838" y="2684"/>
            <a:chExt cx="350" cy="296"/>
          </a:xfrm>
        </p:grpSpPr>
        <p:sp>
          <p:nvSpPr>
            <p:cNvPr id="17437" name="Oval 27"/>
            <p:cNvSpPr>
              <a:spLocks noChangeArrowheads="1"/>
            </p:cNvSpPr>
            <p:nvPr/>
          </p:nvSpPr>
          <p:spPr bwMode="auto">
            <a:xfrm>
              <a:off x="3838" y="2684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17438" name="Text Box 28"/>
            <p:cNvSpPr txBox="1">
              <a:spLocks noChangeArrowheads="1"/>
            </p:cNvSpPr>
            <p:nvPr/>
          </p:nvSpPr>
          <p:spPr bwMode="auto">
            <a:xfrm>
              <a:off x="3915" y="2707"/>
              <a:ext cx="205" cy="25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  <a:latin typeface="Gill Sans MT" pitchFamily="34" charset="0"/>
                </a:rPr>
                <a:t>5</a:t>
              </a:r>
            </a:p>
          </p:txBody>
        </p:sp>
      </p:grpSp>
      <p:sp>
        <p:nvSpPr>
          <p:cNvPr id="17423" name="Line 30"/>
          <p:cNvSpPr>
            <a:spLocks noChangeShapeType="1"/>
          </p:cNvSpPr>
          <p:nvPr/>
        </p:nvSpPr>
        <p:spPr bwMode="auto">
          <a:xfrm>
            <a:off x="1306513" y="3810000"/>
            <a:ext cx="285750" cy="2889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arrow" w="med" len="med"/>
          </a:ln>
        </p:spPr>
        <p:txBody>
          <a:bodyPr/>
          <a:lstStyle/>
          <a:p>
            <a:endParaRPr lang="en-US">
              <a:latin typeface="Gill Sans MT" pitchFamily="34" charset="0"/>
            </a:endParaRPr>
          </a:p>
        </p:txBody>
      </p:sp>
      <p:sp>
        <p:nvSpPr>
          <p:cNvPr id="17424" name="Line 31"/>
          <p:cNvSpPr>
            <a:spLocks noChangeShapeType="1"/>
          </p:cNvSpPr>
          <p:nvPr/>
        </p:nvSpPr>
        <p:spPr bwMode="auto">
          <a:xfrm flipH="1">
            <a:off x="1295400" y="4508500"/>
            <a:ext cx="309563" cy="6238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arrow" w="med" len="med"/>
          </a:ln>
        </p:spPr>
        <p:txBody>
          <a:bodyPr/>
          <a:lstStyle/>
          <a:p>
            <a:endParaRPr lang="en-US">
              <a:latin typeface="Gill Sans MT" pitchFamily="34" charset="0"/>
            </a:endParaRPr>
          </a:p>
        </p:txBody>
      </p:sp>
      <p:sp>
        <p:nvSpPr>
          <p:cNvPr id="17425" name="Line 32"/>
          <p:cNvSpPr>
            <a:spLocks noChangeShapeType="1"/>
          </p:cNvSpPr>
          <p:nvPr/>
        </p:nvSpPr>
        <p:spPr bwMode="auto">
          <a:xfrm>
            <a:off x="723900" y="3090863"/>
            <a:ext cx="317500" cy="2841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arrow" w="med" len="med"/>
          </a:ln>
        </p:spPr>
        <p:txBody>
          <a:bodyPr/>
          <a:lstStyle/>
          <a:p>
            <a:endParaRPr lang="en-US">
              <a:latin typeface="Gill Sans MT" pitchFamily="34" charset="0"/>
            </a:endParaRPr>
          </a:p>
        </p:txBody>
      </p:sp>
      <p:sp>
        <p:nvSpPr>
          <p:cNvPr id="17426" name="Line 33"/>
          <p:cNvSpPr>
            <a:spLocks noChangeShapeType="1"/>
          </p:cNvSpPr>
          <p:nvPr/>
        </p:nvSpPr>
        <p:spPr bwMode="auto">
          <a:xfrm flipH="1">
            <a:off x="733425" y="2374900"/>
            <a:ext cx="303213" cy="3143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arrow" w="med" len="med"/>
          </a:ln>
        </p:spPr>
        <p:txBody>
          <a:bodyPr/>
          <a:lstStyle/>
          <a:p>
            <a:endParaRPr lang="en-US">
              <a:latin typeface="Gill Sans MT" pitchFamily="34" charset="0"/>
            </a:endParaRPr>
          </a:p>
        </p:txBody>
      </p:sp>
      <p:sp>
        <p:nvSpPr>
          <p:cNvPr id="17427" name="Line 34"/>
          <p:cNvSpPr>
            <a:spLocks noChangeShapeType="1"/>
          </p:cNvSpPr>
          <p:nvPr/>
        </p:nvSpPr>
        <p:spPr bwMode="auto">
          <a:xfrm>
            <a:off x="733425" y="4503738"/>
            <a:ext cx="350838" cy="6191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arrow" w="med" len="med"/>
          </a:ln>
        </p:spPr>
        <p:txBody>
          <a:bodyPr/>
          <a:lstStyle/>
          <a:p>
            <a:endParaRPr lang="en-US">
              <a:latin typeface="Gill Sans MT" pitchFamily="34" charset="0"/>
            </a:endParaRPr>
          </a:p>
        </p:txBody>
      </p:sp>
      <p:sp>
        <p:nvSpPr>
          <p:cNvPr id="17428" name="Line 37"/>
          <p:cNvSpPr>
            <a:spLocks noChangeShapeType="1"/>
          </p:cNvSpPr>
          <p:nvPr/>
        </p:nvSpPr>
        <p:spPr bwMode="auto">
          <a:xfrm flipH="1">
            <a:off x="1176338" y="2414588"/>
            <a:ext cx="4762" cy="939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arrow" w="med" len="med"/>
          </a:ln>
        </p:spPr>
        <p:txBody>
          <a:bodyPr/>
          <a:lstStyle/>
          <a:p>
            <a:endParaRPr lang="en-US">
              <a:latin typeface="Gill Sans MT" pitchFamily="34" charset="0"/>
            </a:endParaRPr>
          </a:p>
        </p:txBody>
      </p:sp>
      <p:sp>
        <p:nvSpPr>
          <p:cNvPr id="17429" name="Line 40"/>
          <p:cNvSpPr>
            <a:spLocks noChangeShapeType="1"/>
          </p:cNvSpPr>
          <p:nvPr/>
        </p:nvSpPr>
        <p:spPr bwMode="auto">
          <a:xfrm flipH="1" flipV="1">
            <a:off x="1912938" y="4522788"/>
            <a:ext cx="166687" cy="355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arrow" w="med" len="med"/>
          </a:ln>
        </p:spPr>
        <p:txBody>
          <a:bodyPr/>
          <a:lstStyle/>
          <a:p>
            <a:endParaRPr lang="en-US">
              <a:latin typeface="Gill Sans MT" pitchFamily="34" charset="0"/>
            </a:endParaRPr>
          </a:p>
        </p:txBody>
      </p:sp>
      <p:sp>
        <p:nvSpPr>
          <p:cNvPr id="173098" name="Text Box 42"/>
          <p:cNvSpPr txBox="1">
            <a:spLocks noChangeArrowheads="1"/>
          </p:cNvSpPr>
          <p:nvPr/>
        </p:nvSpPr>
        <p:spPr bwMode="auto">
          <a:xfrm>
            <a:off x="2459038" y="2111375"/>
            <a:ext cx="6545262" cy="1323439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/>
            <a:r>
              <a:rPr lang="en-US" u="sng" dirty="0">
                <a:solidFill>
                  <a:schemeClr val="tx1"/>
                </a:solidFill>
                <a:latin typeface="Gill Sans MT" pitchFamily="34" charset="0"/>
              </a:rPr>
              <a:t>Edge Coverage</a:t>
            </a:r>
            <a:endParaRPr lang="en-US" dirty="0">
              <a:solidFill>
                <a:schemeClr val="tx1"/>
              </a:solidFill>
              <a:latin typeface="Gill Sans MT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TR = { (1,2), (1, 3), (2, 3), (3, 4), (3, 5), (4, 7), (5, 6), (5, 7), (6, 5) }</a:t>
            </a:r>
          </a:p>
          <a:p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Test Paths: [ 1, 2, 3, 4, 7 ] [</a:t>
            </a:r>
            <a:r>
              <a:rPr lang="en-US" dirty="0">
                <a:solidFill>
                  <a:srgbClr val="FF0000"/>
                </a:solidFill>
                <a:latin typeface="Gill Sans MT" pitchFamily="34" charset="0"/>
              </a:rPr>
              <a:t>1, 3</a:t>
            </a: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, 5, 6, 5, 7 ]</a:t>
            </a:r>
          </a:p>
        </p:txBody>
      </p:sp>
      <p:sp>
        <p:nvSpPr>
          <p:cNvPr id="173099" name="Text Box 43"/>
          <p:cNvSpPr txBox="1">
            <a:spLocks noChangeArrowheads="1"/>
          </p:cNvSpPr>
          <p:nvPr/>
        </p:nvSpPr>
        <p:spPr bwMode="auto">
          <a:xfrm>
            <a:off x="2459038" y="3548655"/>
            <a:ext cx="6545262" cy="1631216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/>
            <a:r>
              <a:rPr lang="en-US" u="sng" dirty="0">
                <a:solidFill>
                  <a:schemeClr val="tx1"/>
                </a:solidFill>
                <a:latin typeface="Gill Sans MT" pitchFamily="34" charset="0"/>
              </a:rPr>
              <a:t>Edge-Pair Coverage</a:t>
            </a:r>
            <a:endParaRPr lang="en-US" dirty="0">
              <a:solidFill>
                <a:schemeClr val="tx1"/>
              </a:solidFill>
              <a:latin typeface="Gill Sans MT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TR = {[1,2,3], [1,3,4], [1,3,5], [2,3,4], [2,3,5], [3,4,7],</a:t>
            </a:r>
          </a:p>
          <a:p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             [3,5,6], [3,5,7], [</a:t>
            </a:r>
            <a:r>
              <a:rPr lang="en-US" dirty="0">
                <a:solidFill>
                  <a:srgbClr val="FFFF00"/>
                </a:solidFill>
                <a:latin typeface="Gill Sans MT" pitchFamily="34" charset="0"/>
              </a:rPr>
              <a:t>5</a:t>
            </a: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,6,5], [</a:t>
            </a:r>
            <a:r>
              <a:rPr lang="en-US" dirty="0">
                <a:solidFill>
                  <a:srgbClr val="FF0000"/>
                </a:solidFill>
                <a:latin typeface="Gill Sans MT" pitchFamily="34" charset="0"/>
              </a:rPr>
              <a:t>6,5,6</a:t>
            </a: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], [6,5,7] }</a:t>
            </a:r>
          </a:p>
          <a:p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Test Paths: [ 1, 2, 3, 4, 7 ] [ 1, 2, 3, 5, 7 ] [ </a:t>
            </a:r>
            <a:r>
              <a:rPr lang="en-US" dirty="0">
                <a:solidFill>
                  <a:srgbClr val="FF0000"/>
                </a:solidFill>
                <a:latin typeface="Gill Sans MT" pitchFamily="34" charset="0"/>
              </a:rPr>
              <a:t>1, 3</a:t>
            </a: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, 4, 7 ] </a:t>
            </a:r>
          </a:p>
          <a:p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                     [ 1, 3, 5, 6, 5, 6, 5, 7 ]</a:t>
            </a:r>
          </a:p>
        </p:txBody>
      </p:sp>
      <p:sp>
        <p:nvSpPr>
          <p:cNvPr id="173101" name="Text Box 45"/>
          <p:cNvSpPr txBox="1">
            <a:spLocks noChangeArrowheads="1"/>
          </p:cNvSpPr>
          <p:nvPr/>
        </p:nvSpPr>
        <p:spPr bwMode="auto">
          <a:xfrm>
            <a:off x="2459038" y="5328242"/>
            <a:ext cx="6534150" cy="1019175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/>
            <a:r>
              <a:rPr lang="en-US" u="sng" dirty="0">
                <a:solidFill>
                  <a:schemeClr val="tx1"/>
                </a:solidFill>
                <a:latin typeface="Gill Sans MT" pitchFamily="34" charset="0"/>
              </a:rPr>
              <a:t>Complete Path Coverage</a:t>
            </a:r>
            <a:endParaRPr lang="en-US" dirty="0">
              <a:solidFill>
                <a:schemeClr val="tx1"/>
              </a:solidFill>
              <a:latin typeface="Gill Sans MT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Test Paths: [ 1, 2, 3, 4, 7 ] [ 1, 2, 3, 5, 7 ] [ 1, 3, 5, 6, 5, 7 ] [ 1, 2, 3, 5, 6, 5, 6, 5, 7 ] [ 1, 2, 3, 5, 6, 5, 6, 5, 6, 5, 7 ] …</a:t>
            </a:r>
          </a:p>
        </p:txBody>
      </p:sp>
      <p:grpSp>
        <p:nvGrpSpPr>
          <p:cNvPr id="17433" name="Group 46"/>
          <p:cNvGrpSpPr>
            <a:grpSpLocks/>
          </p:cNvGrpSpPr>
          <p:nvPr/>
        </p:nvGrpSpPr>
        <p:grpSpPr bwMode="auto">
          <a:xfrm>
            <a:off x="1711325" y="4868863"/>
            <a:ext cx="555625" cy="469900"/>
            <a:chOff x="3838" y="2684"/>
            <a:chExt cx="350" cy="296"/>
          </a:xfrm>
        </p:grpSpPr>
        <p:sp>
          <p:nvSpPr>
            <p:cNvPr id="17435" name="Oval 47"/>
            <p:cNvSpPr>
              <a:spLocks noChangeArrowheads="1"/>
            </p:cNvSpPr>
            <p:nvPr/>
          </p:nvSpPr>
          <p:spPr bwMode="auto">
            <a:xfrm>
              <a:off x="3838" y="2684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17436" name="Text Box 48"/>
            <p:cNvSpPr txBox="1">
              <a:spLocks noChangeArrowheads="1"/>
            </p:cNvSpPr>
            <p:nvPr/>
          </p:nvSpPr>
          <p:spPr bwMode="auto">
            <a:xfrm>
              <a:off x="3915" y="2707"/>
              <a:ext cx="205" cy="25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  <a:latin typeface="Gill Sans MT" pitchFamily="34" charset="0"/>
                </a:rPr>
                <a:t>6</a:t>
              </a:r>
            </a:p>
          </p:txBody>
        </p:sp>
      </p:grpSp>
      <p:sp>
        <p:nvSpPr>
          <p:cNvPr id="17434" name="Line 49"/>
          <p:cNvSpPr>
            <a:spLocks noChangeShapeType="1"/>
          </p:cNvSpPr>
          <p:nvPr/>
        </p:nvSpPr>
        <p:spPr bwMode="auto">
          <a:xfrm flipH="1" flipV="1">
            <a:off x="1719263" y="4557713"/>
            <a:ext cx="166687" cy="3365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arrow" w="med" len="med"/>
            <a:tailEnd/>
          </a:ln>
        </p:spPr>
        <p:txBody>
          <a:bodyPr/>
          <a:lstStyle/>
          <a:p>
            <a:endParaRPr lang="en-US">
              <a:latin typeface="Gill Sans MT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3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73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73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73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092" grpId="0" animBg="1" autoUpdateAnimBg="0"/>
      <p:bldP spid="173098" grpId="0" animBg="1" autoUpdateAnimBg="0"/>
      <p:bldP spid="173099" grpId="0" animBg="1" autoUpdateAnimBg="0"/>
      <p:bldP spid="173101" grpId="0" animBg="1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Introduction to Software Testing, Edition 2  (Ch 07)</a:t>
            </a:r>
          </a:p>
        </p:txBody>
      </p:sp>
      <p:sp>
        <p:nvSpPr>
          <p:cNvPr id="18435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© Ammann &amp; Offutt</a:t>
            </a:r>
          </a:p>
        </p:txBody>
      </p:sp>
      <p:sp>
        <p:nvSpPr>
          <p:cNvPr id="1843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FAEF4D9-64A0-481B-8507-475880F8B6EE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184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Loops in Graphs</a:t>
            </a:r>
          </a:p>
        </p:txBody>
      </p:sp>
      <p:sp>
        <p:nvSpPr>
          <p:cNvPr id="1843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 graph contains a loop, it has an </a:t>
            </a:r>
            <a:r>
              <a:rPr lang="en-US" dirty="0">
                <a:solidFill>
                  <a:schemeClr val="tx2"/>
                </a:solidFill>
              </a:rPr>
              <a:t>infinite</a:t>
            </a:r>
            <a:r>
              <a:rPr lang="en-US" dirty="0"/>
              <a:t> number of paths</a:t>
            </a:r>
          </a:p>
          <a:p>
            <a:pPr lvl="1"/>
            <a:endParaRPr lang="en-US" sz="1800" dirty="0"/>
          </a:p>
          <a:p>
            <a:r>
              <a:rPr lang="en-US" dirty="0"/>
              <a:t>Thus, CPC is </a:t>
            </a:r>
            <a:r>
              <a:rPr lang="en-US" dirty="0">
                <a:solidFill>
                  <a:schemeClr val="tx2"/>
                </a:solidFill>
              </a:rPr>
              <a:t>not feasible</a:t>
            </a:r>
          </a:p>
          <a:p>
            <a:pPr lvl="1"/>
            <a:endParaRPr lang="en-US" sz="1800" dirty="0"/>
          </a:p>
          <a:p>
            <a:r>
              <a:rPr lang="en-US" dirty="0"/>
              <a:t>SPC is not satisfactory because the results are </a:t>
            </a:r>
            <a:r>
              <a:rPr lang="en-US" dirty="0">
                <a:solidFill>
                  <a:schemeClr val="tx2"/>
                </a:solidFill>
              </a:rPr>
              <a:t>subjective</a:t>
            </a:r>
            <a:r>
              <a:rPr lang="en-US" dirty="0"/>
              <a:t> and vary with the tester</a:t>
            </a:r>
          </a:p>
          <a:p>
            <a:pPr lvl="1"/>
            <a:endParaRPr lang="en-US" sz="1800" dirty="0"/>
          </a:p>
          <a:p>
            <a:r>
              <a:rPr lang="en-US" dirty="0"/>
              <a:t>Attempts to “deal with” </a:t>
            </a:r>
            <a:r>
              <a:rPr lang="en-US" dirty="0">
                <a:solidFill>
                  <a:schemeClr val="tx2"/>
                </a:solidFill>
              </a:rPr>
              <a:t>loops</a:t>
            </a:r>
            <a:r>
              <a:rPr lang="en-US" dirty="0"/>
              <a:t>:</a:t>
            </a:r>
          </a:p>
          <a:p>
            <a:pPr lvl="1"/>
            <a:r>
              <a:rPr lang="en-US" sz="2000" dirty="0">
                <a:solidFill>
                  <a:schemeClr val="tx2"/>
                </a:solidFill>
              </a:rPr>
              <a:t>1970s</a:t>
            </a:r>
            <a:r>
              <a:rPr lang="en-US" sz="2000" dirty="0"/>
              <a:t> : Execute cycles once  ([5,6,5] in previous example, informal)</a:t>
            </a:r>
          </a:p>
          <a:p>
            <a:pPr lvl="1"/>
            <a:r>
              <a:rPr lang="en-US" sz="2000" dirty="0">
                <a:solidFill>
                  <a:schemeClr val="tx2"/>
                </a:solidFill>
              </a:rPr>
              <a:t>1980s</a:t>
            </a:r>
            <a:r>
              <a:rPr lang="en-US" sz="2000" dirty="0"/>
              <a:t> : Execute each loop, exactly once (formalized)</a:t>
            </a:r>
          </a:p>
          <a:p>
            <a:pPr lvl="1"/>
            <a:r>
              <a:rPr lang="en-US" sz="2000" dirty="0">
                <a:solidFill>
                  <a:schemeClr val="tx2"/>
                </a:solidFill>
              </a:rPr>
              <a:t>1990s</a:t>
            </a:r>
            <a:r>
              <a:rPr lang="en-US" sz="2000" dirty="0"/>
              <a:t> : Execute loops 0 times, once, more than once (informal description)</a:t>
            </a:r>
          </a:p>
          <a:p>
            <a:pPr lvl="2"/>
            <a:r>
              <a:rPr lang="en-US" sz="1600" dirty="0">
                <a:solidFill>
                  <a:srgbClr val="FF0000"/>
                </a:solidFill>
              </a:rPr>
              <a:t>Risk, budget, automation factors</a:t>
            </a:r>
          </a:p>
          <a:p>
            <a:pPr lvl="1"/>
            <a:r>
              <a:rPr lang="en-US" sz="2000" dirty="0">
                <a:solidFill>
                  <a:schemeClr val="tx2"/>
                </a:solidFill>
              </a:rPr>
              <a:t>2000s</a:t>
            </a:r>
            <a:r>
              <a:rPr lang="en-US" sz="2000" dirty="0"/>
              <a:t> : Prime paths (touring, </a:t>
            </a:r>
            <a:r>
              <a:rPr lang="en-US" sz="2000" dirty="0" err="1"/>
              <a:t>sidetrips</a:t>
            </a:r>
            <a:r>
              <a:rPr lang="en-US" sz="2000" dirty="0"/>
              <a:t>, and detours)</a:t>
            </a:r>
          </a:p>
          <a:p>
            <a:pPr lvl="2"/>
            <a:r>
              <a:rPr lang="en-US" sz="1600" dirty="0">
                <a:solidFill>
                  <a:srgbClr val="FF0000"/>
                </a:solidFill>
              </a:rPr>
              <a:t>Like Happy path, main use case, alternate use cases</a:t>
            </a: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Introduction to Software Testing, Edition 2  (Ch 07)</a:t>
            </a:r>
          </a:p>
        </p:txBody>
      </p:sp>
      <p:sp>
        <p:nvSpPr>
          <p:cNvPr id="19459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© Ammann &amp; Offutt</a:t>
            </a:r>
          </a:p>
        </p:txBody>
      </p:sp>
      <p:sp>
        <p:nvSpPr>
          <p:cNvPr id="1946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3DE6BAB-2752-411B-A839-7712480633A3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194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Simple Paths and Prime Paths</a:t>
            </a:r>
          </a:p>
        </p:txBody>
      </p:sp>
      <p:sp>
        <p:nvSpPr>
          <p:cNvPr id="194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8113" y="899042"/>
            <a:ext cx="8867775" cy="2968625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Simple Path</a:t>
            </a:r>
            <a:r>
              <a:rPr lang="en-US" dirty="0"/>
              <a:t> :</a:t>
            </a:r>
            <a:r>
              <a:rPr lang="en-US" i="1" dirty="0"/>
              <a:t> A path from node </a:t>
            </a:r>
            <a:r>
              <a:rPr lang="en-US" i="1" dirty="0" err="1"/>
              <a:t>ni</a:t>
            </a:r>
            <a:r>
              <a:rPr lang="en-US" i="1" dirty="0"/>
              <a:t> to </a:t>
            </a:r>
            <a:r>
              <a:rPr lang="en-US" i="1" dirty="0" err="1"/>
              <a:t>nj</a:t>
            </a:r>
            <a:r>
              <a:rPr lang="en-US" i="1" dirty="0"/>
              <a:t> is simple if no node appears more than once (except when the first and last nodes are the same)</a:t>
            </a:r>
            <a:endParaRPr lang="en-US" dirty="0"/>
          </a:p>
          <a:p>
            <a:pPr lvl="1"/>
            <a:r>
              <a:rPr lang="en-US" dirty="0"/>
              <a:t>No internal loops</a:t>
            </a:r>
          </a:p>
          <a:p>
            <a:pPr lvl="1"/>
            <a:r>
              <a:rPr lang="en-US" dirty="0"/>
              <a:t>A loop is a simple path</a:t>
            </a:r>
          </a:p>
          <a:p>
            <a:r>
              <a:rPr lang="en-US" dirty="0">
                <a:solidFill>
                  <a:schemeClr val="tx2"/>
                </a:solidFill>
              </a:rPr>
              <a:t>Prime Path</a:t>
            </a:r>
            <a:r>
              <a:rPr lang="en-US" dirty="0"/>
              <a:t> : </a:t>
            </a:r>
            <a:r>
              <a:rPr lang="en-US" i="1" dirty="0"/>
              <a:t>A simple path that does not appear as a proper </a:t>
            </a:r>
            <a:r>
              <a:rPr lang="en-US" i="1" dirty="0" err="1"/>
              <a:t>subpath</a:t>
            </a:r>
            <a:r>
              <a:rPr lang="en-US" i="1" dirty="0"/>
              <a:t> of any other simple path</a:t>
            </a:r>
          </a:p>
        </p:txBody>
      </p:sp>
      <p:sp>
        <p:nvSpPr>
          <p:cNvPr id="198662" name="Text Box 6"/>
          <p:cNvSpPr txBox="1">
            <a:spLocks noChangeArrowheads="1"/>
          </p:cNvSpPr>
          <p:nvPr/>
        </p:nvSpPr>
        <p:spPr bwMode="auto">
          <a:xfrm>
            <a:off x="2881313" y="4056771"/>
            <a:ext cx="6218237" cy="2246769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u="sng" dirty="0">
                <a:solidFill>
                  <a:schemeClr val="tx2"/>
                </a:solidFill>
                <a:latin typeface="Gill Sans MT" pitchFamily="34" charset="0"/>
              </a:rPr>
              <a:t>Simple Paths</a:t>
            </a: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 : [1,2,4,1], [1,3,4,1], [2,4,1,2], [2,4,1,3], [3,4,1,2], [3,4,1,3], [4,1,2,4], [4,1,3,4], [1,2,4], [1,3,4], [2,4,1], [3,4,1], [4,1,2], [4,1,3], [1,2], [1,3], [2,4], [</a:t>
            </a:r>
            <a:r>
              <a:rPr lang="en-US" dirty="0">
                <a:solidFill>
                  <a:srgbClr val="FF0000"/>
                </a:solidFill>
                <a:latin typeface="Gill Sans MT" pitchFamily="34" charset="0"/>
              </a:rPr>
              <a:t>3,4</a:t>
            </a: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], [4,1], [1], [2], [3], [4]</a:t>
            </a:r>
          </a:p>
          <a:p>
            <a:endParaRPr lang="en-US" dirty="0">
              <a:solidFill>
                <a:schemeClr val="tx1"/>
              </a:solidFill>
              <a:latin typeface="Gill Sans MT" pitchFamily="34" charset="0"/>
            </a:endParaRPr>
          </a:p>
          <a:p>
            <a:r>
              <a:rPr lang="en-US" u="sng" dirty="0">
                <a:solidFill>
                  <a:schemeClr val="tx2"/>
                </a:solidFill>
                <a:latin typeface="Gill Sans MT" pitchFamily="34" charset="0"/>
              </a:rPr>
              <a:t>Prime Paths</a:t>
            </a: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 : [2,4,1,2], [2,4,1,3], [1,3,4,1], [1,2,4,1], [3,4,1,2], [4,1,3,4], [4,1,2,4], [3,4,1,3]</a:t>
            </a:r>
          </a:p>
        </p:txBody>
      </p:sp>
      <p:grpSp>
        <p:nvGrpSpPr>
          <p:cNvPr id="2" name="Group 35"/>
          <p:cNvGrpSpPr>
            <a:grpSpLocks/>
          </p:cNvGrpSpPr>
          <p:nvPr/>
        </p:nvGrpSpPr>
        <p:grpSpPr bwMode="auto">
          <a:xfrm>
            <a:off x="461963" y="4052888"/>
            <a:ext cx="2301875" cy="1744662"/>
            <a:chOff x="772" y="2720"/>
            <a:chExt cx="1450" cy="1099"/>
          </a:xfrm>
        </p:grpSpPr>
        <p:grpSp>
          <p:nvGrpSpPr>
            <p:cNvPr id="19465" name="Group 22"/>
            <p:cNvGrpSpPr>
              <a:grpSpLocks/>
            </p:cNvGrpSpPr>
            <p:nvPr/>
          </p:nvGrpSpPr>
          <p:grpSpPr bwMode="auto">
            <a:xfrm>
              <a:off x="772" y="3216"/>
              <a:ext cx="350" cy="296"/>
              <a:chOff x="772" y="3221"/>
              <a:chExt cx="350" cy="296"/>
            </a:xfrm>
          </p:grpSpPr>
          <p:sp>
            <p:nvSpPr>
              <p:cNvPr id="19481" name="Oval 9"/>
              <p:cNvSpPr>
                <a:spLocks noChangeArrowheads="1"/>
              </p:cNvSpPr>
              <p:nvPr/>
            </p:nvSpPr>
            <p:spPr bwMode="auto">
              <a:xfrm>
                <a:off x="772" y="3221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Gill Sans MT" pitchFamily="34" charset="0"/>
                </a:endParaRPr>
              </a:p>
            </p:txBody>
          </p:sp>
          <p:sp>
            <p:nvSpPr>
              <p:cNvPr id="19482" name="Text Box 10"/>
              <p:cNvSpPr txBox="1">
                <a:spLocks noChangeArrowheads="1"/>
              </p:cNvSpPr>
              <p:nvPr/>
            </p:nvSpPr>
            <p:spPr bwMode="auto">
              <a:xfrm>
                <a:off x="840" y="3244"/>
                <a:ext cx="205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dirty="0">
                    <a:solidFill>
                      <a:schemeClr val="tx1"/>
                    </a:solidFill>
                    <a:latin typeface="Gill Sans MT" pitchFamily="34" charset="0"/>
                  </a:rPr>
                  <a:t>2</a:t>
                </a:r>
              </a:p>
            </p:txBody>
          </p:sp>
        </p:grpSp>
        <p:grpSp>
          <p:nvGrpSpPr>
            <p:cNvPr id="19466" name="Group 24"/>
            <p:cNvGrpSpPr>
              <a:grpSpLocks/>
            </p:cNvGrpSpPr>
            <p:nvPr/>
          </p:nvGrpSpPr>
          <p:grpSpPr bwMode="auto">
            <a:xfrm>
              <a:off x="1872" y="3216"/>
              <a:ext cx="350" cy="296"/>
              <a:chOff x="1297" y="3526"/>
              <a:chExt cx="350" cy="296"/>
            </a:xfrm>
          </p:grpSpPr>
          <p:sp>
            <p:nvSpPr>
              <p:cNvPr id="19479" name="Oval 13"/>
              <p:cNvSpPr>
                <a:spLocks noChangeArrowheads="1"/>
              </p:cNvSpPr>
              <p:nvPr/>
            </p:nvSpPr>
            <p:spPr bwMode="auto">
              <a:xfrm>
                <a:off x="1297" y="352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Gill Sans MT" pitchFamily="34" charset="0"/>
                </a:endParaRPr>
              </a:p>
            </p:txBody>
          </p:sp>
          <p:sp>
            <p:nvSpPr>
              <p:cNvPr id="19480" name="Text Box 14"/>
              <p:cNvSpPr txBox="1">
                <a:spLocks noChangeArrowheads="1"/>
              </p:cNvSpPr>
              <p:nvPr/>
            </p:nvSpPr>
            <p:spPr bwMode="auto">
              <a:xfrm>
                <a:off x="1374" y="3549"/>
                <a:ext cx="205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  <a:latin typeface="Gill Sans MT" pitchFamily="34" charset="0"/>
                  </a:rPr>
                  <a:t>3</a:t>
                </a:r>
              </a:p>
            </p:txBody>
          </p:sp>
        </p:grpSp>
        <p:grpSp>
          <p:nvGrpSpPr>
            <p:cNvPr id="19467" name="Group 23"/>
            <p:cNvGrpSpPr>
              <a:grpSpLocks/>
            </p:cNvGrpSpPr>
            <p:nvPr/>
          </p:nvGrpSpPr>
          <p:grpSpPr bwMode="auto">
            <a:xfrm>
              <a:off x="1321" y="2914"/>
              <a:ext cx="350" cy="296"/>
              <a:chOff x="1327" y="2914"/>
              <a:chExt cx="350" cy="296"/>
            </a:xfrm>
          </p:grpSpPr>
          <p:sp>
            <p:nvSpPr>
              <p:cNvPr id="19477" name="Oval 16"/>
              <p:cNvSpPr>
                <a:spLocks noChangeArrowheads="1"/>
              </p:cNvSpPr>
              <p:nvPr/>
            </p:nvSpPr>
            <p:spPr bwMode="auto">
              <a:xfrm>
                <a:off x="1327" y="291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Gill Sans MT" pitchFamily="34" charset="0"/>
                </a:endParaRPr>
              </a:p>
            </p:txBody>
          </p:sp>
          <p:sp>
            <p:nvSpPr>
              <p:cNvPr id="19478" name="Text Box 17"/>
              <p:cNvSpPr txBox="1">
                <a:spLocks noChangeArrowheads="1"/>
              </p:cNvSpPr>
              <p:nvPr/>
            </p:nvSpPr>
            <p:spPr bwMode="auto">
              <a:xfrm>
                <a:off x="1404" y="2937"/>
                <a:ext cx="205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  <a:latin typeface="Gill Sans MT" pitchFamily="34" charset="0"/>
                  </a:rPr>
                  <a:t>1</a:t>
                </a:r>
              </a:p>
            </p:txBody>
          </p:sp>
        </p:grpSp>
        <p:sp>
          <p:nvSpPr>
            <p:cNvPr id="19468" name="Line 18"/>
            <p:cNvSpPr>
              <a:spLocks noChangeShapeType="1"/>
            </p:cNvSpPr>
            <p:nvPr/>
          </p:nvSpPr>
          <p:spPr bwMode="auto">
            <a:xfrm flipV="1">
              <a:off x="1109" y="3145"/>
              <a:ext cx="234" cy="1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arrow" w="med" len="med"/>
              <a:tailEnd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19469" name="Line 19"/>
            <p:cNvSpPr>
              <a:spLocks noChangeShapeType="1"/>
            </p:cNvSpPr>
            <p:nvPr/>
          </p:nvSpPr>
          <p:spPr bwMode="auto">
            <a:xfrm>
              <a:off x="1089" y="3461"/>
              <a:ext cx="238" cy="1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19470" name="Line 21"/>
            <p:cNvSpPr>
              <a:spLocks noChangeShapeType="1"/>
            </p:cNvSpPr>
            <p:nvPr/>
          </p:nvSpPr>
          <p:spPr bwMode="auto">
            <a:xfrm>
              <a:off x="1495" y="2720"/>
              <a:ext cx="0" cy="1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grpSp>
          <p:nvGrpSpPr>
            <p:cNvPr id="19471" name="Group 25"/>
            <p:cNvGrpSpPr>
              <a:grpSpLocks/>
            </p:cNvGrpSpPr>
            <p:nvPr/>
          </p:nvGrpSpPr>
          <p:grpSpPr bwMode="auto">
            <a:xfrm>
              <a:off x="1320" y="3517"/>
              <a:ext cx="350" cy="296"/>
              <a:chOff x="1297" y="3526"/>
              <a:chExt cx="350" cy="296"/>
            </a:xfrm>
          </p:grpSpPr>
          <p:sp>
            <p:nvSpPr>
              <p:cNvPr id="19475" name="Oval 26"/>
              <p:cNvSpPr>
                <a:spLocks noChangeArrowheads="1"/>
              </p:cNvSpPr>
              <p:nvPr/>
            </p:nvSpPr>
            <p:spPr bwMode="auto">
              <a:xfrm>
                <a:off x="1297" y="352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Gill Sans MT" pitchFamily="34" charset="0"/>
                </a:endParaRPr>
              </a:p>
            </p:txBody>
          </p:sp>
          <p:sp>
            <p:nvSpPr>
              <p:cNvPr id="19476" name="Text Box 27"/>
              <p:cNvSpPr txBox="1">
                <a:spLocks noChangeArrowheads="1"/>
              </p:cNvSpPr>
              <p:nvPr/>
            </p:nvSpPr>
            <p:spPr bwMode="auto">
              <a:xfrm>
                <a:off x="1374" y="3549"/>
                <a:ext cx="205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  <a:latin typeface="Gill Sans MT" pitchFamily="34" charset="0"/>
                  </a:rPr>
                  <a:t>4</a:t>
                </a:r>
              </a:p>
            </p:txBody>
          </p:sp>
        </p:grpSp>
        <p:sp>
          <p:nvSpPr>
            <p:cNvPr id="19472" name="Line 32"/>
            <p:cNvSpPr>
              <a:spLocks noChangeShapeType="1"/>
            </p:cNvSpPr>
            <p:nvPr/>
          </p:nvSpPr>
          <p:spPr bwMode="auto">
            <a:xfrm flipH="1" flipV="1">
              <a:off x="1647" y="3149"/>
              <a:ext cx="242" cy="15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arrow" w="med" len="med"/>
              <a:tailEnd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19473" name="Line 33"/>
            <p:cNvSpPr>
              <a:spLocks noChangeShapeType="1"/>
            </p:cNvSpPr>
            <p:nvPr/>
          </p:nvSpPr>
          <p:spPr bwMode="auto">
            <a:xfrm flipH="1">
              <a:off x="1663" y="3457"/>
              <a:ext cx="246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cxnSp>
          <p:nvCxnSpPr>
            <p:cNvPr id="19474" name="AutoShape 34"/>
            <p:cNvCxnSpPr>
              <a:cxnSpLocks noChangeShapeType="1"/>
              <a:stCxn id="19475" idx="4"/>
              <a:endCxn id="19477" idx="1"/>
            </p:cNvCxnSpPr>
            <p:nvPr/>
          </p:nvCxnSpPr>
          <p:spPr bwMode="auto">
            <a:xfrm rot="16200000" flipV="1">
              <a:off x="1000" y="3323"/>
              <a:ext cx="868" cy="123"/>
            </a:xfrm>
            <a:prstGeom prst="curvedConnector5">
              <a:avLst>
                <a:gd name="adj1" fmla="val -15898"/>
                <a:gd name="adj2" fmla="val 754468"/>
                <a:gd name="adj3" fmla="val 123500"/>
              </a:avLst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98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662" grpId="0" animBg="1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Introduction to Software Testing, Edition 2  (Ch 07)</a:t>
            </a:r>
          </a:p>
        </p:txBody>
      </p:sp>
      <p:sp>
        <p:nvSpPr>
          <p:cNvPr id="20483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© Ammann &amp; Offutt</a:t>
            </a:r>
          </a:p>
        </p:txBody>
      </p:sp>
      <p:sp>
        <p:nvSpPr>
          <p:cNvPr id="2048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FD05EA3-8E5B-4CB7-AD95-8A46886A9D76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204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Prime Path Coverage</a:t>
            </a:r>
          </a:p>
        </p:txBody>
      </p:sp>
      <p:sp>
        <p:nvSpPr>
          <p:cNvPr id="204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8113" y="984250"/>
            <a:ext cx="8867775" cy="1185863"/>
          </a:xfrm>
        </p:spPr>
        <p:txBody>
          <a:bodyPr/>
          <a:lstStyle/>
          <a:p>
            <a:r>
              <a:rPr lang="en-US" dirty="0"/>
              <a:t>A simple, elegant and finite criterion that requires </a:t>
            </a:r>
            <a:r>
              <a:rPr lang="en-US" dirty="0">
                <a:solidFill>
                  <a:schemeClr val="tx2"/>
                </a:solidFill>
              </a:rPr>
              <a:t>loops</a:t>
            </a:r>
            <a:r>
              <a:rPr lang="en-US" dirty="0"/>
              <a:t> to be executed as well as skipped</a:t>
            </a:r>
            <a:endParaRPr lang="en-US" sz="1600" dirty="0"/>
          </a:p>
        </p:txBody>
      </p:sp>
      <p:sp>
        <p:nvSpPr>
          <p:cNvPr id="166916" name="Text Box 4"/>
          <p:cNvSpPr txBox="1">
            <a:spLocks noChangeArrowheads="1"/>
          </p:cNvSpPr>
          <p:nvPr/>
        </p:nvSpPr>
        <p:spPr bwMode="auto">
          <a:xfrm>
            <a:off x="220663" y="2175424"/>
            <a:ext cx="8704262" cy="830997"/>
          </a:xfrm>
          <a:prstGeom prst="rect">
            <a:avLst/>
          </a:prstGeom>
          <a:gradFill rotWithShape="1">
            <a:gsLst>
              <a:gs pos="0">
                <a:srgbClr val="0066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defRPr/>
            </a:pPr>
            <a:r>
              <a:rPr lang="en-US" sz="2400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Prime Path Coverage (PPC)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 : TR contains each prime path in G.</a:t>
            </a:r>
          </a:p>
        </p:txBody>
      </p:sp>
      <p:sp>
        <p:nvSpPr>
          <p:cNvPr id="166917" name="Rectangle 5"/>
          <p:cNvSpPr>
            <a:spLocks noChangeArrowheads="1"/>
          </p:cNvSpPr>
          <p:nvPr/>
        </p:nvSpPr>
        <p:spPr bwMode="auto">
          <a:xfrm>
            <a:off x="138113" y="3441033"/>
            <a:ext cx="8867775" cy="23454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Will tour all paths of length 0, </a:t>
            </a:r>
            <a:r>
              <a:rPr lang="en-US" sz="2800" b="0" dirty="0">
                <a:solidFill>
                  <a:schemeClr val="tx1"/>
                </a:solidFill>
                <a:latin typeface="+mn-lt"/>
              </a:rPr>
              <a:t>1</a:t>
            </a: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, …</a:t>
            </a:r>
          </a:p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That is, it </a:t>
            </a:r>
            <a:r>
              <a:rPr lang="en-US" sz="2800" b="0" dirty="0">
                <a:solidFill>
                  <a:schemeClr val="tx2"/>
                </a:solidFill>
                <a:latin typeface="Gill Sans MT" pitchFamily="34" charset="0"/>
              </a:rPr>
              <a:t>subsumes</a:t>
            </a: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 node and edge coverage</a:t>
            </a:r>
          </a:p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PPC almost, but </a:t>
            </a:r>
            <a:r>
              <a:rPr lang="en-US" sz="2800" b="0" dirty="0">
                <a:solidFill>
                  <a:srgbClr val="FFFF00"/>
                </a:solidFill>
                <a:latin typeface="Gill Sans MT" pitchFamily="34" charset="0"/>
              </a:rPr>
              <a:t>not quite</a:t>
            </a: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, subsumes </a:t>
            </a:r>
            <a:r>
              <a:rPr lang="en-US" sz="2800" b="0" dirty="0">
                <a:solidFill>
                  <a:schemeClr val="tx2"/>
                </a:solidFill>
                <a:latin typeface="Gill Sans MT" pitchFamily="34" charset="0"/>
              </a:rPr>
              <a:t>EPC</a:t>
            </a: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 …</a:t>
            </a:r>
          </a:p>
        </p:txBody>
      </p:sp>
    </p:spTree>
    <p:extLst>
      <p:ext uri="{BB962C8B-B14F-4D97-AF65-F5344CB8AC3E}">
        <p14:creationId xmlns:p14="http://schemas.microsoft.com/office/powerpoint/2010/main" val="45147270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6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916" grpId="0" animBg="1" autoUpdateAnimBg="0"/>
      <p:bldP spid="166917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PPC Does Not Subsume EPC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Introduction to Software Testing, Edition 2  (</a:t>
            </a:r>
            <a:r>
              <a:rPr lang="en-US" dirty="0" err="1"/>
              <a:t>Ch</a:t>
            </a:r>
            <a:r>
              <a:rPr lang="en-US" dirty="0"/>
              <a:t> 07)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6A7B84-9F6B-4375-98C9-19E41DF1CA63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grpSp>
        <p:nvGrpSpPr>
          <p:cNvPr id="42" name="Group 41"/>
          <p:cNvGrpSpPr/>
          <p:nvPr/>
        </p:nvGrpSpPr>
        <p:grpSpPr>
          <a:xfrm>
            <a:off x="2244429" y="3697808"/>
            <a:ext cx="555625" cy="2592486"/>
            <a:chOff x="3854742" y="1350149"/>
            <a:chExt cx="555625" cy="2592486"/>
          </a:xfrm>
        </p:grpSpPr>
        <p:grpSp>
          <p:nvGrpSpPr>
            <p:cNvPr id="7" name="Group 22"/>
            <p:cNvGrpSpPr>
              <a:grpSpLocks/>
            </p:cNvGrpSpPr>
            <p:nvPr/>
          </p:nvGrpSpPr>
          <p:grpSpPr bwMode="auto">
            <a:xfrm>
              <a:off x="3854742" y="2565429"/>
              <a:ext cx="555625" cy="469900"/>
              <a:chOff x="772" y="3221"/>
              <a:chExt cx="350" cy="296"/>
            </a:xfrm>
          </p:grpSpPr>
          <p:sp>
            <p:nvSpPr>
              <p:cNvPr id="23" name="Oval 9"/>
              <p:cNvSpPr>
                <a:spLocks noChangeArrowheads="1"/>
              </p:cNvSpPr>
              <p:nvPr/>
            </p:nvSpPr>
            <p:spPr bwMode="auto">
              <a:xfrm>
                <a:off x="772" y="3221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24" name="Text Box 10"/>
              <p:cNvSpPr txBox="1">
                <a:spLocks noChangeArrowheads="1"/>
              </p:cNvSpPr>
              <p:nvPr/>
            </p:nvSpPr>
            <p:spPr bwMode="auto">
              <a:xfrm>
                <a:off x="848" y="3244"/>
                <a:ext cx="197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dirty="0">
                    <a:solidFill>
                      <a:schemeClr val="tx1"/>
                    </a:solidFill>
                    <a:latin typeface="+mn-lt"/>
                  </a:rPr>
                  <a:t>2</a:t>
                </a:r>
              </a:p>
            </p:txBody>
          </p:sp>
        </p:grpSp>
        <p:grpSp>
          <p:nvGrpSpPr>
            <p:cNvPr id="8" name="Group 24"/>
            <p:cNvGrpSpPr>
              <a:grpSpLocks/>
            </p:cNvGrpSpPr>
            <p:nvPr/>
          </p:nvGrpSpPr>
          <p:grpSpPr bwMode="auto">
            <a:xfrm>
              <a:off x="3854742" y="3472735"/>
              <a:ext cx="555625" cy="469900"/>
              <a:chOff x="1297" y="3526"/>
              <a:chExt cx="350" cy="296"/>
            </a:xfrm>
          </p:grpSpPr>
          <p:sp>
            <p:nvSpPr>
              <p:cNvPr id="21" name="Oval 13"/>
              <p:cNvSpPr>
                <a:spLocks noChangeArrowheads="1"/>
              </p:cNvSpPr>
              <p:nvPr/>
            </p:nvSpPr>
            <p:spPr bwMode="auto">
              <a:xfrm>
                <a:off x="1297" y="352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22" name="Text Box 14"/>
              <p:cNvSpPr txBox="1">
                <a:spLocks noChangeArrowheads="1"/>
              </p:cNvSpPr>
              <p:nvPr/>
            </p:nvSpPr>
            <p:spPr bwMode="auto">
              <a:xfrm>
                <a:off x="1374" y="3549"/>
                <a:ext cx="197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  <a:latin typeface="+mn-lt"/>
                  </a:rPr>
                  <a:t>3</a:t>
                </a:r>
              </a:p>
            </p:txBody>
          </p:sp>
        </p:grpSp>
        <p:grpSp>
          <p:nvGrpSpPr>
            <p:cNvPr id="9" name="Group 23"/>
            <p:cNvGrpSpPr>
              <a:grpSpLocks/>
            </p:cNvGrpSpPr>
            <p:nvPr/>
          </p:nvGrpSpPr>
          <p:grpSpPr bwMode="auto">
            <a:xfrm>
              <a:off x="3854742" y="1658124"/>
              <a:ext cx="555625" cy="469900"/>
              <a:chOff x="1327" y="2914"/>
              <a:chExt cx="350" cy="296"/>
            </a:xfrm>
          </p:grpSpPr>
          <p:sp>
            <p:nvSpPr>
              <p:cNvPr id="19" name="Oval 16"/>
              <p:cNvSpPr>
                <a:spLocks noChangeArrowheads="1"/>
              </p:cNvSpPr>
              <p:nvPr/>
            </p:nvSpPr>
            <p:spPr bwMode="auto">
              <a:xfrm>
                <a:off x="1327" y="291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20" name="Text Box 17"/>
              <p:cNvSpPr txBox="1">
                <a:spLocks noChangeArrowheads="1"/>
              </p:cNvSpPr>
              <p:nvPr/>
            </p:nvSpPr>
            <p:spPr bwMode="auto">
              <a:xfrm>
                <a:off x="1404" y="2937"/>
                <a:ext cx="197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  <a:latin typeface="+mn-lt"/>
                  </a:rPr>
                  <a:t>1</a:t>
                </a:r>
              </a:p>
            </p:txBody>
          </p:sp>
        </p:grpSp>
        <p:sp>
          <p:nvSpPr>
            <p:cNvPr id="10" name="Line 18"/>
            <p:cNvSpPr>
              <a:spLocks noChangeShapeType="1"/>
            </p:cNvSpPr>
            <p:nvPr/>
          </p:nvSpPr>
          <p:spPr bwMode="auto">
            <a:xfrm flipH="1" flipV="1">
              <a:off x="4131761" y="2128023"/>
              <a:ext cx="1588" cy="43740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arrow" w="med" len="med"/>
              <a:tailEnd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2" name="Line 21"/>
            <p:cNvSpPr>
              <a:spLocks noChangeShapeType="1"/>
            </p:cNvSpPr>
            <p:nvPr/>
          </p:nvSpPr>
          <p:spPr bwMode="auto">
            <a:xfrm>
              <a:off x="4132554" y="1350149"/>
              <a:ext cx="0" cy="2952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cxnSp>
          <p:nvCxnSpPr>
            <p:cNvPr id="16" name="AutoShape 34"/>
            <p:cNvCxnSpPr>
              <a:cxnSpLocks noChangeShapeType="1"/>
              <a:stCxn id="23" idx="3"/>
              <a:endCxn id="23" idx="1"/>
            </p:cNvCxnSpPr>
            <p:nvPr/>
          </p:nvCxnSpPr>
          <p:spPr bwMode="auto">
            <a:xfrm rot="5400000" flipH="1">
              <a:off x="3769976" y="2800379"/>
              <a:ext cx="332270" cy="12700"/>
            </a:xfrm>
            <a:prstGeom prst="curvedConnector5">
              <a:avLst>
                <a:gd name="adj1" fmla="val -20091"/>
                <a:gd name="adj2" fmla="val 3559079"/>
                <a:gd name="adj3" fmla="val 103044"/>
              </a:avLst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cxnSp>
          <p:nvCxnSpPr>
            <p:cNvPr id="27" name="Straight Arrow Connector 26"/>
            <p:cNvCxnSpPr>
              <a:stCxn id="23" idx="4"/>
              <a:endCxn id="21" idx="0"/>
            </p:cNvCxnSpPr>
            <p:nvPr/>
          </p:nvCxnSpPr>
          <p:spPr bwMode="auto">
            <a:xfrm>
              <a:off x="4132555" y="3035329"/>
              <a:ext cx="0" cy="437406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arrow"/>
            </a:ln>
            <a:effectLst/>
          </p:spPr>
        </p:cxnSp>
      </p:grpSp>
      <p:sp>
        <p:nvSpPr>
          <p:cNvPr id="43" name="Content Placeholder 2"/>
          <p:cNvSpPr txBox="1">
            <a:spLocks/>
          </p:cNvSpPr>
          <p:nvPr/>
        </p:nvSpPr>
        <p:spPr>
          <a:xfrm>
            <a:off x="1" y="1085850"/>
            <a:ext cx="9005888" cy="5392738"/>
          </a:xfrm>
          <a:prstGeom prst="rect">
            <a:avLst/>
          </a:prstGeom>
        </p:spPr>
        <p:txBody>
          <a:bodyPr/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85000"/>
              <a:buChar char="•"/>
              <a:defRPr sz="2800" b="0">
                <a:solidFill>
                  <a:schemeClr val="tx1"/>
                </a:solidFill>
                <a:latin typeface="Gill Sans MT" pitchFamily="34" charset="0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400" b="0">
                <a:solidFill>
                  <a:schemeClr val="tx1"/>
                </a:solidFill>
                <a:latin typeface="Gill Sans MT" pitchFamily="34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 b="0">
                <a:solidFill>
                  <a:schemeClr val="tx1"/>
                </a:solidFill>
                <a:latin typeface="Gill Sans MT" pitchFamily="34" charset="0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0">
                <a:solidFill>
                  <a:schemeClr val="tx1"/>
                </a:solidFill>
                <a:latin typeface="Gill Sans MT" pitchFamily="34" charset="0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sz="2000" b="0">
                <a:solidFill>
                  <a:schemeClr val="tx1"/>
                </a:solidFill>
                <a:latin typeface="Gill Sans MT" pitchFamily="34" charset="0"/>
              </a:defRPr>
            </a:lvl5pPr>
            <a:lvl6pPr marL="24574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6pPr>
            <a:lvl7pPr marL="29146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7pPr>
            <a:lvl8pPr marL="33718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8pPr>
            <a:lvl9pPr marL="3829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9pPr>
          </a:lstStyle>
          <a:p>
            <a:pPr marL="342900"/>
            <a:r>
              <a:rPr lang="en-US" sz="3200" kern="0" dirty="0"/>
              <a:t>If a node </a:t>
            </a:r>
            <a:r>
              <a:rPr lang="en-US" sz="3200" i="1" kern="0" dirty="0">
                <a:solidFill>
                  <a:schemeClr val="tx2"/>
                </a:solidFill>
              </a:rPr>
              <a:t>n</a:t>
            </a:r>
            <a:r>
              <a:rPr lang="en-US" sz="3200" kern="0" dirty="0"/>
              <a:t> has an edge to itself (</a:t>
            </a:r>
            <a:r>
              <a:rPr lang="en-US" sz="3200" i="1" kern="0" dirty="0"/>
              <a:t>self edge</a:t>
            </a:r>
            <a:r>
              <a:rPr lang="en-US" sz="3200" kern="0" dirty="0"/>
              <a:t>), </a:t>
            </a:r>
            <a:r>
              <a:rPr lang="en-US" sz="3200" kern="0" dirty="0">
                <a:solidFill>
                  <a:schemeClr val="tx2"/>
                </a:solidFill>
              </a:rPr>
              <a:t>EPC</a:t>
            </a:r>
            <a:r>
              <a:rPr lang="en-US" sz="3200" kern="0" dirty="0"/>
              <a:t> requires </a:t>
            </a:r>
            <a:r>
              <a:rPr lang="en-US" sz="3200" kern="0" dirty="0">
                <a:solidFill>
                  <a:schemeClr val="tx2"/>
                </a:solidFill>
              </a:rPr>
              <a:t>[</a:t>
            </a:r>
            <a:r>
              <a:rPr lang="en-US" sz="3200" i="1" kern="0" dirty="0">
                <a:solidFill>
                  <a:schemeClr val="tx2"/>
                </a:solidFill>
              </a:rPr>
              <a:t>n, n, m</a:t>
            </a:r>
            <a:r>
              <a:rPr lang="en-US" sz="3200" kern="0" dirty="0">
                <a:solidFill>
                  <a:schemeClr val="tx2"/>
                </a:solidFill>
              </a:rPr>
              <a:t>] </a:t>
            </a:r>
            <a:r>
              <a:rPr lang="en-US" sz="3200" kern="0" dirty="0"/>
              <a:t>and</a:t>
            </a:r>
            <a:r>
              <a:rPr lang="en-US" sz="3200" kern="0" dirty="0">
                <a:solidFill>
                  <a:schemeClr val="tx2"/>
                </a:solidFill>
              </a:rPr>
              <a:t> [</a:t>
            </a:r>
            <a:r>
              <a:rPr lang="en-US" sz="3200" i="1" kern="0" dirty="0">
                <a:solidFill>
                  <a:schemeClr val="tx2"/>
                </a:solidFill>
              </a:rPr>
              <a:t>m</a:t>
            </a:r>
            <a:r>
              <a:rPr lang="en-US" sz="3200" kern="0" dirty="0">
                <a:solidFill>
                  <a:schemeClr val="tx2"/>
                </a:solidFill>
              </a:rPr>
              <a:t>, </a:t>
            </a:r>
            <a:r>
              <a:rPr lang="en-US" sz="3200" i="1" kern="0" dirty="0">
                <a:solidFill>
                  <a:schemeClr val="tx2"/>
                </a:solidFill>
              </a:rPr>
              <a:t>n, n</a:t>
            </a:r>
            <a:r>
              <a:rPr lang="en-US" sz="3200" kern="0" dirty="0">
                <a:solidFill>
                  <a:schemeClr val="tx2"/>
                </a:solidFill>
              </a:rPr>
              <a:t>]</a:t>
            </a:r>
          </a:p>
          <a:p>
            <a:pPr marL="342900"/>
            <a:r>
              <a:rPr lang="en-US" sz="3200" kern="0" dirty="0">
                <a:solidFill>
                  <a:schemeClr val="tx2"/>
                </a:solidFill>
              </a:rPr>
              <a:t>[</a:t>
            </a:r>
            <a:r>
              <a:rPr lang="en-US" sz="3200" i="1" kern="0" dirty="0">
                <a:solidFill>
                  <a:schemeClr val="tx2"/>
                </a:solidFill>
              </a:rPr>
              <a:t>n, n, m</a:t>
            </a:r>
            <a:r>
              <a:rPr lang="en-US" sz="3200" kern="0" dirty="0">
                <a:solidFill>
                  <a:schemeClr val="tx2"/>
                </a:solidFill>
              </a:rPr>
              <a:t>]</a:t>
            </a:r>
            <a:r>
              <a:rPr lang="en-US" sz="3200" kern="0" dirty="0"/>
              <a:t> is not prime</a:t>
            </a:r>
          </a:p>
          <a:p>
            <a:pPr marL="342900"/>
            <a:r>
              <a:rPr lang="en-US" sz="3200" kern="0" dirty="0"/>
              <a:t>Neither </a:t>
            </a:r>
            <a:r>
              <a:rPr lang="en-US" sz="3200" kern="0" dirty="0">
                <a:solidFill>
                  <a:schemeClr val="tx2"/>
                </a:solidFill>
              </a:rPr>
              <a:t>[</a:t>
            </a:r>
            <a:r>
              <a:rPr lang="en-US" sz="3200" i="1" kern="0" dirty="0">
                <a:solidFill>
                  <a:schemeClr val="tx2"/>
                </a:solidFill>
              </a:rPr>
              <a:t>n, n, m</a:t>
            </a:r>
            <a:r>
              <a:rPr lang="en-US" sz="3200" kern="0" dirty="0">
                <a:solidFill>
                  <a:schemeClr val="tx2"/>
                </a:solidFill>
              </a:rPr>
              <a:t>] </a:t>
            </a:r>
            <a:r>
              <a:rPr lang="en-US" sz="3200" kern="0" dirty="0"/>
              <a:t>nor </a:t>
            </a:r>
            <a:r>
              <a:rPr lang="en-US" sz="3200" kern="0" dirty="0">
                <a:solidFill>
                  <a:schemeClr val="tx2"/>
                </a:solidFill>
              </a:rPr>
              <a:t>[</a:t>
            </a:r>
            <a:r>
              <a:rPr lang="en-US" sz="3200" i="1" kern="0" dirty="0">
                <a:solidFill>
                  <a:schemeClr val="tx2"/>
                </a:solidFill>
              </a:rPr>
              <a:t>m</a:t>
            </a:r>
            <a:r>
              <a:rPr lang="en-US" sz="3200" kern="0" dirty="0">
                <a:solidFill>
                  <a:schemeClr val="tx2"/>
                </a:solidFill>
              </a:rPr>
              <a:t>, </a:t>
            </a:r>
            <a:r>
              <a:rPr lang="en-US" sz="3200" i="1" kern="0" dirty="0">
                <a:solidFill>
                  <a:schemeClr val="tx2"/>
                </a:solidFill>
              </a:rPr>
              <a:t>n, n</a:t>
            </a:r>
            <a:r>
              <a:rPr lang="en-US" sz="3200" kern="0" dirty="0">
                <a:solidFill>
                  <a:schemeClr val="tx2"/>
                </a:solidFill>
              </a:rPr>
              <a:t>]</a:t>
            </a:r>
            <a:r>
              <a:rPr lang="en-US" sz="3200" kern="0" dirty="0"/>
              <a:t> are simple paths (not prime)</a:t>
            </a:r>
          </a:p>
        </p:txBody>
      </p:sp>
      <p:sp>
        <p:nvSpPr>
          <p:cNvPr id="44" name="Text Box 43"/>
          <p:cNvSpPr txBox="1">
            <a:spLocks noChangeArrowheads="1"/>
          </p:cNvSpPr>
          <p:nvPr/>
        </p:nvSpPr>
        <p:spPr bwMode="auto">
          <a:xfrm>
            <a:off x="3002354" y="3697808"/>
            <a:ext cx="4248110" cy="1015663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EPC Requirements :  </a:t>
            </a:r>
          </a:p>
          <a:p>
            <a:endParaRPr lang="en-US" dirty="0">
              <a:solidFill>
                <a:schemeClr val="tx1"/>
              </a:solidFill>
              <a:latin typeface="Gill Sans MT" pitchFamily="34" charset="0"/>
            </a:endParaRPr>
          </a:p>
          <a:p>
            <a:endParaRPr lang="en-US" dirty="0">
              <a:solidFill>
                <a:schemeClr val="tx1"/>
              </a:solidFill>
              <a:latin typeface="Gill Sans MT" pitchFamily="34" charset="0"/>
            </a:endParaRPr>
          </a:p>
        </p:txBody>
      </p:sp>
      <p:sp>
        <p:nvSpPr>
          <p:cNvPr id="45" name="Text Box 43"/>
          <p:cNvSpPr txBox="1">
            <a:spLocks noChangeArrowheads="1"/>
          </p:cNvSpPr>
          <p:nvPr/>
        </p:nvSpPr>
        <p:spPr bwMode="auto">
          <a:xfrm>
            <a:off x="3048559" y="4094569"/>
            <a:ext cx="4282825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TR = { 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[1,2,3], [1,2,2], [2,2,3], [2,2,2] </a:t>
            </a: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}</a:t>
            </a:r>
          </a:p>
        </p:txBody>
      </p:sp>
      <p:sp>
        <p:nvSpPr>
          <p:cNvPr id="48" name="Text Box 43"/>
          <p:cNvSpPr txBox="1">
            <a:spLocks noChangeArrowheads="1"/>
          </p:cNvSpPr>
          <p:nvPr/>
        </p:nvSpPr>
        <p:spPr bwMode="auto">
          <a:xfrm>
            <a:off x="4158166" y="5041269"/>
            <a:ext cx="2889997" cy="1015663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PPC Requirements :</a:t>
            </a:r>
          </a:p>
          <a:p>
            <a:endParaRPr lang="en-US" dirty="0">
              <a:solidFill>
                <a:schemeClr val="tx1"/>
              </a:solidFill>
              <a:latin typeface="Gill Sans MT" pitchFamily="34" charset="0"/>
            </a:endParaRPr>
          </a:p>
          <a:p>
            <a:endParaRPr lang="en-US" dirty="0">
              <a:solidFill>
                <a:schemeClr val="tx1"/>
              </a:solidFill>
              <a:latin typeface="Gill Sans MT" pitchFamily="34" charset="0"/>
            </a:endParaRPr>
          </a:p>
        </p:txBody>
      </p:sp>
      <p:sp>
        <p:nvSpPr>
          <p:cNvPr id="49" name="Text Box 43"/>
          <p:cNvSpPr txBox="1">
            <a:spLocks noChangeArrowheads="1"/>
          </p:cNvSpPr>
          <p:nvPr/>
        </p:nvSpPr>
        <p:spPr bwMode="auto">
          <a:xfrm>
            <a:off x="4204373" y="5438030"/>
            <a:ext cx="2576754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TR = { 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[1,2,3], [2,2] </a:t>
            </a:r>
            <a:r>
              <a:rPr lang="en-US" dirty="0">
                <a:solidFill>
                  <a:schemeClr val="tx1"/>
                </a:solidFill>
                <a:latin typeface="Gill Sans MT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9448858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5" grpId="0"/>
      <p:bldP spid="48" grpId="0" animBg="1"/>
      <p:bldP spid="4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Introduction to Software Testing, Edition 2  (Ch 07)</a:t>
            </a:r>
          </a:p>
        </p:txBody>
      </p:sp>
      <p:sp>
        <p:nvSpPr>
          <p:cNvPr id="23555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© Ammann &amp; Offutt</a:t>
            </a:r>
          </a:p>
        </p:txBody>
      </p:sp>
      <p:sp>
        <p:nvSpPr>
          <p:cNvPr id="2355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E3E78A9-DB5B-4B24-9CC0-2F52591DF376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235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Touring, </a:t>
            </a:r>
            <a:r>
              <a:rPr lang="en-US" dirty="0" err="1"/>
              <a:t>Sidetrips</a:t>
            </a:r>
            <a:r>
              <a:rPr lang="en-US"/>
              <a:t>, and Detours</a:t>
            </a:r>
          </a:p>
        </p:txBody>
      </p:sp>
      <p:sp>
        <p:nvSpPr>
          <p:cNvPr id="235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8113" y="1085850"/>
            <a:ext cx="8867775" cy="482600"/>
          </a:xfrm>
        </p:spPr>
        <p:txBody>
          <a:bodyPr/>
          <a:lstStyle/>
          <a:p>
            <a:r>
              <a:rPr lang="en-US" dirty="0"/>
              <a:t>Prime paths do not have </a:t>
            </a:r>
            <a:r>
              <a:rPr lang="en-US" dirty="0">
                <a:solidFill>
                  <a:schemeClr val="tx2"/>
                </a:solidFill>
              </a:rPr>
              <a:t>internal loops</a:t>
            </a:r>
            <a:r>
              <a:rPr lang="en-US" dirty="0"/>
              <a:t> … test paths </a:t>
            </a:r>
            <a:r>
              <a:rPr lang="en-US" u="sng" dirty="0"/>
              <a:t>might</a:t>
            </a:r>
            <a:endParaRPr lang="en-US" dirty="0"/>
          </a:p>
        </p:txBody>
      </p:sp>
      <p:sp>
        <p:nvSpPr>
          <p:cNvPr id="23559" name="Rectangle 4"/>
          <p:cNvSpPr>
            <a:spLocks noChangeArrowheads="1"/>
          </p:cNvSpPr>
          <p:nvPr/>
        </p:nvSpPr>
        <p:spPr bwMode="auto">
          <a:xfrm>
            <a:off x="138113" y="2016707"/>
            <a:ext cx="8867775" cy="4030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800" b="0" dirty="0">
                <a:solidFill>
                  <a:schemeClr val="tx2"/>
                </a:solidFill>
                <a:latin typeface="Gill Sans MT" pitchFamily="34" charset="0"/>
              </a:rPr>
              <a:t>Tour</a:t>
            </a: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 : </a:t>
            </a:r>
            <a:r>
              <a:rPr lang="en-US" sz="2800" b="0" i="1" dirty="0">
                <a:solidFill>
                  <a:schemeClr val="tx1"/>
                </a:solidFill>
                <a:latin typeface="Gill Sans MT" pitchFamily="34" charset="0"/>
              </a:rPr>
              <a:t>A test path p tours </a:t>
            </a:r>
            <a:r>
              <a:rPr lang="en-US" sz="2800" b="0" i="1" dirty="0" err="1">
                <a:solidFill>
                  <a:schemeClr val="tx1"/>
                </a:solidFill>
                <a:latin typeface="Gill Sans MT" pitchFamily="34" charset="0"/>
              </a:rPr>
              <a:t>subpath</a:t>
            </a:r>
            <a:r>
              <a:rPr lang="en-US" sz="2800" b="0" i="1" dirty="0">
                <a:solidFill>
                  <a:schemeClr val="tx1"/>
                </a:solidFill>
                <a:latin typeface="Gill Sans MT" pitchFamily="34" charset="0"/>
              </a:rPr>
              <a:t> q if q is a </a:t>
            </a:r>
            <a:r>
              <a:rPr lang="en-US" sz="2800" b="0" i="1" dirty="0" err="1">
                <a:solidFill>
                  <a:schemeClr val="tx1"/>
                </a:solidFill>
                <a:latin typeface="Gill Sans MT" pitchFamily="34" charset="0"/>
              </a:rPr>
              <a:t>subpath</a:t>
            </a:r>
            <a:r>
              <a:rPr lang="en-US" sz="2800" b="0" i="1" dirty="0">
                <a:solidFill>
                  <a:schemeClr val="tx1"/>
                </a:solidFill>
                <a:latin typeface="Gill Sans MT" pitchFamily="34" charset="0"/>
              </a:rPr>
              <a:t> of p</a:t>
            </a:r>
            <a:endParaRPr lang="en-US" sz="2800" b="0" dirty="0">
              <a:solidFill>
                <a:schemeClr val="tx1"/>
              </a:solidFill>
              <a:latin typeface="Gill Sans MT" pitchFamily="34" charset="0"/>
            </a:endParaRPr>
          </a:p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800" b="0" dirty="0">
                <a:solidFill>
                  <a:schemeClr val="tx2"/>
                </a:solidFill>
                <a:latin typeface="Gill Sans MT" pitchFamily="34" charset="0"/>
              </a:rPr>
              <a:t>Tour With </a:t>
            </a:r>
            <a:r>
              <a:rPr lang="en-US" sz="2800" b="0" dirty="0" err="1">
                <a:solidFill>
                  <a:schemeClr val="tx2"/>
                </a:solidFill>
                <a:latin typeface="Gill Sans MT" pitchFamily="34" charset="0"/>
              </a:rPr>
              <a:t>Sidetrips</a:t>
            </a: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 : </a:t>
            </a:r>
            <a:r>
              <a:rPr lang="en-US" sz="2800" b="0" i="1" dirty="0">
                <a:solidFill>
                  <a:schemeClr val="tx1"/>
                </a:solidFill>
                <a:latin typeface="Gill Sans MT" pitchFamily="34" charset="0"/>
              </a:rPr>
              <a:t>A test path p tours </a:t>
            </a:r>
            <a:r>
              <a:rPr lang="en-US" sz="2800" b="0" i="1" dirty="0" err="1">
                <a:solidFill>
                  <a:schemeClr val="tx1"/>
                </a:solidFill>
                <a:latin typeface="Gill Sans MT" pitchFamily="34" charset="0"/>
              </a:rPr>
              <a:t>subpath</a:t>
            </a:r>
            <a:r>
              <a:rPr lang="en-US" sz="2800" b="0" i="1" dirty="0">
                <a:solidFill>
                  <a:schemeClr val="tx1"/>
                </a:solidFill>
                <a:latin typeface="Gill Sans MT" pitchFamily="34" charset="0"/>
              </a:rPr>
              <a:t> q with </a:t>
            </a:r>
            <a:r>
              <a:rPr lang="en-US" sz="2800" b="0" i="1" dirty="0" err="1">
                <a:solidFill>
                  <a:schemeClr val="tx1"/>
                </a:solidFill>
                <a:latin typeface="Gill Sans MT" pitchFamily="34" charset="0"/>
              </a:rPr>
              <a:t>sidetrips</a:t>
            </a:r>
            <a:r>
              <a:rPr lang="en-US" sz="2800" b="0" i="1" dirty="0">
                <a:solidFill>
                  <a:schemeClr val="tx1"/>
                </a:solidFill>
                <a:latin typeface="Gill Sans MT" pitchFamily="34" charset="0"/>
              </a:rPr>
              <a:t> </a:t>
            </a:r>
            <a:r>
              <a:rPr lang="en-US" sz="2800" b="0" i="1" dirty="0" err="1">
                <a:solidFill>
                  <a:schemeClr val="tx1"/>
                </a:solidFill>
                <a:latin typeface="Gill Sans MT" pitchFamily="34" charset="0"/>
              </a:rPr>
              <a:t>iff</a:t>
            </a:r>
            <a:r>
              <a:rPr lang="en-US" sz="2800" b="0" i="1" dirty="0">
                <a:solidFill>
                  <a:schemeClr val="tx1"/>
                </a:solidFill>
                <a:latin typeface="Gill Sans MT" pitchFamily="34" charset="0"/>
              </a:rPr>
              <a:t> every </a:t>
            </a:r>
            <a:r>
              <a:rPr lang="en-US" sz="2800" b="0" i="1" dirty="0">
                <a:solidFill>
                  <a:srgbClr val="FF0000"/>
                </a:solidFill>
                <a:latin typeface="Gill Sans MT" pitchFamily="34" charset="0"/>
              </a:rPr>
              <a:t>edge</a:t>
            </a:r>
            <a:r>
              <a:rPr lang="en-US" sz="2800" b="0" i="1" dirty="0">
                <a:solidFill>
                  <a:schemeClr val="tx1"/>
                </a:solidFill>
                <a:latin typeface="Gill Sans MT" pitchFamily="34" charset="0"/>
              </a:rPr>
              <a:t> in q is also in p in the same order</a:t>
            </a:r>
          </a:p>
          <a:p>
            <a:pPr marL="685800" lvl="1" indent="-22860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The tour can include a </a:t>
            </a:r>
            <a:r>
              <a:rPr lang="en-US" sz="2400" b="0" dirty="0" err="1">
                <a:solidFill>
                  <a:schemeClr val="tx1"/>
                </a:solidFill>
                <a:latin typeface="Gill Sans MT" pitchFamily="34" charset="0"/>
              </a:rPr>
              <a:t>sidetrip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, as long as it comes back to the same node</a:t>
            </a:r>
          </a:p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800" b="0" dirty="0">
                <a:solidFill>
                  <a:schemeClr val="tx2"/>
                </a:solidFill>
                <a:latin typeface="Gill Sans MT" pitchFamily="34" charset="0"/>
              </a:rPr>
              <a:t>Tour With Detours</a:t>
            </a: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 : </a:t>
            </a:r>
            <a:r>
              <a:rPr lang="en-US" sz="2800" b="0" i="1" dirty="0">
                <a:solidFill>
                  <a:schemeClr val="tx1"/>
                </a:solidFill>
                <a:latin typeface="Gill Sans MT" pitchFamily="34" charset="0"/>
              </a:rPr>
              <a:t>A test path p tours </a:t>
            </a:r>
            <a:r>
              <a:rPr lang="en-US" sz="2800" b="0" i="1" dirty="0" err="1">
                <a:solidFill>
                  <a:schemeClr val="tx1"/>
                </a:solidFill>
                <a:latin typeface="Gill Sans MT" pitchFamily="34" charset="0"/>
              </a:rPr>
              <a:t>subpath</a:t>
            </a:r>
            <a:r>
              <a:rPr lang="en-US" sz="2800" b="0" i="1" dirty="0">
                <a:solidFill>
                  <a:schemeClr val="tx1"/>
                </a:solidFill>
                <a:latin typeface="Gill Sans MT" pitchFamily="34" charset="0"/>
              </a:rPr>
              <a:t> q with detours </a:t>
            </a:r>
            <a:r>
              <a:rPr lang="en-US" sz="2800" b="0" i="1" dirty="0" err="1">
                <a:solidFill>
                  <a:schemeClr val="tx1"/>
                </a:solidFill>
                <a:latin typeface="Gill Sans MT" pitchFamily="34" charset="0"/>
              </a:rPr>
              <a:t>iff</a:t>
            </a:r>
            <a:r>
              <a:rPr lang="en-US" sz="2800" b="0" i="1" dirty="0">
                <a:solidFill>
                  <a:schemeClr val="tx1"/>
                </a:solidFill>
                <a:latin typeface="Gill Sans MT" pitchFamily="34" charset="0"/>
              </a:rPr>
              <a:t> every </a:t>
            </a:r>
            <a:r>
              <a:rPr lang="en-US" sz="2800" b="0" i="1" dirty="0">
                <a:solidFill>
                  <a:srgbClr val="FF0000"/>
                </a:solidFill>
                <a:latin typeface="Gill Sans MT" pitchFamily="34" charset="0"/>
              </a:rPr>
              <a:t>node</a:t>
            </a:r>
            <a:r>
              <a:rPr lang="en-US" sz="2800" b="0" i="1" dirty="0">
                <a:solidFill>
                  <a:schemeClr val="tx1"/>
                </a:solidFill>
                <a:latin typeface="Gill Sans MT" pitchFamily="34" charset="0"/>
              </a:rPr>
              <a:t> in q is also in p in the same order</a:t>
            </a:r>
          </a:p>
          <a:p>
            <a:pPr marL="685800" lvl="1" indent="-22860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The tour can include a detour from node </a:t>
            </a:r>
            <a:r>
              <a:rPr lang="en-US" sz="2400" b="0" i="1" dirty="0" err="1">
                <a:solidFill>
                  <a:schemeClr val="tx1"/>
                </a:solidFill>
                <a:latin typeface="Gill Sans MT" pitchFamily="34" charset="0"/>
              </a:rPr>
              <a:t>ni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, as long as it comes back to the prime path at a successor of </a:t>
            </a:r>
            <a:r>
              <a:rPr lang="en-US" sz="2400" b="0" i="1" dirty="0" err="1">
                <a:solidFill>
                  <a:schemeClr val="tx1"/>
                </a:solidFill>
                <a:latin typeface="Gill Sans MT" pitchFamily="34" charset="0"/>
              </a:rPr>
              <a:t>ni</a:t>
            </a:r>
            <a:endParaRPr lang="en-US" sz="2400" b="0" i="1" dirty="0">
              <a:solidFill>
                <a:schemeClr val="tx1"/>
              </a:solidFill>
              <a:latin typeface="Gill Sans MT" pitchFamily="34" charset="0"/>
            </a:endParaRP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Introduction to Software Testing, Edition 2  (Ch 07)</a:t>
            </a:r>
          </a:p>
        </p:txBody>
      </p:sp>
      <p:sp>
        <p:nvSpPr>
          <p:cNvPr id="24579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© Ammann &amp; Offutt</a:t>
            </a:r>
          </a:p>
        </p:txBody>
      </p:sp>
      <p:sp>
        <p:nvSpPr>
          <p:cNvPr id="2458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65CC19D-469D-457C-BFE6-48F8FEAE0FB5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245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Sidetrips and Detours Example</a:t>
            </a:r>
          </a:p>
        </p:txBody>
      </p:sp>
      <p:grpSp>
        <p:nvGrpSpPr>
          <p:cNvPr id="24582" name="Group 42"/>
          <p:cNvGrpSpPr>
            <a:grpSpLocks/>
          </p:cNvGrpSpPr>
          <p:nvPr/>
        </p:nvGrpSpPr>
        <p:grpSpPr bwMode="auto">
          <a:xfrm>
            <a:off x="1881188" y="1066800"/>
            <a:ext cx="5381625" cy="1381125"/>
            <a:chOff x="842" y="988"/>
            <a:chExt cx="3390" cy="870"/>
          </a:xfrm>
        </p:grpSpPr>
        <p:grpSp>
          <p:nvGrpSpPr>
            <p:cNvPr id="24687" name="Group 5"/>
            <p:cNvGrpSpPr>
              <a:grpSpLocks/>
            </p:cNvGrpSpPr>
            <p:nvPr/>
          </p:nvGrpSpPr>
          <p:grpSpPr bwMode="auto">
            <a:xfrm>
              <a:off x="1050" y="989"/>
              <a:ext cx="350" cy="296"/>
              <a:chOff x="4288" y="1746"/>
              <a:chExt cx="350" cy="296"/>
            </a:xfrm>
          </p:grpSpPr>
          <p:sp>
            <p:nvSpPr>
              <p:cNvPr id="24711" name="Oval 6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 b="0">
                  <a:latin typeface="Gill Sans MT" pitchFamily="34" charset="0"/>
                </a:endParaRPr>
              </a:p>
            </p:txBody>
          </p:sp>
          <p:sp>
            <p:nvSpPr>
              <p:cNvPr id="24712" name="Text Box 7"/>
              <p:cNvSpPr txBox="1">
                <a:spLocks noChangeArrowheads="1"/>
              </p:cNvSpPr>
              <p:nvPr/>
            </p:nvSpPr>
            <p:spPr bwMode="auto">
              <a:xfrm>
                <a:off x="4364" y="1769"/>
                <a:ext cx="197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b="0" dirty="0">
                    <a:solidFill>
                      <a:schemeClr val="tx1"/>
                    </a:solidFill>
                    <a:latin typeface="Gill Sans MT" pitchFamily="34" charset="0"/>
                  </a:rPr>
                  <a:t>1</a:t>
                </a:r>
              </a:p>
            </p:txBody>
          </p:sp>
        </p:grpSp>
        <p:grpSp>
          <p:nvGrpSpPr>
            <p:cNvPr id="24688" name="Group 9"/>
            <p:cNvGrpSpPr>
              <a:grpSpLocks/>
            </p:cNvGrpSpPr>
            <p:nvPr/>
          </p:nvGrpSpPr>
          <p:grpSpPr bwMode="auto">
            <a:xfrm>
              <a:off x="2457" y="988"/>
              <a:ext cx="350" cy="296"/>
              <a:chOff x="4738" y="2684"/>
              <a:chExt cx="350" cy="296"/>
            </a:xfrm>
          </p:grpSpPr>
          <p:sp>
            <p:nvSpPr>
              <p:cNvPr id="24709" name="Oval 10"/>
              <p:cNvSpPr>
                <a:spLocks noChangeArrowheads="1"/>
              </p:cNvSpPr>
              <p:nvPr/>
            </p:nvSpPr>
            <p:spPr bwMode="auto">
              <a:xfrm>
                <a:off x="47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 b="0">
                  <a:latin typeface="Gill Sans MT" pitchFamily="34" charset="0"/>
                </a:endParaRPr>
              </a:p>
            </p:txBody>
          </p:sp>
          <p:sp>
            <p:nvSpPr>
              <p:cNvPr id="24710" name="Text Box 11"/>
              <p:cNvSpPr txBox="1">
                <a:spLocks noChangeArrowheads="1"/>
              </p:cNvSpPr>
              <p:nvPr/>
            </p:nvSpPr>
            <p:spPr bwMode="auto">
              <a:xfrm>
                <a:off x="4815" y="2707"/>
                <a:ext cx="197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b="0" dirty="0">
                    <a:solidFill>
                      <a:schemeClr val="tx1"/>
                    </a:solidFill>
                    <a:latin typeface="Gill Sans MT" pitchFamily="34" charset="0"/>
                  </a:rPr>
                  <a:t>3</a:t>
                </a:r>
              </a:p>
            </p:txBody>
          </p:sp>
        </p:grpSp>
        <p:grpSp>
          <p:nvGrpSpPr>
            <p:cNvPr id="24689" name="Group 12"/>
            <p:cNvGrpSpPr>
              <a:grpSpLocks/>
            </p:cNvGrpSpPr>
            <p:nvPr/>
          </p:nvGrpSpPr>
          <p:grpSpPr bwMode="auto">
            <a:xfrm>
              <a:off x="1753" y="989"/>
              <a:ext cx="350" cy="296"/>
              <a:chOff x="3838" y="2684"/>
              <a:chExt cx="350" cy="296"/>
            </a:xfrm>
          </p:grpSpPr>
          <p:sp>
            <p:nvSpPr>
              <p:cNvPr id="24707" name="Oval 13"/>
              <p:cNvSpPr>
                <a:spLocks noChangeArrowheads="1"/>
              </p:cNvSpPr>
              <p:nvPr/>
            </p:nvSpPr>
            <p:spPr bwMode="auto">
              <a:xfrm>
                <a:off x="38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 b="0">
                  <a:latin typeface="Gill Sans MT" pitchFamily="34" charset="0"/>
                </a:endParaRPr>
              </a:p>
            </p:txBody>
          </p:sp>
          <p:sp>
            <p:nvSpPr>
              <p:cNvPr id="24708" name="Text Box 14"/>
              <p:cNvSpPr txBox="1">
                <a:spLocks noChangeArrowheads="1"/>
              </p:cNvSpPr>
              <p:nvPr/>
            </p:nvSpPr>
            <p:spPr bwMode="auto">
              <a:xfrm>
                <a:off x="3915" y="2707"/>
                <a:ext cx="197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b="0" dirty="0">
                    <a:solidFill>
                      <a:schemeClr val="tx1"/>
                    </a:solidFill>
                    <a:latin typeface="Gill Sans MT" pitchFamily="34" charset="0"/>
                  </a:rPr>
                  <a:t>2</a:t>
                </a:r>
              </a:p>
            </p:txBody>
          </p:sp>
        </p:grpSp>
        <p:grpSp>
          <p:nvGrpSpPr>
            <p:cNvPr id="24690" name="Group 15"/>
            <p:cNvGrpSpPr>
              <a:grpSpLocks/>
            </p:cNvGrpSpPr>
            <p:nvPr/>
          </p:nvGrpSpPr>
          <p:grpSpPr bwMode="auto">
            <a:xfrm>
              <a:off x="3882" y="988"/>
              <a:ext cx="350" cy="296"/>
              <a:chOff x="4288" y="3622"/>
              <a:chExt cx="350" cy="296"/>
            </a:xfrm>
          </p:grpSpPr>
          <p:sp>
            <p:nvSpPr>
              <p:cNvPr id="24705" name="Oval 16"/>
              <p:cNvSpPr>
                <a:spLocks noChangeArrowheads="1"/>
              </p:cNvSpPr>
              <p:nvPr/>
            </p:nvSpPr>
            <p:spPr bwMode="auto">
              <a:xfrm>
                <a:off x="4288" y="3622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 b="0">
                  <a:latin typeface="Gill Sans MT" pitchFamily="34" charset="0"/>
                </a:endParaRPr>
              </a:p>
            </p:txBody>
          </p:sp>
          <p:sp>
            <p:nvSpPr>
              <p:cNvPr id="24706" name="Text Box 17"/>
              <p:cNvSpPr txBox="1">
                <a:spLocks noChangeArrowheads="1"/>
              </p:cNvSpPr>
              <p:nvPr/>
            </p:nvSpPr>
            <p:spPr bwMode="auto">
              <a:xfrm>
                <a:off x="4365" y="3645"/>
                <a:ext cx="197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b="0" dirty="0">
                    <a:solidFill>
                      <a:schemeClr val="tx1"/>
                    </a:solidFill>
                    <a:latin typeface="Gill Sans MT" pitchFamily="34" charset="0"/>
                  </a:rPr>
                  <a:t>6</a:t>
                </a:r>
              </a:p>
            </p:txBody>
          </p:sp>
        </p:grpSp>
        <p:sp>
          <p:nvSpPr>
            <p:cNvPr id="24691" name="Line 18"/>
            <p:cNvSpPr>
              <a:spLocks noChangeShapeType="1"/>
            </p:cNvSpPr>
            <p:nvPr/>
          </p:nvSpPr>
          <p:spPr bwMode="auto">
            <a:xfrm flipV="1">
              <a:off x="2809" y="1286"/>
              <a:ext cx="448" cy="38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 b="0">
                <a:latin typeface="Gill Sans MT" pitchFamily="34" charset="0"/>
              </a:endParaRPr>
            </a:p>
          </p:txBody>
        </p:sp>
        <p:sp>
          <p:nvSpPr>
            <p:cNvPr id="24692" name="Line 19"/>
            <p:cNvSpPr>
              <a:spLocks noChangeShapeType="1"/>
            </p:cNvSpPr>
            <p:nvPr/>
          </p:nvSpPr>
          <p:spPr bwMode="auto">
            <a:xfrm>
              <a:off x="842" y="1137"/>
              <a:ext cx="20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 b="0">
                <a:latin typeface="Gill Sans MT" pitchFamily="34" charset="0"/>
              </a:endParaRPr>
            </a:p>
          </p:txBody>
        </p:sp>
        <p:grpSp>
          <p:nvGrpSpPr>
            <p:cNvPr id="24693" name="Group 20"/>
            <p:cNvGrpSpPr>
              <a:grpSpLocks/>
            </p:cNvGrpSpPr>
            <p:nvPr/>
          </p:nvGrpSpPr>
          <p:grpSpPr bwMode="auto">
            <a:xfrm>
              <a:off x="2457" y="1562"/>
              <a:ext cx="350" cy="296"/>
              <a:chOff x="4288" y="1746"/>
              <a:chExt cx="350" cy="296"/>
            </a:xfrm>
          </p:grpSpPr>
          <p:sp>
            <p:nvSpPr>
              <p:cNvPr id="24703" name="Oval 21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 b="0">
                  <a:latin typeface="Gill Sans MT" pitchFamily="34" charset="0"/>
                </a:endParaRPr>
              </a:p>
            </p:txBody>
          </p:sp>
          <p:sp>
            <p:nvSpPr>
              <p:cNvPr id="24704" name="Text Box 22"/>
              <p:cNvSpPr txBox="1">
                <a:spLocks noChangeArrowheads="1"/>
              </p:cNvSpPr>
              <p:nvPr/>
            </p:nvSpPr>
            <p:spPr bwMode="auto">
              <a:xfrm>
                <a:off x="4364" y="1769"/>
                <a:ext cx="197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b="0" dirty="0">
                    <a:solidFill>
                      <a:schemeClr val="tx1"/>
                    </a:solidFill>
                    <a:latin typeface="Gill Sans MT" pitchFamily="34" charset="0"/>
                  </a:rPr>
                  <a:t>4</a:t>
                </a:r>
              </a:p>
            </p:txBody>
          </p:sp>
        </p:grpSp>
        <p:grpSp>
          <p:nvGrpSpPr>
            <p:cNvPr id="24694" name="Group 27"/>
            <p:cNvGrpSpPr>
              <a:grpSpLocks/>
            </p:cNvGrpSpPr>
            <p:nvPr/>
          </p:nvGrpSpPr>
          <p:grpSpPr bwMode="auto">
            <a:xfrm>
              <a:off x="3171" y="989"/>
              <a:ext cx="350" cy="296"/>
              <a:chOff x="3838" y="2684"/>
              <a:chExt cx="350" cy="296"/>
            </a:xfrm>
          </p:grpSpPr>
          <p:sp>
            <p:nvSpPr>
              <p:cNvPr id="24701" name="Oval 28"/>
              <p:cNvSpPr>
                <a:spLocks noChangeArrowheads="1"/>
              </p:cNvSpPr>
              <p:nvPr/>
            </p:nvSpPr>
            <p:spPr bwMode="auto">
              <a:xfrm>
                <a:off x="38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 b="0">
                  <a:latin typeface="Gill Sans MT" pitchFamily="34" charset="0"/>
                </a:endParaRPr>
              </a:p>
            </p:txBody>
          </p:sp>
          <p:sp>
            <p:nvSpPr>
              <p:cNvPr id="24702" name="Text Box 29"/>
              <p:cNvSpPr txBox="1">
                <a:spLocks noChangeArrowheads="1"/>
              </p:cNvSpPr>
              <p:nvPr/>
            </p:nvSpPr>
            <p:spPr bwMode="auto">
              <a:xfrm>
                <a:off x="3915" y="2707"/>
                <a:ext cx="197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b="0" dirty="0">
                    <a:solidFill>
                      <a:schemeClr val="tx1"/>
                    </a:solidFill>
                    <a:latin typeface="Gill Sans MT" pitchFamily="34" charset="0"/>
                  </a:rPr>
                  <a:t>5</a:t>
                </a:r>
              </a:p>
            </p:txBody>
          </p:sp>
        </p:grpSp>
        <p:sp>
          <p:nvSpPr>
            <p:cNvPr id="24695" name="Line 34"/>
            <p:cNvSpPr>
              <a:spLocks noChangeShapeType="1"/>
            </p:cNvSpPr>
            <p:nvPr/>
          </p:nvSpPr>
          <p:spPr bwMode="auto">
            <a:xfrm flipH="1">
              <a:off x="2563" y="1283"/>
              <a:ext cx="2" cy="2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 b="0">
                <a:latin typeface="Gill Sans MT" pitchFamily="34" charset="0"/>
              </a:endParaRPr>
            </a:p>
          </p:txBody>
        </p:sp>
        <p:sp>
          <p:nvSpPr>
            <p:cNvPr id="24696" name="Line 37"/>
            <p:cNvSpPr>
              <a:spLocks noChangeShapeType="1"/>
            </p:cNvSpPr>
            <p:nvPr/>
          </p:nvSpPr>
          <p:spPr bwMode="auto">
            <a:xfrm>
              <a:off x="1400" y="1137"/>
              <a:ext cx="33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 b="0">
                <a:latin typeface="Gill Sans MT" pitchFamily="34" charset="0"/>
              </a:endParaRPr>
            </a:p>
          </p:txBody>
        </p:sp>
        <p:sp>
          <p:nvSpPr>
            <p:cNvPr id="24697" name="Line 38"/>
            <p:cNvSpPr>
              <a:spLocks noChangeShapeType="1"/>
            </p:cNvSpPr>
            <p:nvPr/>
          </p:nvSpPr>
          <p:spPr bwMode="auto">
            <a:xfrm>
              <a:off x="3532" y="1136"/>
              <a:ext cx="33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 b="0">
                <a:latin typeface="Gill Sans MT" pitchFamily="34" charset="0"/>
              </a:endParaRPr>
            </a:p>
          </p:txBody>
        </p:sp>
        <p:sp>
          <p:nvSpPr>
            <p:cNvPr id="24698" name="Line 39"/>
            <p:cNvSpPr>
              <a:spLocks noChangeShapeType="1"/>
            </p:cNvSpPr>
            <p:nvPr/>
          </p:nvSpPr>
          <p:spPr bwMode="auto">
            <a:xfrm>
              <a:off x="2814" y="1136"/>
              <a:ext cx="33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 b="0">
                <a:latin typeface="Gill Sans MT" pitchFamily="34" charset="0"/>
              </a:endParaRPr>
            </a:p>
          </p:txBody>
        </p:sp>
        <p:sp>
          <p:nvSpPr>
            <p:cNvPr id="24699" name="Line 40"/>
            <p:cNvSpPr>
              <a:spLocks noChangeShapeType="1"/>
            </p:cNvSpPr>
            <p:nvPr/>
          </p:nvSpPr>
          <p:spPr bwMode="auto">
            <a:xfrm>
              <a:off x="2111" y="1136"/>
              <a:ext cx="33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 b="0">
                <a:latin typeface="Gill Sans MT" pitchFamily="34" charset="0"/>
              </a:endParaRPr>
            </a:p>
          </p:txBody>
        </p:sp>
        <p:sp>
          <p:nvSpPr>
            <p:cNvPr id="24700" name="Line 41"/>
            <p:cNvSpPr>
              <a:spLocks noChangeShapeType="1"/>
            </p:cNvSpPr>
            <p:nvPr/>
          </p:nvSpPr>
          <p:spPr bwMode="auto">
            <a:xfrm flipH="1">
              <a:off x="2704" y="1282"/>
              <a:ext cx="2" cy="2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arrow" w="med" len="med"/>
              <a:tailEnd/>
            </a:ln>
          </p:spPr>
          <p:txBody>
            <a:bodyPr/>
            <a:lstStyle/>
            <a:p>
              <a:endParaRPr lang="en-US" b="0">
                <a:latin typeface="Gill Sans MT" pitchFamily="34" charset="0"/>
              </a:endParaRPr>
            </a:p>
          </p:txBody>
        </p:sp>
      </p:grpSp>
      <p:grpSp>
        <p:nvGrpSpPr>
          <p:cNvPr id="9" name="Group 117"/>
          <p:cNvGrpSpPr>
            <a:grpSpLocks/>
          </p:cNvGrpSpPr>
          <p:nvPr/>
        </p:nvGrpSpPr>
        <p:grpSpPr bwMode="auto">
          <a:xfrm>
            <a:off x="1485900" y="2808288"/>
            <a:ext cx="5776913" cy="1381125"/>
            <a:chOff x="936" y="1769"/>
            <a:chExt cx="3639" cy="870"/>
          </a:xfrm>
        </p:grpSpPr>
        <p:grpSp>
          <p:nvGrpSpPr>
            <p:cNvPr id="2" name="Group 61"/>
            <p:cNvGrpSpPr>
              <a:grpSpLocks/>
            </p:cNvGrpSpPr>
            <p:nvPr/>
          </p:nvGrpSpPr>
          <p:grpSpPr bwMode="auto">
            <a:xfrm>
              <a:off x="1185" y="1769"/>
              <a:ext cx="3390" cy="870"/>
              <a:chOff x="842" y="988"/>
              <a:chExt cx="3390" cy="870"/>
            </a:xfrm>
          </p:grpSpPr>
          <p:grpSp>
            <p:nvGrpSpPr>
              <p:cNvPr id="3" name="Group 62"/>
              <p:cNvGrpSpPr>
                <a:grpSpLocks/>
              </p:cNvGrpSpPr>
              <p:nvPr/>
            </p:nvGrpSpPr>
            <p:grpSpPr bwMode="auto">
              <a:xfrm>
                <a:off x="1050" y="989"/>
                <a:ext cx="350" cy="296"/>
                <a:chOff x="4288" y="1746"/>
                <a:chExt cx="350" cy="296"/>
              </a:xfrm>
            </p:grpSpPr>
            <p:sp>
              <p:nvSpPr>
                <p:cNvPr id="24685" name="Oval 63"/>
                <p:cNvSpPr>
                  <a:spLocks noChangeArrowheads="1"/>
                </p:cNvSpPr>
                <p:nvPr/>
              </p:nvSpPr>
              <p:spPr bwMode="auto">
                <a:xfrm>
                  <a:off x="4288" y="1746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 b="0">
                    <a:latin typeface="Gill Sans MT" pitchFamily="34" charset="0"/>
                  </a:endParaRPr>
                </a:p>
              </p:txBody>
            </p:sp>
            <p:sp>
              <p:nvSpPr>
                <p:cNvPr id="24686" name="Text Box 64"/>
                <p:cNvSpPr txBox="1">
                  <a:spLocks noChangeArrowheads="1"/>
                </p:cNvSpPr>
                <p:nvPr/>
              </p:nvSpPr>
              <p:spPr bwMode="auto">
                <a:xfrm>
                  <a:off x="4364" y="1769"/>
                  <a:ext cx="197" cy="25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pPr algn="r"/>
                  <a:r>
                    <a:rPr lang="en-US" b="0" dirty="0">
                      <a:solidFill>
                        <a:schemeClr val="tx1"/>
                      </a:solidFill>
                      <a:latin typeface="Gill Sans MT" pitchFamily="34" charset="0"/>
                    </a:rPr>
                    <a:t>1</a:t>
                  </a:r>
                </a:p>
              </p:txBody>
            </p:sp>
          </p:grpSp>
          <p:grpSp>
            <p:nvGrpSpPr>
              <p:cNvPr id="4" name="Group 65"/>
              <p:cNvGrpSpPr>
                <a:grpSpLocks/>
              </p:cNvGrpSpPr>
              <p:nvPr/>
            </p:nvGrpSpPr>
            <p:grpSpPr bwMode="auto">
              <a:xfrm>
                <a:off x="2457" y="988"/>
                <a:ext cx="350" cy="296"/>
                <a:chOff x="4738" y="2684"/>
                <a:chExt cx="350" cy="296"/>
              </a:xfrm>
            </p:grpSpPr>
            <p:sp>
              <p:nvSpPr>
                <p:cNvPr id="24683" name="Oval 66"/>
                <p:cNvSpPr>
                  <a:spLocks noChangeArrowheads="1"/>
                </p:cNvSpPr>
                <p:nvPr/>
              </p:nvSpPr>
              <p:spPr bwMode="auto">
                <a:xfrm>
                  <a:off x="4738" y="2684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 b="0">
                    <a:latin typeface="Gill Sans MT" pitchFamily="34" charset="0"/>
                  </a:endParaRPr>
                </a:p>
              </p:txBody>
            </p:sp>
            <p:sp>
              <p:nvSpPr>
                <p:cNvPr id="24684" name="Text Box 67"/>
                <p:cNvSpPr txBox="1">
                  <a:spLocks noChangeArrowheads="1"/>
                </p:cNvSpPr>
                <p:nvPr/>
              </p:nvSpPr>
              <p:spPr bwMode="auto">
                <a:xfrm>
                  <a:off x="4815" y="2707"/>
                  <a:ext cx="197" cy="25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b="0" dirty="0">
                      <a:solidFill>
                        <a:schemeClr val="tx1"/>
                      </a:solidFill>
                      <a:latin typeface="Gill Sans MT" pitchFamily="34" charset="0"/>
                    </a:rPr>
                    <a:t>3</a:t>
                  </a:r>
                </a:p>
              </p:txBody>
            </p:sp>
          </p:grpSp>
          <p:grpSp>
            <p:nvGrpSpPr>
              <p:cNvPr id="5" name="Group 68"/>
              <p:cNvGrpSpPr>
                <a:grpSpLocks/>
              </p:cNvGrpSpPr>
              <p:nvPr/>
            </p:nvGrpSpPr>
            <p:grpSpPr bwMode="auto">
              <a:xfrm>
                <a:off x="1753" y="989"/>
                <a:ext cx="350" cy="296"/>
                <a:chOff x="3838" y="2684"/>
                <a:chExt cx="350" cy="296"/>
              </a:xfrm>
            </p:grpSpPr>
            <p:sp>
              <p:nvSpPr>
                <p:cNvPr id="24681" name="Oval 69"/>
                <p:cNvSpPr>
                  <a:spLocks noChangeArrowheads="1"/>
                </p:cNvSpPr>
                <p:nvPr/>
              </p:nvSpPr>
              <p:spPr bwMode="auto">
                <a:xfrm>
                  <a:off x="3838" y="2684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 b="0">
                    <a:latin typeface="Gill Sans MT" pitchFamily="34" charset="0"/>
                  </a:endParaRPr>
                </a:p>
              </p:txBody>
            </p:sp>
            <p:sp>
              <p:nvSpPr>
                <p:cNvPr id="24682" name="Text Box 70"/>
                <p:cNvSpPr txBox="1">
                  <a:spLocks noChangeArrowheads="1"/>
                </p:cNvSpPr>
                <p:nvPr/>
              </p:nvSpPr>
              <p:spPr bwMode="auto">
                <a:xfrm>
                  <a:off x="3915" y="2707"/>
                  <a:ext cx="197" cy="25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b="0" dirty="0">
                      <a:solidFill>
                        <a:schemeClr val="tx1"/>
                      </a:solidFill>
                      <a:latin typeface="Gill Sans MT" pitchFamily="34" charset="0"/>
                    </a:rPr>
                    <a:t>2</a:t>
                  </a:r>
                </a:p>
              </p:txBody>
            </p:sp>
          </p:grpSp>
          <p:grpSp>
            <p:nvGrpSpPr>
              <p:cNvPr id="6" name="Group 71"/>
              <p:cNvGrpSpPr>
                <a:grpSpLocks/>
              </p:cNvGrpSpPr>
              <p:nvPr/>
            </p:nvGrpSpPr>
            <p:grpSpPr bwMode="auto">
              <a:xfrm>
                <a:off x="3882" y="988"/>
                <a:ext cx="350" cy="296"/>
                <a:chOff x="4288" y="3622"/>
                <a:chExt cx="350" cy="296"/>
              </a:xfrm>
            </p:grpSpPr>
            <p:sp>
              <p:nvSpPr>
                <p:cNvPr id="24679" name="Oval 72"/>
                <p:cNvSpPr>
                  <a:spLocks noChangeArrowheads="1"/>
                </p:cNvSpPr>
                <p:nvPr/>
              </p:nvSpPr>
              <p:spPr bwMode="auto">
                <a:xfrm>
                  <a:off x="4288" y="3622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 b="0">
                    <a:latin typeface="Gill Sans MT" pitchFamily="34" charset="0"/>
                  </a:endParaRPr>
                </a:p>
              </p:txBody>
            </p:sp>
            <p:sp>
              <p:nvSpPr>
                <p:cNvPr id="24680" name="Text Box 73"/>
                <p:cNvSpPr txBox="1">
                  <a:spLocks noChangeArrowheads="1"/>
                </p:cNvSpPr>
                <p:nvPr/>
              </p:nvSpPr>
              <p:spPr bwMode="auto">
                <a:xfrm>
                  <a:off x="4365" y="3645"/>
                  <a:ext cx="197" cy="25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b="0" dirty="0">
                      <a:solidFill>
                        <a:schemeClr val="tx1"/>
                      </a:solidFill>
                      <a:latin typeface="Gill Sans MT" pitchFamily="34" charset="0"/>
                    </a:rPr>
                    <a:t>6</a:t>
                  </a:r>
                </a:p>
              </p:txBody>
            </p:sp>
          </p:grpSp>
          <p:sp>
            <p:nvSpPr>
              <p:cNvPr id="24665" name="Line 74"/>
              <p:cNvSpPr>
                <a:spLocks noChangeShapeType="1"/>
              </p:cNvSpPr>
              <p:nvPr/>
            </p:nvSpPr>
            <p:spPr bwMode="auto">
              <a:xfrm flipV="1">
                <a:off x="2809" y="1286"/>
                <a:ext cx="448" cy="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endParaRPr lang="en-US" b="0">
                  <a:latin typeface="Gill Sans MT" pitchFamily="34" charset="0"/>
                </a:endParaRPr>
              </a:p>
            </p:txBody>
          </p:sp>
          <p:sp>
            <p:nvSpPr>
              <p:cNvPr id="24666" name="Line 75"/>
              <p:cNvSpPr>
                <a:spLocks noChangeShapeType="1"/>
              </p:cNvSpPr>
              <p:nvPr/>
            </p:nvSpPr>
            <p:spPr bwMode="auto">
              <a:xfrm>
                <a:off x="842" y="1137"/>
                <a:ext cx="20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endParaRPr lang="en-US" b="0">
                  <a:latin typeface="Gill Sans MT" pitchFamily="34" charset="0"/>
                </a:endParaRPr>
              </a:p>
            </p:txBody>
          </p:sp>
          <p:grpSp>
            <p:nvGrpSpPr>
              <p:cNvPr id="7" name="Group 76"/>
              <p:cNvGrpSpPr>
                <a:grpSpLocks/>
              </p:cNvGrpSpPr>
              <p:nvPr/>
            </p:nvGrpSpPr>
            <p:grpSpPr bwMode="auto">
              <a:xfrm>
                <a:off x="2457" y="1562"/>
                <a:ext cx="350" cy="296"/>
                <a:chOff x="4288" y="1746"/>
                <a:chExt cx="350" cy="296"/>
              </a:xfrm>
            </p:grpSpPr>
            <p:sp>
              <p:nvSpPr>
                <p:cNvPr id="24677" name="Oval 77"/>
                <p:cNvSpPr>
                  <a:spLocks noChangeArrowheads="1"/>
                </p:cNvSpPr>
                <p:nvPr/>
              </p:nvSpPr>
              <p:spPr bwMode="auto">
                <a:xfrm>
                  <a:off x="4288" y="1746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 b="0">
                    <a:latin typeface="Gill Sans MT" pitchFamily="34" charset="0"/>
                  </a:endParaRPr>
                </a:p>
              </p:txBody>
            </p:sp>
            <p:sp>
              <p:nvSpPr>
                <p:cNvPr id="24678" name="Text Box 78"/>
                <p:cNvSpPr txBox="1">
                  <a:spLocks noChangeArrowheads="1"/>
                </p:cNvSpPr>
                <p:nvPr/>
              </p:nvSpPr>
              <p:spPr bwMode="auto">
                <a:xfrm>
                  <a:off x="4364" y="1769"/>
                  <a:ext cx="197" cy="25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pPr algn="r"/>
                  <a:r>
                    <a:rPr lang="en-US" b="0" dirty="0">
                      <a:solidFill>
                        <a:schemeClr val="tx1"/>
                      </a:solidFill>
                      <a:latin typeface="Gill Sans MT" pitchFamily="34" charset="0"/>
                    </a:rPr>
                    <a:t>4</a:t>
                  </a:r>
                </a:p>
              </p:txBody>
            </p:sp>
          </p:grpSp>
          <p:grpSp>
            <p:nvGrpSpPr>
              <p:cNvPr id="8" name="Group 79"/>
              <p:cNvGrpSpPr>
                <a:grpSpLocks/>
              </p:cNvGrpSpPr>
              <p:nvPr/>
            </p:nvGrpSpPr>
            <p:grpSpPr bwMode="auto">
              <a:xfrm>
                <a:off x="3171" y="989"/>
                <a:ext cx="350" cy="296"/>
                <a:chOff x="3838" y="2684"/>
                <a:chExt cx="350" cy="296"/>
              </a:xfrm>
            </p:grpSpPr>
            <p:sp>
              <p:nvSpPr>
                <p:cNvPr id="24675" name="Oval 80"/>
                <p:cNvSpPr>
                  <a:spLocks noChangeArrowheads="1"/>
                </p:cNvSpPr>
                <p:nvPr/>
              </p:nvSpPr>
              <p:spPr bwMode="auto">
                <a:xfrm>
                  <a:off x="3838" y="2684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 b="0">
                    <a:latin typeface="Gill Sans MT" pitchFamily="34" charset="0"/>
                  </a:endParaRPr>
                </a:p>
              </p:txBody>
            </p:sp>
            <p:sp>
              <p:nvSpPr>
                <p:cNvPr id="24676" name="Text Box 81"/>
                <p:cNvSpPr txBox="1">
                  <a:spLocks noChangeArrowheads="1"/>
                </p:cNvSpPr>
                <p:nvPr/>
              </p:nvSpPr>
              <p:spPr bwMode="auto">
                <a:xfrm>
                  <a:off x="3915" y="2707"/>
                  <a:ext cx="197" cy="25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b="0" dirty="0">
                      <a:solidFill>
                        <a:schemeClr val="tx1"/>
                      </a:solidFill>
                      <a:latin typeface="Gill Sans MT" pitchFamily="34" charset="0"/>
                    </a:rPr>
                    <a:t>5</a:t>
                  </a:r>
                </a:p>
              </p:txBody>
            </p:sp>
          </p:grpSp>
          <p:sp>
            <p:nvSpPr>
              <p:cNvPr id="24669" name="Line 82"/>
              <p:cNvSpPr>
                <a:spLocks noChangeShapeType="1"/>
              </p:cNvSpPr>
              <p:nvPr/>
            </p:nvSpPr>
            <p:spPr bwMode="auto">
              <a:xfrm flipH="1">
                <a:off x="2563" y="1283"/>
                <a:ext cx="2" cy="28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endParaRPr lang="en-US" b="0">
                  <a:latin typeface="Gill Sans MT" pitchFamily="34" charset="0"/>
                </a:endParaRPr>
              </a:p>
            </p:txBody>
          </p:sp>
          <p:sp>
            <p:nvSpPr>
              <p:cNvPr id="24670" name="Line 83"/>
              <p:cNvSpPr>
                <a:spLocks noChangeShapeType="1"/>
              </p:cNvSpPr>
              <p:nvPr/>
            </p:nvSpPr>
            <p:spPr bwMode="auto">
              <a:xfrm>
                <a:off x="1400" y="1137"/>
                <a:ext cx="335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endParaRPr lang="en-US" b="0">
                  <a:latin typeface="Gill Sans MT" pitchFamily="34" charset="0"/>
                </a:endParaRPr>
              </a:p>
            </p:txBody>
          </p:sp>
          <p:sp>
            <p:nvSpPr>
              <p:cNvPr id="24671" name="Line 84"/>
              <p:cNvSpPr>
                <a:spLocks noChangeShapeType="1"/>
              </p:cNvSpPr>
              <p:nvPr/>
            </p:nvSpPr>
            <p:spPr bwMode="auto">
              <a:xfrm>
                <a:off x="3532" y="1136"/>
                <a:ext cx="335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endParaRPr lang="en-US" b="0">
                  <a:latin typeface="Gill Sans MT" pitchFamily="34" charset="0"/>
                </a:endParaRPr>
              </a:p>
            </p:txBody>
          </p:sp>
          <p:sp>
            <p:nvSpPr>
              <p:cNvPr id="24672" name="Line 85"/>
              <p:cNvSpPr>
                <a:spLocks noChangeShapeType="1"/>
              </p:cNvSpPr>
              <p:nvPr/>
            </p:nvSpPr>
            <p:spPr bwMode="auto">
              <a:xfrm>
                <a:off x="2814" y="1136"/>
                <a:ext cx="335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endParaRPr lang="en-US" b="0">
                  <a:latin typeface="Gill Sans MT" pitchFamily="34" charset="0"/>
                </a:endParaRPr>
              </a:p>
            </p:txBody>
          </p:sp>
          <p:sp>
            <p:nvSpPr>
              <p:cNvPr id="24673" name="Line 86"/>
              <p:cNvSpPr>
                <a:spLocks noChangeShapeType="1"/>
              </p:cNvSpPr>
              <p:nvPr/>
            </p:nvSpPr>
            <p:spPr bwMode="auto">
              <a:xfrm>
                <a:off x="2111" y="1136"/>
                <a:ext cx="335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endParaRPr lang="en-US" b="0">
                  <a:latin typeface="Gill Sans MT" pitchFamily="34" charset="0"/>
                </a:endParaRPr>
              </a:p>
            </p:txBody>
          </p:sp>
          <p:sp>
            <p:nvSpPr>
              <p:cNvPr id="24674" name="Line 87"/>
              <p:cNvSpPr>
                <a:spLocks noChangeShapeType="1"/>
              </p:cNvSpPr>
              <p:nvPr/>
            </p:nvSpPr>
            <p:spPr bwMode="auto">
              <a:xfrm flipH="1">
                <a:off x="2704" y="1282"/>
                <a:ext cx="2" cy="28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arrow" w="med" len="med"/>
                <a:tailEnd/>
              </a:ln>
            </p:spPr>
            <p:txBody>
              <a:bodyPr/>
              <a:lstStyle/>
              <a:p>
                <a:endParaRPr lang="en-US" b="0">
                  <a:latin typeface="Gill Sans MT" pitchFamily="34" charset="0"/>
                </a:endParaRPr>
              </a:p>
            </p:txBody>
          </p:sp>
        </p:grpSp>
        <p:sp>
          <p:nvSpPr>
            <p:cNvPr id="24660" name="Text Box 115"/>
            <p:cNvSpPr txBox="1">
              <a:spLocks noChangeArrowheads="1"/>
            </p:cNvSpPr>
            <p:nvPr/>
          </p:nvSpPr>
          <p:spPr bwMode="auto">
            <a:xfrm>
              <a:off x="936" y="2189"/>
              <a:ext cx="1159" cy="442"/>
            </a:xfrm>
            <a:prstGeom prst="rect">
              <a:avLst/>
            </a:prstGeom>
            <a:solidFill>
              <a:srgbClr val="0066FF"/>
            </a:solid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>
                  <a:solidFill>
                    <a:schemeClr val="tx1"/>
                  </a:solidFill>
                  <a:latin typeface="Gill Sans MT" pitchFamily="34" charset="0"/>
                </a:rPr>
                <a:t>Touring with a </a:t>
              </a:r>
              <a:r>
                <a:rPr lang="en-US" b="0" u="sng">
                  <a:solidFill>
                    <a:schemeClr val="tx1"/>
                  </a:solidFill>
                  <a:latin typeface="Gill Sans MT" pitchFamily="34" charset="0"/>
                </a:rPr>
                <a:t>sidetrip</a:t>
              </a:r>
            </a:p>
          </p:txBody>
        </p:sp>
      </p:grpSp>
      <p:grpSp>
        <p:nvGrpSpPr>
          <p:cNvPr id="17" name="Group 118"/>
          <p:cNvGrpSpPr>
            <a:grpSpLocks/>
          </p:cNvGrpSpPr>
          <p:nvPr/>
        </p:nvGrpSpPr>
        <p:grpSpPr bwMode="auto">
          <a:xfrm>
            <a:off x="1525588" y="4551363"/>
            <a:ext cx="5737225" cy="1503362"/>
            <a:chOff x="961" y="2867"/>
            <a:chExt cx="3614" cy="947"/>
          </a:xfrm>
        </p:grpSpPr>
        <p:grpSp>
          <p:nvGrpSpPr>
            <p:cNvPr id="24631" name="Group 88"/>
            <p:cNvGrpSpPr>
              <a:grpSpLocks/>
            </p:cNvGrpSpPr>
            <p:nvPr/>
          </p:nvGrpSpPr>
          <p:grpSpPr bwMode="auto">
            <a:xfrm>
              <a:off x="1185" y="2867"/>
              <a:ext cx="3390" cy="870"/>
              <a:chOff x="842" y="988"/>
              <a:chExt cx="3390" cy="870"/>
            </a:xfrm>
          </p:grpSpPr>
          <p:grpSp>
            <p:nvGrpSpPr>
              <p:cNvPr id="24633" name="Group 89"/>
              <p:cNvGrpSpPr>
                <a:grpSpLocks/>
              </p:cNvGrpSpPr>
              <p:nvPr/>
            </p:nvGrpSpPr>
            <p:grpSpPr bwMode="auto">
              <a:xfrm>
                <a:off x="1050" y="989"/>
                <a:ext cx="350" cy="296"/>
                <a:chOff x="4288" y="1746"/>
                <a:chExt cx="350" cy="296"/>
              </a:xfrm>
            </p:grpSpPr>
            <p:sp>
              <p:nvSpPr>
                <p:cNvPr id="24657" name="Oval 90"/>
                <p:cNvSpPr>
                  <a:spLocks noChangeArrowheads="1"/>
                </p:cNvSpPr>
                <p:nvPr/>
              </p:nvSpPr>
              <p:spPr bwMode="auto">
                <a:xfrm>
                  <a:off x="4288" y="1746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 b="0">
                    <a:latin typeface="Gill Sans MT" pitchFamily="34" charset="0"/>
                  </a:endParaRPr>
                </a:p>
              </p:txBody>
            </p:sp>
            <p:sp>
              <p:nvSpPr>
                <p:cNvPr id="24658" name="Text Box 91"/>
                <p:cNvSpPr txBox="1">
                  <a:spLocks noChangeArrowheads="1"/>
                </p:cNvSpPr>
                <p:nvPr/>
              </p:nvSpPr>
              <p:spPr bwMode="auto">
                <a:xfrm>
                  <a:off x="4364" y="1769"/>
                  <a:ext cx="197" cy="25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pPr algn="r"/>
                  <a:r>
                    <a:rPr lang="en-US" b="0" dirty="0">
                      <a:solidFill>
                        <a:schemeClr val="tx1"/>
                      </a:solidFill>
                      <a:latin typeface="Gill Sans MT" pitchFamily="34" charset="0"/>
                    </a:rPr>
                    <a:t>1</a:t>
                  </a:r>
                </a:p>
              </p:txBody>
            </p:sp>
          </p:grpSp>
          <p:grpSp>
            <p:nvGrpSpPr>
              <p:cNvPr id="24634" name="Group 92"/>
              <p:cNvGrpSpPr>
                <a:grpSpLocks/>
              </p:cNvGrpSpPr>
              <p:nvPr/>
            </p:nvGrpSpPr>
            <p:grpSpPr bwMode="auto">
              <a:xfrm>
                <a:off x="2457" y="988"/>
                <a:ext cx="350" cy="296"/>
                <a:chOff x="4738" y="2684"/>
                <a:chExt cx="350" cy="296"/>
              </a:xfrm>
            </p:grpSpPr>
            <p:sp>
              <p:nvSpPr>
                <p:cNvPr id="24655" name="Oval 93"/>
                <p:cNvSpPr>
                  <a:spLocks noChangeArrowheads="1"/>
                </p:cNvSpPr>
                <p:nvPr/>
              </p:nvSpPr>
              <p:spPr bwMode="auto">
                <a:xfrm>
                  <a:off x="4738" y="2684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 b="0">
                    <a:latin typeface="Gill Sans MT" pitchFamily="34" charset="0"/>
                  </a:endParaRPr>
                </a:p>
              </p:txBody>
            </p:sp>
            <p:sp>
              <p:nvSpPr>
                <p:cNvPr id="24656" name="Text Box 94"/>
                <p:cNvSpPr txBox="1">
                  <a:spLocks noChangeArrowheads="1"/>
                </p:cNvSpPr>
                <p:nvPr/>
              </p:nvSpPr>
              <p:spPr bwMode="auto">
                <a:xfrm>
                  <a:off x="4815" y="2707"/>
                  <a:ext cx="197" cy="25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b="0" dirty="0">
                      <a:solidFill>
                        <a:schemeClr val="tx1"/>
                      </a:solidFill>
                      <a:latin typeface="Gill Sans MT" pitchFamily="34" charset="0"/>
                    </a:rPr>
                    <a:t>3</a:t>
                  </a:r>
                </a:p>
              </p:txBody>
            </p:sp>
          </p:grpSp>
          <p:grpSp>
            <p:nvGrpSpPr>
              <p:cNvPr id="24635" name="Group 95"/>
              <p:cNvGrpSpPr>
                <a:grpSpLocks/>
              </p:cNvGrpSpPr>
              <p:nvPr/>
            </p:nvGrpSpPr>
            <p:grpSpPr bwMode="auto">
              <a:xfrm>
                <a:off x="1753" y="989"/>
                <a:ext cx="350" cy="296"/>
                <a:chOff x="3838" y="2684"/>
                <a:chExt cx="350" cy="296"/>
              </a:xfrm>
            </p:grpSpPr>
            <p:sp>
              <p:nvSpPr>
                <p:cNvPr id="24653" name="Oval 96"/>
                <p:cNvSpPr>
                  <a:spLocks noChangeArrowheads="1"/>
                </p:cNvSpPr>
                <p:nvPr/>
              </p:nvSpPr>
              <p:spPr bwMode="auto">
                <a:xfrm>
                  <a:off x="3838" y="2684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 b="0">
                    <a:latin typeface="Gill Sans MT" pitchFamily="34" charset="0"/>
                  </a:endParaRPr>
                </a:p>
              </p:txBody>
            </p:sp>
            <p:sp>
              <p:nvSpPr>
                <p:cNvPr id="24654" name="Text Box 97"/>
                <p:cNvSpPr txBox="1">
                  <a:spLocks noChangeArrowheads="1"/>
                </p:cNvSpPr>
                <p:nvPr/>
              </p:nvSpPr>
              <p:spPr bwMode="auto">
                <a:xfrm>
                  <a:off x="3915" y="2707"/>
                  <a:ext cx="197" cy="25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b="0" dirty="0">
                      <a:solidFill>
                        <a:schemeClr val="tx1"/>
                      </a:solidFill>
                      <a:latin typeface="Gill Sans MT" pitchFamily="34" charset="0"/>
                    </a:rPr>
                    <a:t>2</a:t>
                  </a:r>
                </a:p>
              </p:txBody>
            </p:sp>
          </p:grpSp>
          <p:grpSp>
            <p:nvGrpSpPr>
              <p:cNvPr id="24636" name="Group 98"/>
              <p:cNvGrpSpPr>
                <a:grpSpLocks/>
              </p:cNvGrpSpPr>
              <p:nvPr/>
            </p:nvGrpSpPr>
            <p:grpSpPr bwMode="auto">
              <a:xfrm>
                <a:off x="3882" y="988"/>
                <a:ext cx="350" cy="296"/>
                <a:chOff x="4288" y="3622"/>
                <a:chExt cx="350" cy="296"/>
              </a:xfrm>
            </p:grpSpPr>
            <p:sp>
              <p:nvSpPr>
                <p:cNvPr id="24651" name="Oval 99"/>
                <p:cNvSpPr>
                  <a:spLocks noChangeArrowheads="1"/>
                </p:cNvSpPr>
                <p:nvPr/>
              </p:nvSpPr>
              <p:spPr bwMode="auto">
                <a:xfrm>
                  <a:off x="4288" y="3622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 b="0">
                    <a:latin typeface="Gill Sans MT" pitchFamily="34" charset="0"/>
                  </a:endParaRPr>
                </a:p>
              </p:txBody>
            </p:sp>
            <p:sp>
              <p:nvSpPr>
                <p:cNvPr id="24652" name="Text Box 100"/>
                <p:cNvSpPr txBox="1">
                  <a:spLocks noChangeArrowheads="1"/>
                </p:cNvSpPr>
                <p:nvPr/>
              </p:nvSpPr>
              <p:spPr bwMode="auto">
                <a:xfrm>
                  <a:off x="4365" y="3645"/>
                  <a:ext cx="197" cy="25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b="0" dirty="0">
                      <a:solidFill>
                        <a:schemeClr val="tx1"/>
                      </a:solidFill>
                      <a:latin typeface="Gill Sans MT" pitchFamily="34" charset="0"/>
                    </a:rPr>
                    <a:t>6</a:t>
                  </a:r>
                </a:p>
              </p:txBody>
            </p:sp>
          </p:grpSp>
          <p:sp>
            <p:nvSpPr>
              <p:cNvPr id="24637" name="Line 101"/>
              <p:cNvSpPr>
                <a:spLocks noChangeShapeType="1"/>
              </p:cNvSpPr>
              <p:nvPr/>
            </p:nvSpPr>
            <p:spPr bwMode="auto">
              <a:xfrm flipV="1">
                <a:off x="2809" y="1286"/>
                <a:ext cx="448" cy="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endParaRPr lang="en-US" b="0">
                  <a:latin typeface="Gill Sans MT" pitchFamily="34" charset="0"/>
                </a:endParaRPr>
              </a:p>
            </p:txBody>
          </p:sp>
          <p:sp>
            <p:nvSpPr>
              <p:cNvPr id="24638" name="Line 102"/>
              <p:cNvSpPr>
                <a:spLocks noChangeShapeType="1"/>
              </p:cNvSpPr>
              <p:nvPr/>
            </p:nvSpPr>
            <p:spPr bwMode="auto">
              <a:xfrm>
                <a:off x="842" y="1137"/>
                <a:ext cx="20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endParaRPr lang="en-US" b="0">
                  <a:latin typeface="Gill Sans MT" pitchFamily="34" charset="0"/>
                </a:endParaRPr>
              </a:p>
            </p:txBody>
          </p:sp>
          <p:grpSp>
            <p:nvGrpSpPr>
              <p:cNvPr id="24639" name="Group 103"/>
              <p:cNvGrpSpPr>
                <a:grpSpLocks/>
              </p:cNvGrpSpPr>
              <p:nvPr/>
            </p:nvGrpSpPr>
            <p:grpSpPr bwMode="auto">
              <a:xfrm>
                <a:off x="2457" y="1562"/>
                <a:ext cx="350" cy="296"/>
                <a:chOff x="4288" y="1746"/>
                <a:chExt cx="350" cy="296"/>
              </a:xfrm>
            </p:grpSpPr>
            <p:sp>
              <p:nvSpPr>
                <p:cNvPr id="24649" name="Oval 104"/>
                <p:cNvSpPr>
                  <a:spLocks noChangeArrowheads="1"/>
                </p:cNvSpPr>
                <p:nvPr/>
              </p:nvSpPr>
              <p:spPr bwMode="auto">
                <a:xfrm>
                  <a:off x="4288" y="1746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 b="0">
                    <a:latin typeface="Gill Sans MT" pitchFamily="34" charset="0"/>
                  </a:endParaRPr>
                </a:p>
              </p:txBody>
            </p:sp>
            <p:sp>
              <p:nvSpPr>
                <p:cNvPr id="24650" name="Text Box 105"/>
                <p:cNvSpPr txBox="1">
                  <a:spLocks noChangeArrowheads="1"/>
                </p:cNvSpPr>
                <p:nvPr/>
              </p:nvSpPr>
              <p:spPr bwMode="auto">
                <a:xfrm>
                  <a:off x="4364" y="1769"/>
                  <a:ext cx="197" cy="25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pPr algn="r"/>
                  <a:r>
                    <a:rPr lang="en-US" b="0" dirty="0">
                      <a:solidFill>
                        <a:schemeClr val="tx1"/>
                      </a:solidFill>
                      <a:latin typeface="Gill Sans MT" pitchFamily="34" charset="0"/>
                    </a:rPr>
                    <a:t>4</a:t>
                  </a:r>
                </a:p>
              </p:txBody>
            </p:sp>
          </p:grpSp>
          <p:grpSp>
            <p:nvGrpSpPr>
              <p:cNvPr id="10" name="Group 106"/>
              <p:cNvGrpSpPr>
                <a:grpSpLocks/>
              </p:cNvGrpSpPr>
              <p:nvPr/>
            </p:nvGrpSpPr>
            <p:grpSpPr bwMode="auto">
              <a:xfrm>
                <a:off x="3171" y="989"/>
                <a:ext cx="350" cy="296"/>
                <a:chOff x="3838" y="2684"/>
                <a:chExt cx="350" cy="296"/>
              </a:xfrm>
            </p:grpSpPr>
            <p:sp>
              <p:nvSpPr>
                <p:cNvPr id="24647" name="Oval 107"/>
                <p:cNvSpPr>
                  <a:spLocks noChangeArrowheads="1"/>
                </p:cNvSpPr>
                <p:nvPr/>
              </p:nvSpPr>
              <p:spPr bwMode="auto">
                <a:xfrm>
                  <a:off x="3838" y="2684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 b="0">
                    <a:latin typeface="Gill Sans MT" pitchFamily="34" charset="0"/>
                  </a:endParaRPr>
                </a:p>
              </p:txBody>
            </p:sp>
            <p:sp>
              <p:nvSpPr>
                <p:cNvPr id="24648" name="Text Box 108"/>
                <p:cNvSpPr txBox="1">
                  <a:spLocks noChangeArrowheads="1"/>
                </p:cNvSpPr>
                <p:nvPr/>
              </p:nvSpPr>
              <p:spPr bwMode="auto">
                <a:xfrm>
                  <a:off x="3915" y="2707"/>
                  <a:ext cx="197" cy="25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b="0" dirty="0">
                      <a:solidFill>
                        <a:schemeClr val="tx1"/>
                      </a:solidFill>
                      <a:latin typeface="Gill Sans MT" pitchFamily="34" charset="0"/>
                    </a:rPr>
                    <a:t>5</a:t>
                  </a:r>
                </a:p>
              </p:txBody>
            </p:sp>
          </p:grpSp>
          <p:sp>
            <p:nvSpPr>
              <p:cNvPr id="24641" name="Line 109"/>
              <p:cNvSpPr>
                <a:spLocks noChangeShapeType="1"/>
              </p:cNvSpPr>
              <p:nvPr/>
            </p:nvSpPr>
            <p:spPr bwMode="auto">
              <a:xfrm flipH="1">
                <a:off x="2563" y="1283"/>
                <a:ext cx="2" cy="28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endParaRPr lang="en-US" b="0">
                  <a:latin typeface="Gill Sans MT" pitchFamily="34" charset="0"/>
                </a:endParaRPr>
              </a:p>
            </p:txBody>
          </p:sp>
          <p:sp>
            <p:nvSpPr>
              <p:cNvPr id="24642" name="Line 110"/>
              <p:cNvSpPr>
                <a:spLocks noChangeShapeType="1"/>
              </p:cNvSpPr>
              <p:nvPr/>
            </p:nvSpPr>
            <p:spPr bwMode="auto">
              <a:xfrm>
                <a:off x="1400" y="1137"/>
                <a:ext cx="335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endParaRPr lang="en-US" b="0">
                  <a:latin typeface="Gill Sans MT" pitchFamily="34" charset="0"/>
                </a:endParaRPr>
              </a:p>
            </p:txBody>
          </p:sp>
          <p:sp>
            <p:nvSpPr>
              <p:cNvPr id="24643" name="Line 111"/>
              <p:cNvSpPr>
                <a:spLocks noChangeShapeType="1"/>
              </p:cNvSpPr>
              <p:nvPr/>
            </p:nvSpPr>
            <p:spPr bwMode="auto">
              <a:xfrm>
                <a:off x="3532" y="1136"/>
                <a:ext cx="335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endParaRPr lang="en-US" b="0">
                  <a:latin typeface="Gill Sans MT" pitchFamily="34" charset="0"/>
                </a:endParaRPr>
              </a:p>
            </p:txBody>
          </p:sp>
          <p:sp>
            <p:nvSpPr>
              <p:cNvPr id="24644" name="Line 112"/>
              <p:cNvSpPr>
                <a:spLocks noChangeShapeType="1"/>
              </p:cNvSpPr>
              <p:nvPr/>
            </p:nvSpPr>
            <p:spPr bwMode="auto">
              <a:xfrm>
                <a:off x="2814" y="1136"/>
                <a:ext cx="335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endParaRPr lang="en-US" b="0">
                  <a:latin typeface="Gill Sans MT" pitchFamily="34" charset="0"/>
                </a:endParaRPr>
              </a:p>
            </p:txBody>
          </p:sp>
          <p:sp>
            <p:nvSpPr>
              <p:cNvPr id="24645" name="Line 113"/>
              <p:cNvSpPr>
                <a:spLocks noChangeShapeType="1"/>
              </p:cNvSpPr>
              <p:nvPr/>
            </p:nvSpPr>
            <p:spPr bwMode="auto">
              <a:xfrm>
                <a:off x="2111" y="1136"/>
                <a:ext cx="335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endParaRPr lang="en-US" b="0">
                  <a:latin typeface="Gill Sans MT" pitchFamily="34" charset="0"/>
                </a:endParaRPr>
              </a:p>
            </p:txBody>
          </p:sp>
          <p:sp>
            <p:nvSpPr>
              <p:cNvPr id="24646" name="Line 114"/>
              <p:cNvSpPr>
                <a:spLocks noChangeShapeType="1"/>
              </p:cNvSpPr>
              <p:nvPr/>
            </p:nvSpPr>
            <p:spPr bwMode="auto">
              <a:xfrm flipH="1">
                <a:off x="2704" y="1282"/>
                <a:ext cx="2" cy="28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arrow" w="med" len="med"/>
                <a:tailEnd/>
              </a:ln>
            </p:spPr>
            <p:txBody>
              <a:bodyPr/>
              <a:lstStyle/>
              <a:p>
                <a:endParaRPr lang="en-US" b="0">
                  <a:latin typeface="Gill Sans MT" pitchFamily="34" charset="0"/>
                </a:endParaRPr>
              </a:p>
            </p:txBody>
          </p:sp>
        </p:grpSp>
        <p:sp>
          <p:nvSpPr>
            <p:cNvPr id="24632" name="Text Box 116"/>
            <p:cNvSpPr txBox="1">
              <a:spLocks noChangeArrowheads="1"/>
            </p:cNvSpPr>
            <p:nvPr/>
          </p:nvSpPr>
          <p:spPr bwMode="auto">
            <a:xfrm>
              <a:off x="961" y="3372"/>
              <a:ext cx="1159" cy="442"/>
            </a:xfrm>
            <a:prstGeom prst="rect">
              <a:avLst/>
            </a:prstGeom>
            <a:solidFill>
              <a:srgbClr val="0066FF"/>
            </a:solid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>
                  <a:solidFill>
                    <a:schemeClr val="tx1"/>
                  </a:solidFill>
                  <a:latin typeface="Gill Sans MT" pitchFamily="34" charset="0"/>
                </a:rPr>
                <a:t>Touring with a </a:t>
              </a:r>
              <a:r>
                <a:rPr lang="en-US" b="0" u="sng">
                  <a:solidFill>
                    <a:schemeClr val="tx1"/>
                  </a:solidFill>
                  <a:latin typeface="Gill Sans MT" pitchFamily="34" charset="0"/>
                </a:rPr>
                <a:t>detour</a:t>
              </a:r>
            </a:p>
          </p:txBody>
        </p:sp>
      </p:grpSp>
      <p:grpSp>
        <p:nvGrpSpPr>
          <p:cNvPr id="25" name="Group 121"/>
          <p:cNvGrpSpPr>
            <a:grpSpLocks/>
          </p:cNvGrpSpPr>
          <p:nvPr/>
        </p:nvGrpSpPr>
        <p:grpSpPr bwMode="auto">
          <a:xfrm>
            <a:off x="2805113" y="2555875"/>
            <a:ext cx="477837" cy="396875"/>
            <a:chOff x="1767" y="1612"/>
            <a:chExt cx="301" cy="250"/>
          </a:xfrm>
        </p:grpSpPr>
        <p:sp>
          <p:nvSpPr>
            <p:cNvPr id="24629" name="Line 119"/>
            <p:cNvSpPr>
              <a:spLocks noChangeShapeType="1"/>
            </p:cNvSpPr>
            <p:nvPr/>
          </p:nvSpPr>
          <p:spPr bwMode="auto">
            <a:xfrm>
              <a:off x="1767" y="1830"/>
              <a:ext cx="301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24630" name="Text Box 120"/>
            <p:cNvSpPr txBox="1">
              <a:spLocks noChangeArrowheads="1"/>
            </p:cNvSpPr>
            <p:nvPr/>
          </p:nvSpPr>
          <p:spPr bwMode="auto">
            <a:xfrm>
              <a:off x="1805" y="1612"/>
              <a:ext cx="224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solidFill>
                    <a:schemeClr val="hlink"/>
                  </a:solidFill>
                  <a:latin typeface="Gill Sans MT" pitchFamily="34" charset="0"/>
                </a:rPr>
                <a:t>1</a:t>
              </a:r>
            </a:p>
          </p:txBody>
        </p:sp>
      </p:grpSp>
      <p:grpSp>
        <p:nvGrpSpPr>
          <p:cNvPr id="26" name="Group 122"/>
          <p:cNvGrpSpPr>
            <a:grpSpLocks/>
          </p:cNvGrpSpPr>
          <p:nvPr/>
        </p:nvGrpSpPr>
        <p:grpSpPr bwMode="auto">
          <a:xfrm>
            <a:off x="3910013" y="2555875"/>
            <a:ext cx="477837" cy="396875"/>
            <a:chOff x="1767" y="1612"/>
            <a:chExt cx="301" cy="250"/>
          </a:xfrm>
        </p:grpSpPr>
        <p:sp>
          <p:nvSpPr>
            <p:cNvPr id="24627" name="Line 123"/>
            <p:cNvSpPr>
              <a:spLocks noChangeShapeType="1"/>
            </p:cNvSpPr>
            <p:nvPr/>
          </p:nvSpPr>
          <p:spPr bwMode="auto">
            <a:xfrm>
              <a:off x="1767" y="1830"/>
              <a:ext cx="301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24628" name="Text Box 124"/>
            <p:cNvSpPr txBox="1">
              <a:spLocks noChangeArrowheads="1"/>
            </p:cNvSpPr>
            <p:nvPr/>
          </p:nvSpPr>
          <p:spPr bwMode="auto">
            <a:xfrm>
              <a:off x="1805" y="1612"/>
              <a:ext cx="224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solidFill>
                    <a:schemeClr val="hlink"/>
                  </a:solidFill>
                  <a:latin typeface="Gill Sans MT" pitchFamily="34" charset="0"/>
                </a:rPr>
                <a:t>2</a:t>
              </a:r>
            </a:p>
          </p:txBody>
        </p:sp>
      </p:grpSp>
      <p:grpSp>
        <p:nvGrpSpPr>
          <p:cNvPr id="27" name="Group 125"/>
          <p:cNvGrpSpPr>
            <a:grpSpLocks/>
          </p:cNvGrpSpPr>
          <p:nvPr/>
        </p:nvGrpSpPr>
        <p:grpSpPr bwMode="auto">
          <a:xfrm>
            <a:off x="5029200" y="2555875"/>
            <a:ext cx="477838" cy="396875"/>
            <a:chOff x="1767" y="1612"/>
            <a:chExt cx="301" cy="250"/>
          </a:xfrm>
        </p:grpSpPr>
        <p:sp>
          <p:nvSpPr>
            <p:cNvPr id="24625" name="Line 126"/>
            <p:cNvSpPr>
              <a:spLocks noChangeShapeType="1"/>
            </p:cNvSpPr>
            <p:nvPr/>
          </p:nvSpPr>
          <p:spPr bwMode="auto">
            <a:xfrm>
              <a:off x="1767" y="1830"/>
              <a:ext cx="301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24626" name="Text Box 127"/>
            <p:cNvSpPr txBox="1">
              <a:spLocks noChangeArrowheads="1"/>
            </p:cNvSpPr>
            <p:nvPr/>
          </p:nvSpPr>
          <p:spPr bwMode="auto">
            <a:xfrm>
              <a:off x="1805" y="1612"/>
              <a:ext cx="224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solidFill>
                    <a:schemeClr val="hlink"/>
                  </a:solidFill>
                  <a:latin typeface="Gill Sans MT" pitchFamily="34" charset="0"/>
                </a:rPr>
                <a:t>5</a:t>
              </a:r>
            </a:p>
          </p:txBody>
        </p:sp>
      </p:grpSp>
      <p:grpSp>
        <p:nvGrpSpPr>
          <p:cNvPr id="28" name="Group 128"/>
          <p:cNvGrpSpPr>
            <a:grpSpLocks/>
          </p:cNvGrpSpPr>
          <p:nvPr/>
        </p:nvGrpSpPr>
        <p:grpSpPr bwMode="auto">
          <a:xfrm>
            <a:off x="6157913" y="2555875"/>
            <a:ext cx="477837" cy="396875"/>
            <a:chOff x="1767" y="1612"/>
            <a:chExt cx="301" cy="250"/>
          </a:xfrm>
        </p:grpSpPr>
        <p:sp>
          <p:nvSpPr>
            <p:cNvPr id="24623" name="Line 129"/>
            <p:cNvSpPr>
              <a:spLocks noChangeShapeType="1"/>
            </p:cNvSpPr>
            <p:nvPr/>
          </p:nvSpPr>
          <p:spPr bwMode="auto">
            <a:xfrm>
              <a:off x="1767" y="1830"/>
              <a:ext cx="301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24624" name="Text Box 130"/>
            <p:cNvSpPr txBox="1">
              <a:spLocks noChangeArrowheads="1"/>
            </p:cNvSpPr>
            <p:nvPr/>
          </p:nvSpPr>
          <p:spPr bwMode="auto">
            <a:xfrm>
              <a:off x="1805" y="1612"/>
              <a:ext cx="224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solidFill>
                    <a:schemeClr val="hlink"/>
                  </a:solidFill>
                  <a:latin typeface="Gill Sans MT" pitchFamily="34" charset="0"/>
                </a:rPr>
                <a:t>6</a:t>
              </a:r>
            </a:p>
          </p:txBody>
        </p:sp>
      </p:grpSp>
      <p:grpSp>
        <p:nvGrpSpPr>
          <p:cNvPr id="29" name="Group 136"/>
          <p:cNvGrpSpPr>
            <a:grpSpLocks/>
          </p:cNvGrpSpPr>
          <p:nvPr/>
        </p:nvGrpSpPr>
        <p:grpSpPr bwMode="auto">
          <a:xfrm>
            <a:off x="4157663" y="3225800"/>
            <a:ext cx="355600" cy="477838"/>
            <a:chOff x="4922" y="2173"/>
            <a:chExt cx="224" cy="301"/>
          </a:xfrm>
        </p:grpSpPr>
        <p:sp>
          <p:nvSpPr>
            <p:cNvPr id="24621" name="Line 132"/>
            <p:cNvSpPr>
              <a:spLocks noChangeShapeType="1"/>
            </p:cNvSpPr>
            <p:nvPr/>
          </p:nvSpPr>
          <p:spPr bwMode="auto">
            <a:xfrm rot="5286189">
              <a:off x="4968" y="2323"/>
              <a:ext cx="301" cy="1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24622" name="Text Box 133"/>
            <p:cNvSpPr txBox="1">
              <a:spLocks noChangeArrowheads="1"/>
            </p:cNvSpPr>
            <p:nvPr/>
          </p:nvSpPr>
          <p:spPr bwMode="auto">
            <a:xfrm>
              <a:off x="4922" y="2197"/>
              <a:ext cx="224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solidFill>
                    <a:schemeClr val="hlink"/>
                  </a:solidFill>
                  <a:latin typeface="Gill Sans MT" pitchFamily="34" charset="0"/>
                </a:rPr>
                <a:t>3</a:t>
              </a:r>
            </a:p>
          </p:txBody>
        </p:sp>
      </p:grpSp>
      <p:grpSp>
        <p:nvGrpSpPr>
          <p:cNvPr id="30" name="Group 137"/>
          <p:cNvGrpSpPr>
            <a:grpSpLocks/>
          </p:cNvGrpSpPr>
          <p:nvPr/>
        </p:nvGrpSpPr>
        <p:grpSpPr bwMode="auto">
          <a:xfrm>
            <a:off x="4805363" y="3227388"/>
            <a:ext cx="355600" cy="477837"/>
            <a:chOff x="5204" y="2698"/>
            <a:chExt cx="224" cy="301"/>
          </a:xfrm>
        </p:grpSpPr>
        <p:sp>
          <p:nvSpPr>
            <p:cNvPr id="24619" name="Line 134"/>
            <p:cNvSpPr>
              <a:spLocks noChangeShapeType="1"/>
            </p:cNvSpPr>
            <p:nvPr/>
          </p:nvSpPr>
          <p:spPr bwMode="auto">
            <a:xfrm rot="5286189">
              <a:off x="5251" y="2846"/>
              <a:ext cx="301" cy="6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 type="triangl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24620" name="Text Box 135"/>
            <p:cNvSpPr txBox="1">
              <a:spLocks noChangeArrowheads="1"/>
            </p:cNvSpPr>
            <p:nvPr/>
          </p:nvSpPr>
          <p:spPr bwMode="auto">
            <a:xfrm>
              <a:off x="5204" y="2722"/>
              <a:ext cx="224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solidFill>
                    <a:schemeClr val="hlink"/>
                  </a:solidFill>
                  <a:latin typeface="Gill Sans MT" pitchFamily="34" charset="0"/>
                </a:rPr>
                <a:t>4</a:t>
              </a:r>
            </a:p>
          </p:txBody>
        </p:sp>
      </p:grpSp>
      <p:grpSp>
        <p:nvGrpSpPr>
          <p:cNvPr id="31" name="Group 138"/>
          <p:cNvGrpSpPr>
            <a:grpSpLocks/>
          </p:cNvGrpSpPr>
          <p:nvPr/>
        </p:nvGrpSpPr>
        <p:grpSpPr bwMode="auto">
          <a:xfrm>
            <a:off x="2782888" y="4305300"/>
            <a:ext cx="477837" cy="396875"/>
            <a:chOff x="1767" y="1612"/>
            <a:chExt cx="301" cy="250"/>
          </a:xfrm>
        </p:grpSpPr>
        <p:sp>
          <p:nvSpPr>
            <p:cNvPr id="24617" name="Line 139"/>
            <p:cNvSpPr>
              <a:spLocks noChangeShapeType="1"/>
            </p:cNvSpPr>
            <p:nvPr/>
          </p:nvSpPr>
          <p:spPr bwMode="auto">
            <a:xfrm>
              <a:off x="1767" y="1830"/>
              <a:ext cx="301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24618" name="Text Box 140"/>
            <p:cNvSpPr txBox="1">
              <a:spLocks noChangeArrowheads="1"/>
            </p:cNvSpPr>
            <p:nvPr/>
          </p:nvSpPr>
          <p:spPr bwMode="auto">
            <a:xfrm>
              <a:off x="1805" y="1612"/>
              <a:ext cx="224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solidFill>
                    <a:schemeClr val="hlink"/>
                  </a:solidFill>
                  <a:latin typeface="Gill Sans MT" pitchFamily="34" charset="0"/>
                </a:rPr>
                <a:t>1</a:t>
              </a:r>
            </a:p>
          </p:txBody>
        </p:sp>
      </p:grpSp>
      <p:grpSp>
        <p:nvGrpSpPr>
          <p:cNvPr id="24640" name="Group 141"/>
          <p:cNvGrpSpPr>
            <a:grpSpLocks/>
          </p:cNvGrpSpPr>
          <p:nvPr/>
        </p:nvGrpSpPr>
        <p:grpSpPr bwMode="auto">
          <a:xfrm>
            <a:off x="3887788" y="4305300"/>
            <a:ext cx="477837" cy="396875"/>
            <a:chOff x="1767" y="1612"/>
            <a:chExt cx="301" cy="250"/>
          </a:xfrm>
        </p:grpSpPr>
        <p:sp>
          <p:nvSpPr>
            <p:cNvPr id="24615" name="Line 142"/>
            <p:cNvSpPr>
              <a:spLocks noChangeShapeType="1"/>
            </p:cNvSpPr>
            <p:nvPr/>
          </p:nvSpPr>
          <p:spPr bwMode="auto">
            <a:xfrm>
              <a:off x="1767" y="1830"/>
              <a:ext cx="301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24616" name="Text Box 143"/>
            <p:cNvSpPr txBox="1">
              <a:spLocks noChangeArrowheads="1"/>
            </p:cNvSpPr>
            <p:nvPr/>
          </p:nvSpPr>
          <p:spPr bwMode="auto">
            <a:xfrm>
              <a:off x="1805" y="1612"/>
              <a:ext cx="224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solidFill>
                    <a:schemeClr val="hlink"/>
                  </a:solidFill>
                  <a:latin typeface="Gill Sans MT" pitchFamily="34" charset="0"/>
                </a:rPr>
                <a:t>2</a:t>
              </a:r>
            </a:p>
          </p:txBody>
        </p:sp>
      </p:grpSp>
      <p:grpSp>
        <p:nvGrpSpPr>
          <p:cNvPr id="24659" name="Group 147"/>
          <p:cNvGrpSpPr>
            <a:grpSpLocks/>
          </p:cNvGrpSpPr>
          <p:nvPr/>
        </p:nvGrpSpPr>
        <p:grpSpPr bwMode="auto">
          <a:xfrm>
            <a:off x="6135688" y="4305300"/>
            <a:ext cx="477837" cy="396875"/>
            <a:chOff x="1767" y="1612"/>
            <a:chExt cx="301" cy="250"/>
          </a:xfrm>
        </p:grpSpPr>
        <p:sp>
          <p:nvSpPr>
            <p:cNvPr id="24613" name="Line 148"/>
            <p:cNvSpPr>
              <a:spLocks noChangeShapeType="1"/>
            </p:cNvSpPr>
            <p:nvPr/>
          </p:nvSpPr>
          <p:spPr bwMode="auto">
            <a:xfrm>
              <a:off x="1767" y="1830"/>
              <a:ext cx="301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24614" name="Text Box 149"/>
            <p:cNvSpPr txBox="1">
              <a:spLocks noChangeArrowheads="1"/>
            </p:cNvSpPr>
            <p:nvPr/>
          </p:nvSpPr>
          <p:spPr bwMode="auto">
            <a:xfrm>
              <a:off x="1805" y="1612"/>
              <a:ext cx="224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solidFill>
                    <a:schemeClr val="hlink"/>
                  </a:solidFill>
                  <a:latin typeface="Gill Sans MT" pitchFamily="34" charset="0"/>
                </a:rPr>
                <a:t>5</a:t>
              </a:r>
            </a:p>
          </p:txBody>
        </p:sp>
      </p:grpSp>
      <p:grpSp>
        <p:nvGrpSpPr>
          <p:cNvPr id="24661" name="Group 150"/>
          <p:cNvGrpSpPr>
            <a:grpSpLocks/>
          </p:cNvGrpSpPr>
          <p:nvPr/>
        </p:nvGrpSpPr>
        <p:grpSpPr bwMode="auto">
          <a:xfrm>
            <a:off x="4167188" y="4973638"/>
            <a:ext cx="355600" cy="477837"/>
            <a:chOff x="4922" y="2173"/>
            <a:chExt cx="224" cy="301"/>
          </a:xfrm>
        </p:grpSpPr>
        <p:sp>
          <p:nvSpPr>
            <p:cNvPr id="24611" name="Line 151"/>
            <p:cNvSpPr>
              <a:spLocks noChangeShapeType="1"/>
            </p:cNvSpPr>
            <p:nvPr/>
          </p:nvSpPr>
          <p:spPr bwMode="auto">
            <a:xfrm rot="5286189">
              <a:off x="4968" y="2323"/>
              <a:ext cx="301" cy="1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24612" name="Text Box 152"/>
            <p:cNvSpPr txBox="1">
              <a:spLocks noChangeArrowheads="1"/>
            </p:cNvSpPr>
            <p:nvPr/>
          </p:nvSpPr>
          <p:spPr bwMode="auto">
            <a:xfrm>
              <a:off x="4922" y="2197"/>
              <a:ext cx="224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solidFill>
                    <a:schemeClr val="hlink"/>
                  </a:solidFill>
                  <a:latin typeface="Gill Sans MT" pitchFamily="34" charset="0"/>
                </a:rPr>
                <a:t>3</a:t>
              </a:r>
            </a:p>
          </p:txBody>
        </p:sp>
      </p:grpSp>
      <p:grpSp>
        <p:nvGrpSpPr>
          <p:cNvPr id="24662" name="Group 156"/>
          <p:cNvGrpSpPr>
            <a:grpSpLocks/>
          </p:cNvGrpSpPr>
          <p:nvPr/>
        </p:nvGrpSpPr>
        <p:grpSpPr bwMode="auto">
          <a:xfrm>
            <a:off x="5232400" y="5262563"/>
            <a:ext cx="473075" cy="450850"/>
            <a:chOff x="3296" y="3315"/>
            <a:chExt cx="298" cy="284"/>
          </a:xfrm>
        </p:grpSpPr>
        <p:sp>
          <p:nvSpPr>
            <p:cNvPr id="24609" name="Line 154"/>
            <p:cNvSpPr>
              <a:spLocks noChangeShapeType="1"/>
            </p:cNvSpPr>
            <p:nvPr/>
          </p:nvSpPr>
          <p:spPr bwMode="auto">
            <a:xfrm rot="5286189">
              <a:off x="3309" y="3302"/>
              <a:ext cx="228" cy="253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 type="triangl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24610" name="Text Box 155"/>
            <p:cNvSpPr txBox="1">
              <a:spLocks noChangeArrowheads="1"/>
            </p:cNvSpPr>
            <p:nvPr/>
          </p:nvSpPr>
          <p:spPr bwMode="auto">
            <a:xfrm>
              <a:off x="3370" y="3349"/>
              <a:ext cx="224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solidFill>
                    <a:schemeClr val="hlink"/>
                  </a:solidFill>
                  <a:latin typeface="Gill Sans MT" pitchFamily="34" charset="0"/>
                </a:rPr>
                <a:t>4</a:t>
              </a:r>
            </a:p>
          </p:txBody>
        </p:sp>
      </p:grpSp>
      <p:grpSp>
        <p:nvGrpSpPr>
          <p:cNvPr id="24663" name="Group 169"/>
          <p:cNvGrpSpPr>
            <a:grpSpLocks/>
          </p:cNvGrpSpPr>
          <p:nvPr/>
        </p:nvGrpSpPr>
        <p:grpSpPr bwMode="auto">
          <a:xfrm>
            <a:off x="2786063" y="835025"/>
            <a:ext cx="477837" cy="396875"/>
            <a:chOff x="1767" y="1612"/>
            <a:chExt cx="301" cy="250"/>
          </a:xfrm>
        </p:grpSpPr>
        <p:sp>
          <p:nvSpPr>
            <p:cNvPr id="24607" name="Line 170"/>
            <p:cNvSpPr>
              <a:spLocks noChangeShapeType="1"/>
            </p:cNvSpPr>
            <p:nvPr/>
          </p:nvSpPr>
          <p:spPr bwMode="auto">
            <a:xfrm>
              <a:off x="1767" y="1830"/>
              <a:ext cx="301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608" name="Text Box 171"/>
            <p:cNvSpPr txBox="1">
              <a:spLocks noChangeArrowheads="1"/>
            </p:cNvSpPr>
            <p:nvPr/>
          </p:nvSpPr>
          <p:spPr bwMode="auto">
            <a:xfrm>
              <a:off x="1805" y="1612"/>
              <a:ext cx="224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solidFill>
                    <a:schemeClr val="hlink"/>
                  </a:solidFill>
                </a:rPr>
                <a:t>1</a:t>
              </a:r>
            </a:p>
          </p:txBody>
        </p:sp>
      </p:grpSp>
      <p:grpSp>
        <p:nvGrpSpPr>
          <p:cNvPr id="24664" name="Group 172"/>
          <p:cNvGrpSpPr>
            <a:grpSpLocks/>
          </p:cNvGrpSpPr>
          <p:nvPr/>
        </p:nvGrpSpPr>
        <p:grpSpPr bwMode="auto">
          <a:xfrm>
            <a:off x="3890963" y="835025"/>
            <a:ext cx="477837" cy="396875"/>
            <a:chOff x="1767" y="1612"/>
            <a:chExt cx="301" cy="250"/>
          </a:xfrm>
        </p:grpSpPr>
        <p:sp>
          <p:nvSpPr>
            <p:cNvPr id="24605" name="Line 173"/>
            <p:cNvSpPr>
              <a:spLocks noChangeShapeType="1"/>
            </p:cNvSpPr>
            <p:nvPr/>
          </p:nvSpPr>
          <p:spPr bwMode="auto">
            <a:xfrm>
              <a:off x="1767" y="1830"/>
              <a:ext cx="301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606" name="Text Box 174"/>
            <p:cNvSpPr txBox="1">
              <a:spLocks noChangeArrowheads="1"/>
            </p:cNvSpPr>
            <p:nvPr/>
          </p:nvSpPr>
          <p:spPr bwMode="auto">
            <a:xfrm>
              <a:off x="1805" y="1612"/>
              <a:ext cx="224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solidFill>
                    <a:schemeClr val="hlink"/>
                  </a:solidFill>
                </a:rPr>
                <a:t>2</a:t>
              </a:r>
            </a:p>
          </p:txBody>
        </p:sp>
      </p:grpSp>
      <p:grpSp>
        <p:nvGrpSpPr>
          <p:cNvPr id="24667" name="Group 175"/>
          <p:cNvGrpSpPr>
            <a:grpSpLocks/>
          </p:cNvGrpSpPr>
          <p:nvPr/>
        </p:nvGrpSpPr>
        <p:grpSpPr bwMode="auto">
          <a:xfrm>
            <a:off x="5010150" y="835025"/>
            <a:ext cx="477838" cy="396875"/>
            <a:chOff x="1767" y="1612"/>
            <a:chExt cx="301" cy="250"/>
          </a:xfrm>
        </p:grpSpPr>
        <p:sp>
          <p:nvSpPr>
            <p:cNvPr id="24603" name="Line 176"/>
            <p:cNvSpPr>
              <a:spLocks noChangeShapeType="1"/>
            </p:cNvSpPr>
            <p:nvPr/>
          </p:nvSpPr>
          <p:spPr bwMode="auto">
            <a:xfrm>
              <a:off x="1767" y="1830"/>
              <a:ext cx="301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604" name="Text Box 177"/>
            <p:cNvSpPr txBox="1">
              <a:spLocks noChangeArrowheads="1"/>
            </p:cNvSpPr>
            <p:nvPr/>
          </p:nvSpPr>
          <p:spPr bwMode="auto">
            <a:xfrm>
              <a:off x="1805" y="1612"/>
              <a:ext cx="224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solidFill>
                    <a:schemeClr val="hlink"/>
                  </a:solidFill>
                </a:rPr>
                <a:t>3</a:t>
              </a:r>
            </a:p>
          </p:txBody>
        </p:sp>
      </p:grpSp>
      <p:grpSp>
        <p:nvGrpSpPr>
          <p:cNvPr id="24668" name="Group 178"/>
          <p:cNvGrpSpPr>
            <a:grpSpLocks/>
          </p:cNvGrpSpPr>
          <p:nvPr/>
        </p:nvGrpSpPr>
        <p:grpSpPr bwMode="auto">
          <a:xfrm>
            <a:off x="6138863" y="835025"/>
            <a:ext cx="477837" cy="396875"/>
            <a:chOff x="1767" y="1612"/>
            <a:chExt cx="301" cy="250"/>
          </a:xfrm>
        </p:grpSpPr>
        <p:sp>
          <p:nvSpPr>
            <p:cNvPr id="24601" name="Line 179"/>
            <p:cNvSpPr>
              <a:spLocks noChangeShapeType="1"/>
            </p:cNvSpPr>
            <p:nvPr/>
          </p:nvSpPr>
          <p:spPr bwMode="auto">
            <a:xfrm>
              <a:off x="1767" y="1830"/>
              <a:ext cx="301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602" name="Text Box 180"/>
            <p:cNvSpPr txBox="1">
              <a:spLocks noChangeArrowheads="1"/>
            </p:cNvSpPr>
            <p:nvPr/>
          </p:nvSpPr>
          <p:spPr bwMode="auto">
            <a:xfrm>
              <a:off x="1805" y="1612"/>
              <a:ext cx="224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solidFill>
                    <a:schemeClr val="hlink"/>
                  </a:solidFill>
                </a:rPr>
                <a:t>4</a:t>
              </a:r>
            </a:p>
          </p:txBody>
        </p:sp>
      </p:grpSp>
      <p:sp>
        <p:nvSpPr>
          <p:cNvPr id="24600" name="Text Box 181"/>
          <p:cNvSpPr txBox="1">
            <a:spLocks noChangeArrowheads="1"/>
          </p:cNvSpPr>
          <p:nvPr/>
        </p:nvSpPr>
        <p:spPr bwMode="auto">
          <a:xfrm>
            <a:off x="1450975" y="1641475"/>
            <a:ext cx="2855913" cy="1015663"/>
          </a:xfrm>
          <a:prstGeom prst="rect">
            <a:avLst/>
          </a:prstGeom>
          <a:solidFill>
            <a:srgbClr val="0066FF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0" dirty="0">
                <a:solidFill>
                  <a:schemeClr val="tx1"/>
                </a:solidFill>
                <a:latin typeface="Gill Sans MT" pitchFamily="34" charset="0"/>
              </a:rPr>
              <a:t>Touring the prime path [1, 2, 3, 5, 6] without </a:t>
            </a:r>
            <a:r>
              <a:rPr lang="en-US" b="0" u="sng" dirty="0" err="1">
                <a:solidFill>
                  <a:schemeClr val="tx1"/>
                </a:solidFill>
                <a:latin typeface="Gill Sans MT" pitchFamily="34" charset="0"/>
              </a:rPr>
              <a:t>sidetrips</a:t>
            </a:r>
            <a:r>
              <a:rPr lang="en-US" b="0" u="sng" dirty="0">
                <a:solidFill>
                  <a:schemeClr val="tx1"/>
                </a:solidFill>
                <a:latin typeface="Gill Sans MT" pitchFamily="34" charset="0"/>
              </a:rPr>
              <a:t> or detours</a:t>
            </a:r>
            <a:endParaRPr lang="en-US" b="0" dirty="0">
              <a:latin typeface="Gill Sans MT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4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4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4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0"/>
                            </p:stCondLst>
                            <p:childTnLst>
                              <p:par>
                                <p:cTn id="43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6500"/>
                            </p:stCondLst>
                            <p:childTnLst>
                              <p:par>
                                <p:cTn id="47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24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000"/>
                            </p:stCondLst>
                            <p:childTnLst>
                              <p:par>
                                <p:cTn id="65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4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500"/>
                            </p:stCondLst>
                            <p:childTnLst>
                              <p:par>
                                <p:cTn id="69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24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0"/>
                            </p:stCondLst>
                            <p:childTnLst>
                              <p:par>
                                <p:cTn id="73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24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Introduction to Software Testing, Edition 2  (Ch 07)</a:t>
            </a:r>
          </a:p>
        </p:txBody>
      </p:sp>
      <p:sp>
        <p:nvSpPr>
          <p:cNvPr id="25603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© Ammann &amp; Offutt</a:t>
            </a:r>
          </a:p>
        </p:txBody>
      </p:sp>
      <p:sp>
        <p:nvSpPr>
          <p:cNvPr id="2560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A4E9D78-CC74-4039-A216-297B5B132F4B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256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Infeasible Test Requirements</a:t>
            </a:r>
          </a:p>
        </p:txBody>
      </p:sp>
      <p:sp>
        <p:nvSpPr>
          <p:cNvPr id="2560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8113" y="830010"/>
            <a:ext cx="8867775" cy="1203325"/>
          </a:xfrm>
        </p:spPr>
        <p:txBody>
          <a:bodyPr/>
          <a:lstStyle/>
          <a:p>
            <a:r>
              <a:rPr lang="en-US" dirty="0"/>
              <a:t>An </a:t>
            </a:r>
            <a:r>
              <a:rPr lang="en-US" dirty="0">
                <a:solidFill>
                  <a:schemeClr val="tx2"/>
                </a:solidFill>
              </a:rPr>
              <a:t>infeasible</a:t>
            </a:r>
            <a:r>
              <a:rPr lang="en-US" dirty="0"/>
              <a:t> test requirement </a:t>
            </a:r>
            <a:r>
              <a:rPr lang="en-US" u="sng" dirty="0"/>
              <a:t>cannot be satisfied</a:t>
            </a:r>
          </a:p>
          <a:p>
            <a:pPr lvl="1"/>
            <a:r>
              <a:rPr lang="en-US" sz="2000" dirty="0"/>
              <a:t>Unreachable statement (dead code)</a:t>
            </a:r>
          </a:p>
          <a:p>
            <a:pPr lvl="1"/>
            <a:r>
              <a:rPr lang="en-US" sz="2000" dirty="0" err="1"/>
              <a:t>Subpath</a:t>
            </a:r>
            <a:r>
              <a:rPr lang="en-US" sz="2000" dirty="0"/>
              <a:t> that can only be executed with a contradiction (</a:t>
            </a:r>
            <a:r>
              <a:rPr lang="en-US" sz="2000" i="1" dirty="0"/>
              <a:t>X &gt; 0</a:t>
            </a:r>
            <a:r>
              <a:rPr lang="en-US" sz="2000" dirty="0"/>
              <a:t> and </a:t>
            </a:r>
            <a:r>
              <a:rPr lang="en-US" sz="2000" i="1" dirty="0"/>
              <a:t>X &lt; 0</a:t>
            </a:r>
            <a:r>
              <a:rPr lang="en-US" sz="2000" dirty="0"/>
              <a:t>)</a:t>
            </a:r>
          </a:p>
        </p:txBody>
      </p:sp>
      <p:sp>
        <p:nvSpPr>
          <p:cNvPr id="176132" name="Text Box 4"/>
          <p:cNvSpPr txBox="1">
            <a:spLocks noChangeArrowheads="1"/>
          </p:cNvSpPr>
          <p:nvPr/>
        </p:nvSpPr>
        <p:spPr bwMode="auto">
          <a:xfrm>
            <a:off x="889000" y="5125726"/>
            <a:ext cx="7366000" cy="1338828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  <a:buSzPct val="85000"/>
            </a:pPr>
            <a:r>
              <a:rPr lang="en-US" sz="2400" u="sng" dirty="0">
                <a:solidFill>
                  <a:schemeClr val="tx1"/>
                </a:solidFill>
                <a:latin typeface="Gill Sans MT" pitchFamily="34" charset="0"/>
              </a:rPr>
              <a:t>Practical recommendation—</a:t>
            </a:r>
            <a:r>
              <a:rPr lang="en-US" sz="2400" u="sng" dirty="0">
                <a:solidFill>
                  <a:schemeClr val="tx2"/>
                </a:solidFill>
                <a:latin typeface="Gill Sans MT" pitchFamily="34" charset="0"/>
              </a:rPr>
              <a:t>Best Effort Touring</a:t>
            </a:r>
            <a:endParaRPr lang="en-US" sz="2400" dirty="0">
              <a:solidFill>
                <a:schemeClr val="tx2"/>
              </a:solidFill>
              <a:latin typeface="Gill Sans MT" pitchFamily="34" charset="0"/>
            </a:endParaRPr>
          </a:p>
          <a:p>
            <a:pPr lvl="1">
              <a:lnSpc>
                <a:spcPct val="90000"/>
              </a:lnSpc>
              <a:spcBef>
                <a:spcPct val="30000"/>
              </a:spcBef>
              <a:buSzPct val="100000"/>
              <a:buFontTx/>
              <a:buChar char="–"/>
            </a:pPr>
            <a:r>
              <a:rPr lang="en-US" sz="1800" dirty="0">
                <a:solidFill>
                  <a:schemeClr val="tx1"/>
                </a:solidFill>
                <a:latin typeface="Gill Sans MT" pitchFamily="34" charset="0"/>
              </a:rPr>
              <a:t> Satisfy as many test requirements as possible without </a:t>
            </a:r>
            <a:r>
              <a:rPr lang="en-US" sz="1800" dirty="0" err="1">
                <a:solidFill>
                  <a:schemeClr val="tx1"/>
                </a:solidFill>
                <a:latin typeface="Gill Sans MT" pitchFamily="34" charset="0"/>
              </a:rPr>
              <a:t>sidetrips</a:t>
            </a:r>
            <a:endParaRPr lang="en-US" sz="1800" dirty="0">
              <a:solidFill>
                <a:schemeClr val="tx1"/>
              </a:solidFill>
              <a:latin typeface="Gill Sans MT" pitchFamily="34" charset="0"/>
            </a:endParaRPr>
          </a:p>
          <a:p>
            <a:pPr lvl="1">
              <a:lnSpc>
                <a:spcPct val="90000"/>
              </a:lnSpc>
              <a:spcBef>
                <a:spcPct val="30000"/>
              </a:spcBef>
              <a:buSzPct val="100000"/>
              <a:buFontTx/>
              <a:buChar char="–"/>
            </a:pPr>
            <a:r>
              <a:rPr lang="en-US" sz="1800" dirty="0">
                <a:solidFill>
                  <a:schemeClr val="tx1"/>
                </a:solidFill>
                <a:latin typeface="Gill Sans MT" pitchFamily="34" charset="0"/>
              </a:rPr>
              <a:t> Allow </a:t>
            </a:r>
            <a:r>
              <a:rPr lang="en-US" sz="1800" dirty="0" err="1">
                <a:solidFill>
                  <a:schemeClr val="tx1"/>
                </a:solidFill>
                <a:latin typeface="Gill Sans MT" pitchFamily="34" charset="0"/>
              </a:rPr>
              <a:t>sidetrips</a:t>
            </a:r>
            <a:r>
              <a:rPr lang="en-US" sz="1800" dirty="0">
                <a:solidFill>
                  <a:schemeClr val="tx1"/>
                </a:solidFill>
                <a:latin typeface="Gill Sans MT" pitchFamily="34" charset="0"/>
              </a:rPr>
              <a:t> to try to satisfy remaining test requirements</a:t>
            </a:r>
            <a:endParaRPr lang="en-US" dirty="0">
              <a:latin typeface="Gill Sans MT" pitchFamily="34" charset="0"/>
            </a:endParaRPr>
          </a:p>
        </p:txBody>
      </p:sp>
      <p:sp>
        <p:nvSpPr>
          <p:cNvPr id="176133" name="Rectangle 5"/>
          <p:cNvSpPr>
            <a:spLocks noChangeArrowheads="1"/>
          </p:cNvSpPr>
          <p:nvPr/>
        </p:nvSpPr>
        <p:spPr bwMode="auto">
          <a:xfrm>
            <a:off x="138113" y="1985211"/>
            <a:ext cx="8867775" cy="29693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Most test </a:t>
            </a:r>
            <a:r>
              <a:rPr lang="en-US" sz="2800" b="0" dirty="0">
                <a:solidFill>
                  <a:schemeClr val="tx2"/>
                </a:solidFill>
                <a:latin typeface="Gill Sans MT" pitchFamily="34" charset="0"/>
              </a:rPr>
              <a:t>criteria</a:t>
            </a: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 have some infeasible test requirements</a:t>
            </a:r>
          </a:p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It is usually </a:t>
            </a:r>
            <a:r>
              <a:rPr lang="en-US" sz="2800" b="0" dirty="0" err="1">
                <a:solidFill>
                  <a:schemeClr val="tx2"/>
                </a:solidFill>
                <a:latin typeface="Gill Sans MT" pitchFamily="34" charset="0"/>
              </a:rPr>
              <a:t>undecidable</a:t>
            </a: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 whether all test requirements are feasible</a:t>
            </a:r>
          </a:p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When </a:t>
            </a:r>
            <a:r>
              <a:rPr lang="en-US" sz="2800" b="0" dirty="0" err="1">
                <a:solidFill>
                  <a:schemeClr val="tx1"/>
                </a:solidFill>
                <a:latin typeface="Gill Sans MT" pitchFamily="34" charset="0"/>
              </a:rPr>
              <a:t>sidetrips</a:t>
            </a: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 are not allowed, many structural criteria have </a:t>
            </a:r>
            <a:r>
              <a:rPr lang="en-US" sz="2800" b="0" dirty="0">
                <a:solidFill>
                  <a:schemeClr val="tx2"/>
                </a:solidFill>
                <a:latin typeface="Gill Sans MT" pitchFamily="34" charset="0"/>
              </a:rPr>
              <a:t>more infeasible test requirements</a:t>
            </a:r>
          </a:p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However, always allowing </a:t>
            </a:r>
            <a:r>
              <a:rPr lang="en-US" sz="2800" b="0" dirty="0" err="1">
                <a:solidFill>
                  <a:schemeClr val="tx2"/>
                </a:solidFill>
                <a:latin typeface="Gill Sans MT" pitchFamily="34" charset="0"/>
              </a:rPr>
              <a:t>sidetrips</a:t>
            </a:r>
            <a:r>
              <a:rPr lang="en-US" sz="2800" b="0" dirty="0">
                <a:solidFill>
                  <a:schemeClr val="tx2"/>
                </a:solidFill>
                <a:latin typeface="Gill Sans MT" pitchFamily="34" charset="0"/>
              </a:rPr>
              <a:t> weakens</a:t>
            </a: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 the test criteria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1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1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1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76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132" grpId="0" animBg="1" autoUpdateAnimBg="0"/>
      <p:bldP spid="176133" grpId="0" build="p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Introduction to Software Testing, Edition 2  (Ch 07)</a:t>
            </a:r>
          </a:p>
        </p:txBody>
      </p:sp>
      <p:sp>
        <p:nvSpPr>
          <p:cNvPr id="26627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© Ammann &amp; Offutt</a:t>
            </a:r>
          </a:p>
        </p:txBody>
      </p:sp>
      <p:sp>
        <p:nvSpPr>
          <p:cNvPr id="2662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8241231-13AF-4EF6-964A-14E04AAFC1A2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26629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Simple &amp; Prime Path Example</a:t>
            </a:r>
          </a:p>
        </p:txBody>
      </p:sp>
      <p:grpSp>
        <p:nvGrpSpPr>
          <p:cNvPr id="26630" name="Group 1028"/>
          <p:cNvGrpSpPr>
            <a:grpSpLocks/>
          </p:cNvGrpSpPr>
          <p:nvPr/>
        </p:nvGrpSpPr>
        <p:grpSpPr bwMode="auto">
          <a:xfrm>
            <a:off x="130175" y="1857375"/>
            <a:ext cx="2120900" cy="3635375"/>
            <a:chOff x="287" y="1509"/>
            <a:chExt cx="1336" cy="2290"/>
          </a:xfrm>
        </p:grpSpPr>
        <p:grpSp>
          <p:nvGrpSpPr>
            <p:cNvPr id="26647" name="Group 1029"/>
            <p:cNvGrpSpPr>
              <a:grpSpLocks/>
            </p:cNvGrpSpPr>
            <p:nvPr/>
          </p:nvGrpSpPr>
          <p:grpSpPr bwMode="auto">
            <a:xfrm>
              <a:off x="1273" y="3335"/>
              <a:ext cx="350" cy="296"/>
              <a:chOff x="684" y="3374"/>
              <a:chExt cx="350" cy="296"/>
            </a:xfrm>
          </p:grpSpPr>
          <p:sp>
            <p:nvSpPr>
              <p:cNvPr id="26676" name="Oval 1030"/>
              <p:cNvSpPr>
                <a:spLocks noChangeArrowheads="1"/>
              </p:cNvSpPr>
              <p:nvPr/>
            </p:nvSpPr>
            <p:spPr bwMode="auto">
              <a:xfrm>
                <a:off x="684" y="337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77" name="Text Box 1031"/>
              <p:cNvSpPr txBox="1">
                <a:spLocks noChangeArrowheads="1"/>
              </p:cNvSpPr>
              <p:nvPr/>
            </p:nvSpPr>
            <p:spPr bwMode="auto">
              <a:xfrm>
                <a:off x="761" y="3397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</p:grpSp>
        <p:grpSp>
          <p:nvGrpSpPr>
            <p:cNvPr id="26648" name="Group 1032"/>
            <p:cNvGrpSpPr>
              <a:grpSpLocks/>
            </p:cNvGrpSpPr>
            <p:nvPr/>
          </p:nvGrpSpPr>
          <p:grpSpPr bwMode="auto">
            <a:xfrm>
              <a:off x="684" y="1617"/>
              <a:ext cx="350" cy="296"/>
              <a:chOff x="4288" y="1746"/>
              <a:chExt cx="350" cy="296"/>
            </a:xfrm>
          </p:grpSpPr>
          <p:sp>
            <p:nvSpPr>
              <p:cNvPr id="26674" name="Oval 1033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75" name="Text Box 1034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</p:grpSp>
        <p:grpSp>
          <p:nvGrpSpPr>
            <p:cNvPr id="26649" name="Group 1035"/>
            <p:cNvGrpSpPr>
              <a:grpSpLocks/>
            </p:cNvGrpSpPr>
            <p:nvPr/>
          </p:nvGrpSpPr>
          <p:grpSpPr bwMode="auto">
            <a:xfrm>
              <a:off x="684" y="2482"/>
              <a:ext cx="350" cy="296"/>
              <a:chOff x="4738" y="2684"/>
              <a:chExt cx="350" cy="296"/>
            </a:xfrm>
          </p:grpSpPr>
          <p:sp>
            <p:nvSpPr>
              <p:cNvPr id="26672" name="Oval 1036"/>
              <p:cNvSpPr>
                <a:spLocks noChangeArrowheads="1"/>
              </p:cNvSpPr>
              <p:nvPr/>
            </p:nvSpPr>
            <p:spPr bwMode="auto">
              <a:xfrm>
                <a:off x="47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73" name="Text Box 1037"/>
              <p:cNvSpPr txBox="1">
                <a:spLocks noChangeArrowheads="1"/>
              </p:cNvSpPr>
              <p:nvPr/>
            </p:nvSpPr>
            <p:spPr bwMode="auto">
              <a:xfrm>
                <a:off x="4815" y="2707"/>
                <a:ext cx="196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</p:grpSp>
        <p:grpSp>
          <p:nvGrpSpPr>
            <p:cNvPr id="26650" name="Group 1038"/>
            <p:cNvGrpSpPr>
              <a:grpSpLocks/>
            </p:cNvGrpSpPr>
            <p:nvPr/>
          </p:nvGrpSpPr>
          <p:grpSpPr bwMode="auto">
            <a:xfrm>
              <a:off x="287" y="2034"/>
              <a:ext cx="350" cy="296"/>
              <a:chOff x="3838" y="2684"/>
              <a:chExt cx="350" cy="296"/>
            </a:xfrm>
          </p:grpSpPr>
          <p:sp>
            <p:nvSpPr>
              <p:cNvPr id="26670" name="Oval 1039"/>
              <p:cNvSpPr>
                <a:spLocks noChangeArrowheads="1"/>
              </p:cNvSpPr>
              <p:nvPr/>
            </p:nvSpPr>
            <p:spPr bwMode="auto">
              <a:xfrm>
                <a:off x="38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71" name="Text Box 1040"/>
              <p:cNvSpPr txBox="1">
                <a:spLocks noChangeArrowheads="1"/>
              </p:cNvSpPr>
              <p:nvPr/>
            </p:nvSpPr>
            <p:spPr bwMode="auto">
              <a:xfrm>
                <a:off x="3915" y="2707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</p:grpSp>
        <p:sp>
          <p:nvSpPr>
            <p:cNvPr id="26651" name="Line 1041"/>
            <p:cNvSpPr>
              <a:spLocks noChangeShapeType="1"/>
            </p:cNvSpPr>
            <p:nvPr/>
          </p:nvSpPr>
          <p:spPr bwMode="auto">
            <a:xfrm flipH="1">
              <a:off x="572" y="2765"/>
              <a:ext cx="212" cy="1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652" name="Line 1042"/>
            <p:cNvSpPr>
              <a:spLocks noChangeShapeType="1"/>
            </p:cNvSpPr>
            <p:nvPr/>
          </p:nvSpPr>
          <p:spPr bwMode="auto">
            <a:xfrm flipH="1">
              <a:off x="859" y="1509"/>
              <a:ext cx="1" cy="9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6653" name="Group 1043"/>
            <p:cNvGrpSpPr>
              <a:grpSpLocks/>
            </p:cNvGrpSpPr>
            <p:nvPr/>
          </p:nvGrpSpPr>
          <p:grpSpPr bwMode="auto">
            <a:xfrm>
              <a:off x="287" y="2930"/>
              <a:ext cx="350" cy="296"/>
              <a:chOff x="4288" y="1746"/>
              <a:chExt cx="350" cy="296"/>
            </a:xfrm>
          </p:grpSpPr>
          <p:sp>
            <p:nvSpPr>
              <p:cNvPr id="26668" name="Oval 1044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69" name="Text Box 1045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</p:grpSp>
        <p:grpSp>
          <p:nvGrpSpPr>
            <p:cNvPr id="26654" name="Group 1046"/>
            <p:cNvGrpSpPr>
              <a:grpSpLocks/>
            </p:cNvGrpSpPr>
            <p:nvPr/>
          </p:nvGrpSpPr>
          <p:grpSpPr bwMode="auto">
            <a:xfrm>
              <a:off x="1053" y="2930"/>
              <a:ext cx="350" cy="296"/>
              <a:chOff x="3838" y="2684"/>
              <a:chExt cx="350" cy="296"/>
            </a:xfrm>
          </p:grpSpPr>
          <p:sp>
            <p:nvSpPr>
              <p:cNvPr id="26666" name="Oval 1047"/>
              <p:cNvSpPr>
                <a:spLocks noChangeArrowheads="1"/>
              </p:cNvSpPr>
              <p:nvPr/>
            </p:nvSpPr>
            <p:spPr bwMode="auto">
              <a:xfrm>
                <a:off x="38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67" name="Text Box 1048"/>
              <p:cNvSpPr txBox="1">
                <a:spLocks noChangeArrowheads="1"/>
              </p:cNvSpPr>
              <p:nvPr/>
            </p:nvSpPr>
            <p:spPr bwMode="auto">
              <a:xfrm>
                <a:off x="3915" y="2707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</p:grpSp>
        <p:sp>
          <p:nvSpPr>
            <p:cNvPr id="26655" name="Line 1049"/>
            <p:cNvSpPr>
              <a:spLocks noChangeShapeType="1"/>
            </p:cNvSpPr>
            <p:nvPr/>
          </p:nvSpPr>
          <p:spPr bwMode="auto">
            <a:xfrm>
              <a:off x="939" y="2767"/>
              <a:ext cx="180" cy="1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656" name="Line 1050"/>
            <p:cNvSpPr>
              <a:spLocks noChangeShapeType="1"/>
            </p:cNvSpPr>
            <p:nvPr/>
          </p:nvSpPr>
          <p:spPr bwMode="auto">
            <a:xfrm flipH="1">
              <a:off x="932" y="3207"/>
              <a:ext cx="195" cy="30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657" name="Line 1051"/>
            <p:cNvSpPr>
              <a:spLocks noChangeShapeType="1"/>
            </p:cNvSpPr>
            <p:nvPr/>
          </p:nvSpPr>
          <p:spPr bwMode="auto">
            <a:xfrm>
              <a:off x="572" y="2308"/>
              <a:ext cx="194" cy="17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658" name="Line 1052"/>
            <p:cNvSpPr>
              <a:spLocks noChangeShapeType="1"/>
            </p:cNvSpPr>
            <p:nvPr/>
          </p:nvSpPr>
          <p:spPr bwMode="auto">
            <a:xfrm flipH="1">
              <a:off x="603" y="1893"/>
              <a:ext cx="166" cy="18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659" name="Line 1053"/>
            <p:cNvSpPr>
              <a:spLocks noChangeShapeType="1"/>
            </p:cNvSpPr>
            <p:nvPr/>
          </p:nvSpPr>
          <p:spPr bwMode="auto">
            <a:xfrm>
              <a:off x="578" y="3204"/>
              <a:ext cx="195" cy="30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660" name="Line 1054"/>
            <p:cNvSpPr>
              <a:spLocks noChangeShapeType="1"/>
            </p:cNvSpPr>
            <p:nvPr/>
          </p:nvSpPr>
          <p:spPr bwMode="auto">
            <a:xfrm flipH="1">
              <a:off x="857" y="1918"/>
              <a:ext cx="3" cy="54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661" name="Line 1055"/>
            <p:cNvSpPr>
              <a:spLocks noChangeShapeType="1"/>
            </p:cNvSpPr>
            <p:nvPr/>
          </p:nvSpPr>
          <p:spPr bwMode="auto">
            <a:xfrm>
              <a:off x="1234" y="3229"/>
              <a:ext cx="101" cy="14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6662" name="Group 1056"/>
            <p:cNvGrpSpPr>
              <a:grpSpLocks/>
            </p:cNvGrpSpPr>
            <p:nvPr/>
          </p:nvGrpSpPr>
          <p:grpSpPr bwMode="auto">
            <a:xfrm>
              <a:off x="682" y="3503"/>
              <a:ext cx="350" cy="296"/>
              <a:chOff x="4288" y="3622"/>
              <a:chExt cx="350" cy="296"/>
            </a:xfrm>
          </p:grpSpPr>
          <p:sp>
            <p:nvSpPr>
              <p:cNvPr id="26664" name="Oval 1057"/>
              <p:cNvSpPr>
                <a:spLocks noChangeArrowheads="1"/>
              </p:cNvSpPr>
              <p:nvPr/>
            </p:nvSpPr>
            <p:spPr bwMode="auto">
              <a:xfrm>
                <a:off x="4288" y="3622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65" name="Text Box 1058"/>
              <p:cNvSpPr txBox="1">
                <a:spLocks noChangeArrowheads="1"/>
              </p:cNvSpPr>
              <p:nvPr/>
            </p:nvSpPr>
            <p:spPr bwMode="auto">
              <a:xfrm>
                <a:off x="4365" y="3645"/>
                <a:ext cx="197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</p:grpSp>
        <p:sp>
          <p:nvSpPr>
            <p:cNvPr id="26663" name="Line 1059"/>
            <p:cNvSpPr>
              <a:spLocks noChangeShapeType="1"/>
            </p:cNvSpPr>
            <p:nvPr/>
          </p:nvSpPr>
          <p:spPr bwMode="auto">
            <a:xfrm flipH="1" flipV="1">
              <a:off x="1367" y="3176"/>
              <a:ext cx="101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7188" name="Text Box 1060"/>
          <p:cNvSpPr txBox="1">
            <a:spLocks noChangeArrowheads="1"/>
          </p:cNvSpPr>
          <p:nvPr/>
        </p:nvSpPr>
        <p:spPr bwMode="auto">
          <a:xfrm>
            <a:off x="2740025" y="1139825"/>
            <a:ext cx="833438" cy="2554545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u="sng" dirty="0">
                <a:solidFill>
                  <a:schemeClr val="tx1"/>
                </a:solidFill>
              </a:rPr>
              <a:t>Len 0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[1]</a:t>
            </a:r>
          </a:p>
          <a:p>
            <a:r>
              <a:rPr lang="en-US" dirty="0">
                <a:solidFill>
                  <a:schemeClr val="tx1"/>
                </a:solidFill>
              </a:rPr>
              <a:t>[2]</a:t>
            </a:r>
          </a:p>
          <a:p>
            <a:r>
              <a:rPr lang="en-US" dirty="0">
                <a:solidFill>
                  <a:schemeClr val="tx1"/>
                </a:solidFill>
              </a:rPr>
              <a:t>[3]</a:t>
            </a:r>
          </a:p>
          <a:p>
            <a:r>
              <a:rPr lang="en-US" dirty="0">
                <a:solidFill>
                  <a:schemeClr val="tx1"/>
                </a:solidFill>
              </a:rPr>
              <a:t>[4]</a:t>
            </a:r>
          </a:p>
          <a:p>
            <a:r>
              <a:rPr lang="en-US" dirty="0">
                <a:solidFill>
                  <a:schemeClr val="tx1"/>
                </a:solidFill>
              </a:rPr>
              <a:t>[5]</a:t>
            </a:r>
          </a:p>
          <a:p>
            <a:r>
              <a:rPr lang="en-US" dirty="0">
                <a:solidFill>
                  <a:schemeClr val="tx1"/>
                </a:solidFill>
              </a:rPr>
              <a:t>[6] </a:t>
            </a:r>
          </a:p>
          <a:p>
            <a:r>
              <a:rPr lang="en-US" dirty="0">
                <a:solidFill>
                  <a:schemeClr val="tx1"/>
                </a:solidFill>
              </a:rPr>
              <a:t>[7] !</a:t>
            </a:r>
          </a:p>
        </p:txBody>
      </p:sp>
      <p:sp>
        <p:nvSpPr>
          <p:cNvPr id="177190" name="AutoShape 1062"/>
          <p:cNvSpPr>
            <a:spLocks/>
          </p:cNvSpPr>
          <p:nvPr/>
        </p:nvSpPr>
        <p:spPr bwMode="auto">
          <a:xfrm>
            <a:off x="5084763" y="931863"/>
            <a:ext cx="1778000" cy="671512"/>
          </a:xfrm>
          <a:prstGeom prst="borderCallout2">
            <a:avLst>
              <a:gd name="adj1" fmla="val 17023"/>
              <a:gd name="adj2" fmla="val -4287"/>
              <a:gd name="adj3" fmla="val 17023"/>
              <a:gd name="adj4" fmla="val -51606"/>
              <a:gd name="adj5" fmla="val 371157"/>
              <a:gd name="adj6" fmla="val -100806"/>
            </a:avLst>
          </a:prstGeom>
          <a:solidFill>
            <a:schemeClr val="tx1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algn="ctr"/>
            <a:r>
              <a:rPr lang="en-US">
                <a:solidFill>
                  <a:srgbClr val="000000"/>
                </a:solidFill>
              </a:rPr>
              <a:t>‘!’ means path terminates</a:t>
            </a:r>
          </a:p>
        </p:txBody>
      </p:sp>
      <p:sp>
        <p:nvSpPr>
          <p:cNvPr id="177191" name="Text Box 1063"/>
          <p:cNvSpPr txBox="1">
            <a:spLocks noChangeArrowheads="1"/>
          </p:cNvSpPr>
          <p:nvPr/>
        </p:nvSpPr>
        <p:spPr bwMode="auto">
          <a:xfrm>
            <a:off x="3884613" y="1139825"/>
            <a:ext cx="935037" cy="3152775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u="sng" dirty="0">
                <a:solidFill>
                  <a:schemeClr val="tx1"/>
                </a:solidFill>
              </a:rPr>
              <a:t>Len 1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[1, 2]</a:t>
            </a:r>
          </a:p>
          <a:p>
            <a:r>
              <a:rPr lang="en-US" dirty="0">
                <a:solidFill>
                  <a:schemeClr val="tx1"/>
                </a:solidFill>
              </a:rPr>
              <a:t>[1, 3]</a:t>
            </a:r>
          </a:p>
          <a:p>
            <a:r>
              <a:rPr lang="en-US" dirty="0">
                <a:solidFill>
                  <a:schemeClr val="tx1"/>
                </a:solidFill>
              </a:rPr>
              <a:t>[2, 3]</a:t>
            </a:r>
          </a:p>
          <a:p>
            <a:r>
              <a:rPr lang="en-US" dirty="0">
                <a:solidFill>
                  <a:schemeClr val="tx1"/>
                </a:solidFill>
              </a:rPr>
              <a:t>[3, 4]</a:t>
            </a:r>
          </a:p>
          <a:p>
            <a:r>
              <a:rPr lang="en-US" dirty="0">
                <a:solidFill>
                  <a:schemeClr val="tx1"/>
                </a:solidFill>
              </a:rPr>
              <a:t>[3, 5]</a:t>
            </a:r>
          </a:p>
          <a:p>
            <a:r>
              <a:rPr lang="en-US" dirty="0">
                <a:solidFill>
                  <a:schemeClr val="tx1"/>
                </a:solidFill>
              </a:rPr>
              <a:t>[4, 7] !</a:t>
            </a:r>
          </a:p>
          <a:p>
            <a:r>
              <a:rPr lang="en-US" dirty="0">
                <a:solidFill>
                  <a:schemeClr val="tx1"/>
                </a:solidFill>
              </a:rPr>
              <a:t>[5, 7] !</a:t>
            </a:r>
          </a:p>
          <a:p>
            <a:r>
              <a:rPr lang="en-US" dirty="0">
                <a:solidFill>
                  <a:schemeClr val="tx1"/>
                </a:solidFill>
              </a:rPr>
              <a:t>[5, 6]</a:t>
            </a:r>
          </a:p>
          <a:p>
            <a:r>
              <a:rPr lang="en-US" dirty="0">
                <a:solidFill>
                  <a:schemeClr val="tx1"/>
                </a:solidFill>
              </a:rPr>
              <a:t>[6, 5]</a:t>
            </a:r>
          </a:p>
        </p:txBody>
      </p:sp>
      <p:sp>
        <p:nvSpPr>
          <p:cNvPr id="177192" name="Text Box 1064"/>
          <p:cNvSpPr txBox="1">
            <a:spLocks noChangeArrowheads="1"/>
          </p:cNvSpPr>
          <p:nvPr/>
        </p:nvSpPr>
        <p:spPr bwMode="auto">
          <a:xfrm>
            <a:off x="5130800" y="1139825"/>
            <a:ext cx="1230313" cy="3762375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u="sng" dirty="0">
                <a:solidFill>
                  <a:schemeClr val="tx1"/>
                </a:solidFill>
              </a:rPr>
              <a:t>Len 2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[1, 2, 3]</a:t>
            </a:r>
          </a:p>
          <a:p>
            <a:r>
              <a:rPr lang="en-US" dirty="0">
                <a:solidFill>
                  <a:schemeClr val="tx1"/>
                </a:solidFill>
              </a:rPr>
              <a:t>[1, 3, 4]</a:t>
            </a:r>
          </a:p>
          <a:p>
            <a:r>
              <a:rPr lang="en-US" dirty="0">
                <a:solidFill>
                  <a:schemeClr val="tx1"/>
                </a:solidFill>
              </a:rPr>
              <a:t>[1, 3, 5]</a:t>
            </a:r>
          </a:p>
          <a:p>
            <a:r>
              <a:rPr lang="en-US" dirty="0">
                <a:solidFill>
                  <a:schemeClr val="tx1"/>
                </a:solidFill>
              </a:rPr>
              <a:t>[2, 3, 4]</a:t>
            </a:r>
          </a:p>
          <a:p>
            <a:r>
              <a:rPr lang="en-US" dirty="0">
                <a:solidFill>
                  <a:schemeClr val="tx1"/>
                </a:solidFill>
              </a:rPr>
              <a:t>[2, 3, 5]</a:t>
            </a:r>
          </a:p>
          <a:p>
            <a:r>
              <a:rPr lang="en-US" dirty="0">
                <a:solidFill>
                  <a:schemeClr val="tx1"/>
                </a:solidFill>
              </a:rPr>
              <a:t>[3, 4, 7] !</a:t>
            </a:r>
          </a:p>
          <a:p>
            <a:r>
              <a:rPr lang="en-US" dirty="0">
                <a:solidFill>
                  <a:schemeClr val="tx1"/>
                </a:solidFill>
              </a:rPr>
              <a:t>[3, 5, 7] !</a:t>
            </a:r>
          </a:p>
          <a:p>
            <a:r>
              <a:rPr lang="en-US" dirty="0">
                <a:solidFill>
                  <a:schemeClr val="tx1"/>
                </a:solidFill>
              </a:rPr>
              <a:t>[3, 5, 6] !</a:t>
            </a:r>
          </a:p>
          <a:p>
            <a:r>
              <a:rPr lang="en-US" dirty="0">
                <a:solidFill>
                  <a:schemeClr val="tx1"/>
                </a:solidFill>
              </a:rPr>
              <a:t>[5, 6, 5] *</a:t>
            </a:r>
          </a:p>
          <a:p>
            <a:r>
              <a:rPr lang="en-US" dirty="0">
                <a:solidFill>
                  <a:schemeClr val="tx1"/>
                </a:solidFill>
              </a:rPr>
              <a:t>[6, 5, 7] !</a:t>
            </a:r>
          </a:p>
          <a:p>
            <a:r>
              <a:rPr lang="en-US" dirty="0">
                <a:solidFill>
                  <a:schemeClr val="tx1"/>
                </a:solidFill>
              </a:rPr>
              <a:t>[6, 5, 6] *</a:t>
            </a:r>
          </a:p>
        </p:txBody>
      </p:sp>
      <p:sp>
        <p:nvSpPr>
          <p:cNvPr id="177193" name="AutoShape 1065"/>
          <p:cNvSpPr>
            <a:spLocks/>
          </p:cNvSpPr>
          <p:nvPr/>
        </p:nvSpPr>
        <p:spPr bwMode="auto">
          <a:xfrm>
            <a:off x="7146925" y="1530350"/>
            <a:ext cx="1778000" cy="671513"/>
          </a:xfrm>
          <a:prstGeom prst="borderCallout2">
            <a:avLst>
              <a:gd name="adj1" fmla="val 17023"/>
              <a:gd name="adj2" fmla="val -4287"/>
              <a:gd name="adj3" fmla="val 17023"/>
              <a:gd name="adj4" fmla="val -22319"/>
              <a:gd name="adj5" fmla="val 365250"/>
              <a:gd name="adj6" fmla="val -50444"/>
            </a:avLst>
          </a:prstGeom>
          <a:solidFill>
            <a:schemeClr val="tx1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algn="ctr"/>
            <a:r>
              <a:rPr lang="en-US">
                <a:solidFill>
                  <a:srgbClr val="000000"/>
                </a:solidFill>
              </a:rPr>
              <a:t>‘*’ means path cycles</a:t>
            </a:r>
          </a:p>
        </p:txBody>
      </p:sp>
      <p:sp>
        <p:nvSpPr>
          <p:cNvPr id="177194" name="Text Box 1066"/>
          <p:cNvSpPr txBox="1">
            <a:spLocks noChangeArrowheads="1"/>
          </p:cNvSpPr>
          <p:nvPr/>
        </p:nvSpPr>
        <p:spPr bwMode="auto">
          <a:xfrm>
            <a:off x="6672263" y="1139825"/>
            <a:ext cx="1443037" cy="2847975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u="sng" dirty="0">
                <a:solidFill>
                  <a:schemeClr val="tx1"/>
                </a:solidFill>
              </a:rPr>
              <a:t>Len 3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[1, 2, 3, 4]</a:t>
            </a:r>
          </a:p>
          <a:p>
            <a:r>
              <a:rPr lang="en-US" dirty="0">
                <a:solidFill>
                  <a:schemeClr val="tx1"/>
                </a:solidFill>
              </a:rPr>
              <a:t>[1, 2, 3, 5]</a:t>
            </a:r>
          </a:p>
          <a:p>
            <a:r>
              <a:rPr lang="en-US" dirty="0">
                <a:solidFill>
                  <a:schemeClr val="tx1"/>
                </a:solidFill>
              </a:rPr>
              <a:t>[1, 3, 4, 7] !</a:t>
            </a:r>
          </a:p>
          <a:p>
            <a:r>
              <a:rPr lang="en-US" dirty="0">
                <a:solidFill>
                  <a:schemeClr val="tx1"/>
                </a:solidFill>
              </a:rPr>
              <a:t>[1, 3, 5, 7] !</a:t>
            </a:r>
          </a:p>
          <a:p>
            <a:r>
              <a:rPr lang="en-US" dirty="0">
                <a:solidFill>
                  <a:schemeClr val="tx1"/>
                </a:solidFill>
              </a:rPr>
              <a:t>[1, 3, 5, 6] !</a:t>
            </a:r>
          </a:p>
          <a:p>
            <a:r>
              <a:rPr lang="en-US" dirty="0">
                <a:solidFill>
                  <a:schemeClr val="tx1"/>
                </a:solidFill>
              </a:rPr>
              <a:t>[2, 3, 4, 7] !</a:t>
            </a:r>
          </a:p>
          <a:p>
            <a:r>
              <a:rPr lang="en-US" dirty="0">
                <a:solidFill>
                  <a:schemeClr val="tx1"/>
                </a:solidFill>
              </a:rPr>
              <a:t>[2, 3, 5, 6] !</a:t>
            </a:r>
          </a:p>
          <a:p>
            <a:r>
              <a:rPr lang="en-US" dirty="0">
                <a:solidFill>
                  <a:schemeClr val="tx1"/>
                </a:solidFill>
              </a:rPr>
              <a:t>[2, 3, 5, 7] !</a:t>
            </a:r>
          </a:p>
        </p:txBody>
      </p:sp>
      <p:sp>
        <p:nvSpPr>
          <p:cNvPr id="177195" name="Text Box 1067"/>
          <p:cNvSpPr txBox="1">
            <a:spLocks noChangeArrowheads="1"/>
          </p:cNvSpPr>
          <p:nvPr/>
        </p:nvSpPr>
        <p:spPr bwMode="auto">
          <a:xfrm>
            <a:off x="2740025" y="4999038"/>
            <a:ext cx="1981200" cy="1323439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u="sng" dirty="0">
                <a:solidFill>
                  <a:schemeClr val="tx1"/>
                </a:solidFill>
              </a:rPr>
              <a:t>Len 4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[1, 2, 3, 4, 7] !</a:t>
            </a:r>
          </a:p>
          <a:p>
            <a:r>
              <a:rPr lang="en-US" dirty="0">
                <a:solidFill>
                  <a:schemeClr val="tx1"/>
                </a:solidFill>
              </a:rPr>
              <a:t>[1, 2, 3, 5, 7] !</a:t>
            </a:r>
          </a:p>
          <a:p>
            <a:r>
              <a:rPr lang="en-US" dirty="0">
                <a:solidFill>
                  <a:schemeClr val="tx1"/>
                </a:solidFill>
              </a:rPr>
              <a:t>[1, 2, 3, 5, 6] !</a:t>
            </a:r>
          </a:p>
        </p:txBody>
      </p:sp>
      <p:grpSp>
        <p:nvGrpSpPr>
          <p:cNvPr id="10" name="Group 1076"/>
          <p:cNvGrpSpPr>
            <a:grpSpLocks/>
          </p:cNvGrpSpPr>
          <p:nvPr/>
        </p:nvGrpSpPr>
        <p:grpSpPr bwMode="auto">
          <a:xfrm>
            <a:off x="2460625" y="2106613"/>
            <a:ext cx="5889625" cy="4217987"/>
            <a:chOff x="1550" y="1327"/>
            <a:chExt cx="3710" cy="2657"/>
          </a:xfrm>
        </p:grpSpPr>
        <p:sp>
          <p:nvSpPr>
            <p:cNvPr id="26640" name="Oval 1069"/>
            <p:cNvSpPr>
              <a:spLocks noChangeArrowheads="1"/>
            </p:cNvSpPr>
            <p:nvPr/>
          </p:nvSpPr>
          <p:spPr bwMode="auto">
            <a:xfrm>
              <a:off x="1550" y="3363"/>
              <a:ext cx="1390" cy="621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26641" name="Oval 1070"/>
            <p:cNvSpPr>
              <a:spLocks noChangeArrowheads="1"/>
            </p:cNvSpPr>
            <p:nvPr/>
          </p:nvSpPr>
          <p:spPr bwMode="auto">
            <a:xfrm>
              <a:off x="4083" y="1327"/>
              <a:ext cx="1063" cy="621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26642" name="Oval 1071"/>
            <p:cNvSpPr>
              <a:spLocks noChangeArrowheads="1"/>
            </p:cNvSpPr>
            <p:nvPr/>
          </p:nvSpPr>
          <p:spPr bwMode="auto">
            <a:xfrm>
              <a:off x="3161" y="2472"/>
              <a:ext cx="827" cy="621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26643" name="Text Box 1072"/>
            <p:cNvSpPr txBox="1">
              <a:spLocks noChangeArrowheads="1"/>
            </p:cNvSpPr>
            <p:nvPr/>
          </p:nvSpPr>
          <p:spPr bwMode="auto">
            <a:xfrm>
              <a:off x="3628" y="3542"/>
              <a:ext cx="1632" cy="262"/>
            </a:xfrm>
            <a:prstGeom prst="rect">
              <a:avLst/>
            </a:prstGeom>
            <a:solidFill>
              <a:srgbClr val="0033CC"/>
            </a:solidFill>
            <a:ln w="1905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/>
              <a:r>
                <a:rPr lang="en-US" i="1"/>
                <a:t>Prime Paths</a:t>
              </a:r>
            </a:p>
          </p:txBody>
        </p:sp>
        <p:sp>
          <p:nvSpPr>
            <p:cNvPr id="26644" name="Line 1073"/>
            <p:cNvSpPr>
              <a:spLocks noChangeShapeType="1"/>
            </p:cNvSpPr>
            <p:nvPr/>
          </p:nvSpPr>
          <p:spPr bwMode="auto">
            <a:xfrm>
              <a:off x="4621" y="1946"/>
              <a:ext cx="0" cy="1587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645" name="Line 1074"/>
            <p:cNvSpPr>
              <a:spLocks noChangeShapeType="1"/>
            </p:cNvSpPr>
            <p:nvPr/>
          </p:nvSpPr>
          <p:spPr bwMode="auto">
            <a:xfrm>
              <a:off x="3859" y="3008"/>
              <a:ext cx="563" cy="525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646" name="Line 1075"/>
            <p:cNvSpPr>
              <a:spLocks noChangeShapeType="1"/>
            </p:cNvSpPr>
            <p:nvPr/>
          </p:nvSpPr>
          <p:spPr bwMode="auto">
            <a:xfrm>
              <a:off x="2938" y="3674"/>
              <a:ext cx="684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7205" name="Text Box 1077"/>
          <p:cNvSpPr txBox="1">
            <a:spLocks noChangeArrowheads="1"/>
          </p:cNvSpPr>
          <p:nvPr/>
        </p:nvSpPr>
        <p:spPr bwMode="auto">
          <a:xfrm>
            <a:off x="1620838" y="1120775"/>
            <a:ext cx="1016000" cy="714375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Simple paths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77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77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7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77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77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77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77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77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188" grpId="0" animBg="1" autoUpdateAnimBg="0"/>
      <p:bldP spid="177190" grpId="0" animBg="1" autoUpdateAnimBg="0"/>
      <p:bldP spid="177191" grpId="0" animBg="1" autoUpdateAnimBg="0"/>
      <p:bldP spid="177192" grpId="0" animBg="1" autoUpdateAnimBg="0"/>
      <p:bldP spid="177193" grpId="0" animBg="1" autoUpdateAnimBg="0"/>
      <p:bldP spid="177194" grpId="0" animBg="1" autoUpdateAnimBg="0"/>
      <p:bldP spid="177195" grpId="0" animBg="1" autoUpdateAnimBg="0"/>
      <p:bldP spid="177205" grpId="0" animBg="1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Introduction to Software Testing, Edition 2  (Ch 07)</a:t>
            </a:r>
          </a:p>
        </p:txBody>
      </p:sp>
      <p:sp>
        <p:nvSpPr>
          <p:cNvPr id="27651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© Ammann &amp; Offutt</a:t>
            </a:r>
          </a:p>
        </p:txBody>
      </p:sp>
      <p:sp>
        <p:nvSpPr>
          <p:cNvPr id="2765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2DF65B8-833A-4B1C-8011-8D0657F291E8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276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Flow Criteria</a:t>
            </a:r>
          </a:p>
        </p:txBody>
      </p:sp>
      <p:sp>
        <p:nvSpPr>
          <p:cNvPr id="276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8113" y="1654947"/>
            <a:ext cx="8867775" cy="1358128"/>
          </a:xfrm>
        </p:spPr>
        <p:txBody>
          <a:bodyPr/>
          <a:lstStyle/>
          <a:p>
            <a:r>
              <a:rPr kumimoji="1" lang="en-US" altLang="zh-CN" dirty="0">
                <a:solidFill>
                  <a:schemeClr val="tx2"/>
                </a:solidFill>
                <a:ea typeface="宋体" charset="-122"/>
              </a:rPr>
              <a:t>Definition (def)</a:t>
            </a:r>
            <a:r>
              <a:rPr kumimoji="1" lang="en-US" altLang="zh-CN" dirty="0">
                <a:ea typeface="宋体" charset="-122"/>
              </a:rPr>
              <a:t> : A location where a value for a variable is stored into memory</a:t>
            </a:r>
          </a:p>
          <a:p>
            <a:r>
              <a:rPr kumimoji="1" lang="en-US" altLang="zh-CN" dirty="0">
                <a:solidFill>
                  <a:schemeClr val="tx2"/>
                </a:solidFill>
                <a:ea typeface="宋体" charset="-122"/>
              </a:rPr>
              <a:t>Use</a:t>
            </a:r>
            <a:r>
              <a:rPr kumimoji="1" lang="en-US" altLang="zh-CN" dirty="0">
                <a:ea typeface="宋体" charset="-122"/>
              </a:rPr>
              <a:t> : A location where a variable’s value is accessed</a:t>
            </a:r>
          </a:p>
        </p:txBody>
      </p:sp>
      <p:sp>
        <p:nvSpPr>
          <p:cNvPr id="27655" name="Text Box 5"/>
          <p:cNvSpPr txBox="1">
            <a:spLocks noChangeArrowheads="1"/>
          </p:cNvSpPr>
          <p:nvPr/>
        </p:nvSpPr>
        <p:spPr bwMode="auto">
          <a:xfrm>
            <a:off x="252413" y="832622"/>
            <a:ext cx="8640762" cy="830997"/>
          </a:xfrm>
          <a:prstGeom prst="rect">
            <a:avLst/>
          </a:prstGeom>
          <a:solidFill>
            <a:srgbClr val="0033CC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u="sng" dirty="0">
                <a:solidFill>
                  <a:schemeClr val="tx1"/>
                </a:solidFill>
                <a:latin typeface="Gill Sans MT" pitchFamily="34" charset="0"/>
              </a:rPr>
              <a:t>Goal</a:t>
            </a:r>
            <a:r>
              <a:rPr lang="en-US" sz="2400" dirty="0">
                <a:solidFill>
                  <a:schemeClr val="tx1"/>
                </a:solidFill>
                <a:latin typeface="Gill Sans MT" pitchFamily="34" charset="0"/>
              </a:rPr>
              <a:t>: Try to ensure that values are computed and used correctly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431800" y="3411538"/>
            <a:ext cx="4346575" cy="1443037"/>
            <a:chOff x="503" y="2966"/>
            <a:chExt cx="2738" cy="909"/>
          </a:xfrm>
        </p:grpSpPr>
        <p:grpSp>
          <p:nvGrpSpPr>
            <p:cNvPr id="27663" name="Group 7"/>
            <p:cNvGrpSpPr>
              <a:grpSpLocks/>
            </p:cNvGrpSpPr>
            <p:nvPr/>
          </p:nvGrpSpPr>
          <p:grpSpPr bwMode="auto">
            <a:xfrm>
              <a:off x="730" y="3273"/>
              <a:ext cx="350" cy="296"/>
              <a:chOff x="4288" y="1746"/>
              <a:chExt cx="350" cy="296"/>
            </a:xfrm>
          </p:grpSpPr>
          <p:sp>
            <p:nvSpPr>
              <p:cNvPr id="27693" name="Oval 8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 b="0">
                  <a:latin typeface="Gill Sans MT" pitchFamily="34" charset="0"/>
                </a:endParaRPr>
              </a:p>
            </p:txBody>
          </p:sp>
          <p:sp>
            <p:nvSpPr>
              <p:cNvPr id="27694" name="Text Box 9"/>
              <p:cNvSpPr txBox="1">
                <a:spLocks noChangeArrowheads="1"/>
              </p:cNvSpPr>
              <p:nvPr/>
            </p:nvSpPr>
            <p:spPr bwMode="auto">
              <a:xfrm>
                <a:off x="4364" y="1769"/>
                <a:ext cx="197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b="0" dirty="0">
                    <a:solidFill>
                      <a:schemeClr val="tx1"/>
                    </a:solidFill>
                    <a:latin typeface="Gill Sans MT" pitchFamily="34" charset="0"/>
                  </a:rPr>
                  <a:t>1</a:t>
                </a:r>
              </a:p>
            </p:txBody>
          </p:sp>
        </p:grpSp>
        <p:grpSp>
          <p:nvGrpSpPr>
            <p:cNvPr id="27664" name="Group 10"/>
            <p:cNvGrpSpPr>
              <a:grpSpLocks/>
            </p:cNvGrpSpPr>
            <p:nvPr/>
          </p:nvGrpSpPr>
          <p:grpSpPr bwMode="auto">
            <a:xfrm>
              <a:off x="1255" y="2966"/>
              <a:ext cx="380" cy="908"/>
              <a:chOff x="1346" y="2965"/>
              <a:chExt cx="380" cy="908"/>
            </a:xfrm>
          </p:grpSpPr>
          <p:grpSp>
            <p:nvGrpSpPr>
              <p:cNvPr id="27687" name="Group 11"/>
              <p:cNvGrpSpPr>
                <a:grpSpLocks/>
              </p:cNvGrpSpPr>
              <p:nvPr/>
            </p:nvGrpSpPr>
            <p:grpSpPr bwMode="auto">
              <a:xfrm>
                <a:off x="1346" y="3577"/>
                <a:ext cx="350" cy="296"/>
                <a:chOff x="4738" y="2684"/>
                <a:chExt cx="350" cy="296"/>
              </a:xfrm>
            </p:grpSpPr>
            <p:sp>
              <p:nvSpPr>
                <p:cNvPr id="27691" name="Oval 12"/>
                <p:cNvSpPr>
                  <a:spLocks noChangeArrowheads="1"/>
                </p:cNvSpPr>
                <p:nvPr/>
              </p:nvSpPr>
              <p:spPr bwMode="auto">
                <a:xfrm>
                  <a:off x="4738" y="2684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 b="0">
                    <a:latin typeface="Gill Sans MT" pitchFamily="34" charset="0"/>
                  </a:endParaRPr>
                </a:p>
              </p:txBody>
            </p:sp>
            <p:sp>
              <p:nvSpPr>
                <p:cNvPr id="27692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4815" y="2707"/>
                  <a:ext cx="197" cy="25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b="0" dirty="0">
                      <a:solidFill>
                        <a:schemeClr val="tx1"/>
                      </a:solidFill>
                      <a:latin typeface="Gill Sans MT" pitchFamily="34" charset="0"/>
                    </a:rPr>
                    <a:t>3</a:t>
                  </a:r>
                </a:p>
              </p:txBody>
            </p:sp>
          </p:grpSp>
          <p:grpSp>
            <p:nvGrpSpPr>
              <p:cNvPr id="27688" name="Group 14"/>
              <p:cNvGrpSpPr>
                <a:grpSpLocks/>
              </p:cNvGrpSpPr>
              <p:nvPr/>
            </p:nvGrpSpPr>
            <p:grpSpPr bwMode="auto">
              <a:xfrm>
                <a:off x="1376" y="2965"/>
                <a:ext cx="350" cy="296"/>
                <a:chOff x="3838" y="2684"/>
                <a:chExt cx="350" cy="296"/>
              </a:xfrm>
            </p:grpSpPr>
            <p:sp>
              <p:nvSpPr>
                <p:cNvPr id="27689" name="Oval 15"/>
                <p:cNvSpPr>
                  <a:spLocks noChangeArrowheads="1"/>
                </p:cNvSpPr>
                <p:nvPr/>
              </p:nvSpPr>
              <p:spPr bwMode="auto">
                <a:xfrm>
                  <a:off x="3838" y="2684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 b="0">
                    <a:latin typeface="Gill Sans MT" pitchFamily="34" charset="0"/>
                  </a:endParaRPr>
                </a:p>
              </p:txBody>
            </p:sp>
            <p:sp>
              <p:nvSpPr>
                <p:cNvPr id="27690" name="Text Box 16"/>
                <p:cNvSpPr txBox="1">
                  <a:spLocks noChangeArrowheads="1"/>
                </p:cNvSpPr>
                <p:nvPr/>
              </p:nvSpPr>
              <p:spPr bwMode="auto">
                <a:xfrm>
                  <a:off x="3915" y="2707"/>
                  <a:ext cx="197" cy="25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b="0" dirty="0">
                      <a:solidFill>
                        <a:schemeClr val="tx1"/>
                      </a:solidFill>
                      <a:latin typeface="Gill Sans MT" pitchFamily="34" charset="0"/>
                    </a:rPr>
                    <a:t>2</a:t>
                  </a:r>
                </a:p>
              </p:txBody>
            </p:sp>
          </p:grpSp>
        </p:grpSp>
        <p:grpSp>
          <p:nvGrpSpPr>
            <p:cNvPr id="27665" name="Group 17"/>
            <p:cNvGrpSpPr>
              <a:grpSpLocks/>
            </p:cNvGrpSpPr>
            <p:nvPr/>
          </p:nvGrpSpPr>
          <p:grpSpPr bwMode="auto">
            <a:xfrm>
              <a:off x="2891" y="3273"/>
              <a:ext cx="350" cy="296"/>
              <a:chOff x="4288" y="3622"/>
              <a:chExt cx="350" cy="296"/>
            </a:xfrm>
          </p:grpSpPr>
          <p:sp>
            <p:nvSpPr>
              <p:cNvPr id="27685" name="Oval 18"/>
              <p:cNvSpPr>
                <a:spLocks noChangeArrowheads="1"/>
              </p:cNvSpPr>
              <p:nvPr/>
            </p:nvSpPr>
            <p:spPr bwMode="auto">
              <a:xfrm>
                <a:off x="4288" y="3622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 b="0">
                  <a:latin typeface="Gill Sans MT" pitchFamily="34" charset="0"/>
                </a:endParaRPr>
              </a:p>
            </p:txBody>
          </p:sp>
          <p:sp>
            <p:nvSpPr>
              <p:cNvPr id="27686" name="Text Box 19"/>
              <p:cNvSpPr txBox="1">
                <a:spLocks noChangeArrowheads="1"/>
              </p:cNvSpPr>
              <p:nvPr/>
            </p:nvSpPr>
            <p:spPr bwMode="auto">
              <a:xfrm>
                <a:off x="4365" y="3645"/>
                <a:ext cx="197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b="0" dirty="0">
                    <a:solidFill>
                      <a:schemeClr val="tx1"/>
                    </a:solidFill>
                    <a:latin typeface="Gill Sans MT" pitchFamily="34" charset="0"/>
                  </a:rPr>
                  <a:t>7</a:t>
                </a:r>
              </a:p>
            </p:txBody>
          </p:sp>
        </p:grpSp>
        <p:sp>
          <p:nvSpPr>
            <p:cNvPr id="27666" name="Line 20"/>
            <p:cNvSpPr>
              <a:spLocks noChangeShapeType="1"/>
            </p:cNvSpPr>
            <p:nvPr/>
          </p:nvSpPr>
          <p:spPr bwMode="auto">
            <a:xfrm flipV="1">
              <a:off x="1075" y="3193"/>
              <a:ext cx="250" cy="16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 b="0">
                <a:latin typeface="Gill Sans MT" pitchFamily="34" charset="0"/>
              </a:endParaRPr>
            </a:p>
          </p:txBody>
        </p:sp>
        <p:sp>
          <p:nvSpPr>
            <p:cNvPr id="27667" name="Line 21"/>
            <p:cNvSpPr>
              <a:spLocks noChangeShapeType="1"/>
            </p:cNvSpPr>
            <p:nvPr/>
          </p:nvSpPr>
          <p:spPr bwMode="auto">
            <a:xfrm>
              <a:off x="503" y="3421"/>
              <a:ext cx="2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 b="0">
                <a:latin typeface="Gill Sans MT" pitchFamily="34" charset="0"/>
              </a:endParaRPr>
            </a:p>
          </p:txBody>
        </p:sp>
        <p:grpSp>
          <p:nvGrpSpPr>
            <p:cNvPr id="27668" name="Group 22"/>
            <p:cNvGrpSpPr>
              <a:grpSpLocks/>
            </p:cNvGrpSpPr>
            <p:nvPr/>
          </p:nvGrpSpPr>
          <p:grpSpPr bwMode="auto">
            <a:xfrm>
              <a:off x="1810" y="3273"/>
              <a:ext cx="350" cy="296"/>
              <a:chOff x="4288" y="1746"/>
              <a:chExt cx="350" cy="296"/>
            </a:xfrm>
          </p:grpSpPr>
          <p:sp>
            <p:nvSpPr>
              <p:cNvPr id="27683" name="Oval 23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 b="0">
                  <a:latin typeface="Gill Sans MT" pitchFamily="34" charset="0"/>
                </a:endParaRPr>
              </a:p>
            </p:txBody>
          </p:sp>
          <p:sp>
            <p:nvSpPr>
              <p:cNvPr id="27684" name="Text Box 24"/>
              <p:cNvSpPr txBox="1">
                <a:spLocks noChangeArrowheads="1"/>
              </p:cNvSpPr>
              <p:nvPr/>
            </p:nvSpPr>
            <p:spPr bwMode="auto">
              <a:xfrm>
                <a:off x="4364" y="1769"/>
                <a:ext cx="197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b="0" dirty="0">
                    <a:solidFill>
                      <a:schemeClr val="tx1"/>
                    </a:solidFill>
                    <a:latin typeface="Gill Sans MT" pitchFamily="34" charset="0"/>
                  </a:rPr>
                  <a:t>4</a:t>
                </a:r>
              </a:p>
            </p:txBody>
          </p:sp>
        </p:grpSp>
        <p:grpSp>
          <p:nvGrpSpPr>
            <p:cNvPr id="27669" name="Group 25"/>
            <p:cNvGrpSpPr>
              <a:grpSpLocks/>
            </p:cNvGrpSpPr>
            <p:nvPr/>
          </p:nvGrpSpPr>
          <p:grpSpPr bwMode="auto">
            <a:xfrm>
              <a:off x="2335" y="2967"/>
              <a:ext cx="380" cy="908"/>
              <a:chOff x="2450" y="2968"/>
              <a:chExt cx="380" cy="908"/>
            </a:xfrm>
          </p:grpSpPr>
          <p:grpSp>
            <p:nvGrpSpPr>
              <p:cNvPr id="27677" name="Group 26"/>
              <p:cNvGrpSpPr>
                <a:grpSpLocks/>
              </p:cNvGrpSpPr>
              <p:nvPr/>
            </p:nvGrpSpPr>
            <p:grpSpPr bwMode="auto">
              <a:xfrm>
                <a:off x="2450" y="3580"/>
                <a:ext cx="350" cy="296"/>
                <a:chOff x="4738" y="2684"/>
                <a:chExt cx="350" cy="296"/>
              </a:xfrm>
            </p:grpSpPr>
            <p:sp>
              <p:nvSpPr>
                <p:cNvPr id="27681" name="Oval 27"/>
                <p:cNvSpPr>
                  <a:spLocks noChangeArrowheads="1"/>
                </p:cNvSpPr>
                <p:nvPr/>
              </p:nvSpPr>
              <p:spPr bwMode="auto">
                <a:xfrm>
                  <a:off x="4738" y="2684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 b="0">
                    <a:latin typeface="Gill Sans MT" pitchFamily="34" charset="0"/>
                  </a:endParaRPr>
                </a:p>
              </p:txBody>
            </p:sp>
            <p:sp>
              <p:nvSpPr>
                <p:cNvPr id="27682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4815" y="2707"/>
                  <a:ext cx="197" cy="25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b="0" dirty="0">
                      <a:solidFill>
                        <a:schemeClr val="tx1"/>
                      </a:solidFill>
                      <a:latin typeface="Gill Sans MT" pitchFamily="34" charset="0"/>
                    </a:rPr>
                    <a:t>6</a:t>
                  </a:r>
                </a:p>
              </p:txBody>
            </p:sp>
          </p:grpSp>
          <p:grpSp>
            <p:nvGrpSpPr>
              <p:cNvPr id="27678" name="Group 29"/>
              <p:cNvGrpSpPr>
                <a:grpSpLocks/>
              </p:cNvGrpSpPr>
              <p:nvPr/>
            </p:nvGrpSpPr>
            <p:grpSpPr bwMode="auto">
              <a:xfrm>
                <a:off x="2480" y="2968"/>
                <a:ext cx="350" cy="296"/>
                <a:chOff x="3838" y="2684"/>
                <a:chExt cx="350" cy="296"/>
              </a:xfrm>
            </p:grpSpPr>
            <p:sp>
              <p:nvSpPr>
                <p:cNvPr id="27679" name="Oval 30"/>
                <p:cNvSpPr>
                  <a:spLocks noChangeArrowheads="1"/>
                </p:cNvSpPr>
                <p:nvPr/>
              </p:nvSpPr>
              <p:spPr bwMode="auto">
                <a:xfrm>
                  <a:off x="3838" y="2684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 b="0">
                    <a:latin typeface="Gill Sans MT" pitchFamily="34" charset="0"/>
                  </a:endParaRPr>
                </a:p>
              </p:txBody>
            </p:sp>
            <p:sp>
              <p:nvSpPr>
                <p:cNvPr id="27680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3915" y="2707"/>
                  <a:ext cx="197" cy="25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b="0" dirty="0">
                      <a:solidFill>
                        <a:schemeClr val="tx1"/>
                      </a:solidFill>
                      <a:latin typeface="Gill Sans MT" pitchFamily="34" charset="0"/>
                    </a:rPr>
                    <a:t>5</a:t>
                  </a:r>
                </a:p>
              </p:txBody>
            </p:sp>
          </p:grpSp>
        </p:grpSp>
        <p:sp>
          <p:nvSpPr>
            <p:cNvPr id="27670" name="Line 32"/>
            <p:cNvSpPr>
              <a:spLocks noChangeShapeType="1"/>
            </p:cNvSpPr>
            <p:nvPr/>
          </p:nvSpPr>
          <p:spPr bwMode="auto">
            <a:xfrm flipV="1">
              <a:off x="2679" y="3513"/>
              <a:ext cx="250" cy="16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 b="0">
                <a:latin typeface="Gill Sans MT" pitchFamily="34" charset="0"/>
              </a:endParaRPr>
            </a:p>
          </p:txBody>
        </p:sp>
        <p:sp>
          <p:nvSpPr>
            <p:cNvPr id="27671" name="Line 33"/>
            <p:cNvSpPr>
              <a:spLocks noChangeShapeType="1"/>
            </p:cNvSpPr>
            <p:nvPr/>
          </p:nvSpPr>
          <p:spPr bwMode="auto">
            <a:xfrm flipV="1">
              <a:off x="1595" y="3513"/>
              <a:ext cx="250" cy="16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 b="0">
                <a:latin typeface="Gill Sans MT" pitchFamily="34" charset="0"/>
              </a:endParaRPr>
            </a:p>
          </p:txBody>
        </p:sp>
        <p:sp>
          <p:nvSpPr>
            <p:cNvPr id="27672" name="Line 34"/>
            <p:cNvSpPr>
              <a:spLocks noChangeShapeType="1"/>
            </p:cNvSpPr>
            <p:nvPr/>
          </p:nvSpPr>
          <p:spPr bwMode="auto">
            <a:xfrm flipV="1">
              <a:off x="2147" y="3193"/>
              <a:ext cx="250" cy="16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 b="0">
                <a:latin typeface="Gill Sans MT" pitchFamily="34" charset="0"/>
              </a:endParaRPr>
            </a:p>
          </p:txBody>
        </p:sp>
        <p:sp>
          <p:nvSpPr>
            <p:cNvPr id="27673" name="Line 35"/>
            <p:cNvSpPr>
              <a:spLocks noChangeShapeType="1"/>
            </p:cNvSpPr>
            <p:nvPr/>
          </p:nvSpPr>
          <p:spPr bwMode="auto">
            <a:xfrm>
              <a:off x="1055" y="3517"/>
              <a:ext cx="218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 b="0">
                <a:latin typeface="Gill Sans MT" pitchFamily="34" charset="0"/>
              </a:endParaRPr>
            </a:p>
          </p:txBody>
        </p:sp>
        <p:sp>
          <p:nvSpPr>
            <p:cNvPr id="27674" name="Line 36"/>
            <p:cNvSpPr>
              <a:spLocks noChangeShapeType="1"/>
            </p:cNvSpPr>
            <p:nvPr/>
          </p:nvSpPr>
          <p:spPr bwMode="auto">
            <a:xfrm>
              <a:off x="1607" y="3198"/>
              <a:ext cx="218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 b="0">
                <a:latin typeface="Gill Sans MT" pitchFamily="34" charset="0"/>
              </a:endParaRPr>
            </a:p>
          </p:txBody>
        </p:sp>
        <p:sp>
          <p:nvSpPr>
            <p:cNvPr id="27675" name="Line 37"/>
            <p:cNvSpPr>
              <a:spLocks noChangeShapeType="1"/>
            </p:cNvSpPr>
            <p:nvPr/>
          </p:nvSpPr>
          <p:spPr bwMode="auto">
            <a:xfrm>
              <a:off x="2123" y="3518"/>
              <a:ext cx="218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 b="0">
                <a:latin typeface="Gill Sans MT" pitchFamily="34" charset="0"/>
              </a:endParaRPr>
            </a:p>
          </p:txBody>
        </p:sp>
        <p:sp>
          <p:nvSpPr>
            <p:cNvPr id="27676" name="Line 38"/>
            <p:cNvSpPr>
              <a:spLocks noChangeShapeType="1"/>
            </p:cNvSpPr>
            <p:nvPr/>
          </p:nvSpPr>
          <p:spPr bwMode="auto">
            <a:xfrm>
              <a:off x="2707" y="3197"/>
              <a:ext cx="218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 b="0">
                <a:latin typeface="Gill Sans MT" pitchFamily="34" charset="0"/>
              </a:endParaRPr>
            </a:p>
          </p:txBody>
        </p:sp>
      </p:grpSp>
      <p:grpSp>
        <p:nvGrpSpPr>
          <p:cNvPr id="12" name="Group 43"/>
          <p:cNvGrpSpPr>
            <a:grpSpLocks/>
          </p:cNvGrpSpPr>
          <p:nvPr/>
        </p:nvGrpSpPr>
        <p:grpSpPr bwMode="auto">
          <a:xfrm>
            <a:off x="547688" y="3068638"/>
            <a:ext cx="3681412" cy="2144712"/>
            <a:chOff x="345" y="2726"/>
            <a:chExt cx="2319" cy="1351"/>
          </a:xfrm>
        </p:grpSpPr>
        <p:sp>
          <p:nvSpPr>
            <p:cNvPr id="27660" name="Text Box 39"/>
            <p:cNvSpPr txBox="1">
              <a:spLocks noChangeArrowheads="1"/>
            </p:cNvSpPr>
            <p:nvPr/>
          </p:nvSpPr>
          <p:spPr bwMode="auto">
            <a:xfrm>
              <a:off x="345" y="3059"/>
              <a:ext cx="648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b="0">
                  <a:latin typeface="Gill Sans MT" pitchFamily="34" charset="0"/>
                </a:rPr>
                <a:t>X = 42</a:t>
              </a:r>
            </a:p>
          </p:txBody>
        </p:sp>
        <p:sp>
          <p:nvSpPr>
            <p:cNvPr id="27661" name="Text Box 40"/>
            <p:cNvSpPr txBox="1">
              <a:spLocks noChangeArrowheads="1"/>
            </p:cNvSpPr>
            <p:nvPr/>
          </p:nvSpPr>
          <p:spPr bwMode="auto">
            <a:xfrm>
              <a:off x="1961" y="3825"/>
              <a:ext cx="648" cy="25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b="0">
                  <a:latin typeface="Gill Sans MT" pitchFamily="34" charset="0"/>
                </a:rPr>
                <a:t>Z = X-8</a:t>
              </a:r>
            </a:p>
          </p:txBody>
        </p:sp>
        <p:sp>
          <p:nvSpPr>
            <p:cNvPr id="27662" name="Text Box 41"/>
            <p:cNvSpPr txBox="1">
              <a:spLocks noChangeArrowheads="1"/>
            </p:cNvSpPr>
            <p:nvPr/>
          </p:nvSpPr>
          <p:spPr bwMode="auto">
            <a:xfrm>
              <a:off x="1908" y="2726"/>
              <a:ext cx="756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b="0">
                  <a:latin typeface="Gill Sans MT" pitchFamily="34" charset="0"/>
                </a:rPr>
                <a:t>Z = X*2</a:t>
              </a:r>
            </a:p>
          </p:txBody>
        </p:sp>
      </p:grpSp>
      <p:sp>
        <p:nvSpPr>
          <p:cNvPr id="178218" name="Text Box 42"/>
          <p:cNvSpPr txBox="1">
            <a:spLocks noChangeArrowheads="1"/>
          </p:cNvSpPr>
          <p:nvPr/>
        </p:nvSpPr>
        <p:spPr bwMode="auto">
          <a:xfrm>
            <a:off x="5219700" y="3073235"/>
            <a:ext cx="2734597" cy="2246769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b="0" u="sng" dirty="0" err="1">
                <a:solidFill>
                  <a:schemeClr val="tx1"/>
                </a:solidFill>
                <a:latin typeface="Gill Sans MT" pitchFamily="34" charset="0"/>
              </a:rPr>
              <a:t>Defs</a:t>
            </a:r>
            <a:r>
              <a:rPr lang="en-US" b="0" dirty="0">
                <a:solidFill>
                  <a:schemeClr val="tx1"/>
                </a:solidFill>
                <a:latin typeface="Gill Sans MT" pitchFamily="34" charset="0"/>
              </a:rPr>
              <a:t>: def (1) = {X}</a:t>
            </a:r>
          </a:p>
          <a:p>
            <a:pPr>
              <a:spcBef>
                <a:spcPct val="50000"/>
              </a:spcBef>
            </a:pPr>
            <a:r>
              <a:rPr lang="en-US" b="0" dirty="0">
                <a:solidFill>
                  <a:schemeClr val="tx1"/>
                </a:solidFill>
                <a:latin typeface="Gill Sans MT" pitchFamily="34" charset="0"/>
              </a:rPr>
              <a:t>        def (5) = {Z}</a:t>
            </a:r>
          </a:p>
          <a:p>
            <a:pPr>
              <a:spcBef>
                <a:spcPct val="50000"/>
              </a:spcBef>
            </a:pPr>
            <a:r>
              <a:rPr lang="en-US" b="0" dirty="0">
                <a:solidFill>
                  <a:schemeClr val="tx1"/>
                </a:solidFill>
                <a:latin typeface="Gill Sans MT" pitchFamily="34" charset="0"/>
              </a:rPr>
              <a:t>        def (6) = {Z}</a:t>
            </a:r>
          </a:p>
          <a:p>
            <a:pPr>
              <a:spcBef>
                <a:spcPct val="50000"/>
              </a:spcBef>
            </a:pPr>
            <a:r>
              <a:rPr lang="en-US" b="0" u="sng" dirty="0">
                <a:solidFill>
                  <a:schemeClr val="tx1"/>
                </a:solidFill>
                <a:latin typeface="Gill Sans MT" pitchFamily="34" charset="0"/>
              </a:rPr>
              <a:t>Uses</a:t>
            </a:r>
            <a:r>
              <a:rPr lang="en-US" b="0" dirty="0">
                <a:solidFill>
                  <a:schemeClr val="tx1"/>
                </a:solidFill>
                <a:latin typeface="Gill Sans MT" pitchFamily="34" charset="0"/>
              </a:rPr>
              <a:t>: use (5) = {X}</a:t>
            </a:r>
          </a:p>
          <a:p>
            <a:pPr>
              <a:spcBef>
                <a:spcPct val="50000"/>
              </a:spcBef>
            </a:pPr>
            <a:r>
              <a:rPr lang="en-US" b="0" dirty="0">
                <a:solidFill>
                  <a:schemeClr val="tx1"/>
                </a:solidFill>
                <a:latin typeface="Gill Sans MT" pitchFamily="34" charset="0"/>
              </a:rPr>
              <a:t>         use (6) = {X}</a:t>
            </a:r>
          </a:p>
        </p:txBody>
      </p:sp>
      <p:sp>
        <p:nvSpPr>
          <p:cNvPr id="46" name="Text Box 5"/>
          <p:cNvSpPr txBox="1">
            <a:spLocks noChangeArrowheads="1"/>
          </p:cNvSpPr>
          <p:nvPr/>
        </p:nvSpPr>
        <p:spPr bwMode="auto">
          <a:xfrm>
            <a:off x="796925" y="5527675"/>
            <a:ext cx="7550150" cy="830263"/>
          </a:xfrm>
          <a:prstGeom prst="rect">
            <a:avLst/>
          </a:prstGeom>
          <a:solidFill>
            <a:srgbClr val="0033CC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The values given in </a:t>
            </a:r>
            <a:r>
              <a:rPr lang="en-US" sz="2400" b="0" dirty="0" err="1">
                <a:solidFill>
                  <a:schemeClr val="tx2"/>
                </a:solidFill>
                <a:latin typeface="Gill Sans MT" pitchFamily="34" charset="0"/>
              </a:rPr>
              <a:t>def</a:t>
            </a:r>
            <a:r>
              <a:rPr lang="en-US" sz="2400" b="0" dirty="0" err="1">
                <a:solidFill>
                  <a:schemeClr val="tx1"/>
                </a:solidFill>
                <a:latin typeface="Gill Sans MT" pitchFamily="34" charset="0"/>
              </a:rPr>
              <a:t>s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 should </a:t>
            </a:r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reach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 at least one, some, or all possible </a:t>
            </a:r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use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78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218" grpId="0" animBg="1"/>
      <p:bldP spid="4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DU Pairs and DU Paths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>
          <a:xfrm>
            <a:off x="120650" y="1085850"/>
            <a:ext cx="8867775" cy="5392738"/>
          </a:xfrm>
        </p:spPr>
        <p:txBody>
          <a:bodyPr/>
          <a:lstStyle/>
          <a:p>
            <a:endParaRPr lang="en-US" sz="2000"/>
          </a:p>
        </p:txBody>
      </p:sp>
      <p:sp>
        <p:nvSpPr>
          <p:cNvPr id="28676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Introduction to Software Testing, Edition 2  (Ch 07)</a:t>
            </a:r>
          </a:p>
        </p:txBody>
      </p:sp>
      <p:sp>
        <p:nvSpPr>
          <p:cNvPr id="28677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© Ammann &amp; Offutt</a:t>
            </a:r>
          </a:p>
        </p:txBody>
      </p:sp>
      <p:sp>
        <p:nvSpPr>
          <p:cNvPr id="286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68E056A-B082-44F8-A251-8B8D056847C4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120650" y="838200"/>
            <a:ext cx="8878888" cy="1322388"/>
          </a:xfrm>
          <a:prstGeom prst="rect">
            <a:avLst/>
          </a:prstGeom>
          <a:solidFill>
            <a:srgbClr val="0033CC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buFont typeface="Arial" charset="0"/>
              <a:buChar char="•"/>
            </a:pPr>
            <a:r>
              <a:rPr kumimoji="1" lang="en-US" altLang="zh-CN" b="0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 </a:t>
            </a:r>
            <a:r>
              <a:rPr kumimoji="1" lang="en-US" altLang="zh-CN" b="0" dirty="0">
                <a:solidFill>
                  <a:schemeClr val="tx2"/>
                </a:solidFill>
                <a:latin typeface="Gill Sans MT" pitchFamily="34" charset="0"/>
                <a:ea typeface="宋体" charset="-122"/>
              </a:rPr>
              <a:t>def (n) or def (e)</a:t>
            </a:r>
            <a:r>
              <a:rPr kumimoji="1" lang="en-US" altLang="zh-CN" b="0" dirty="0">
                <a:latin typeface="Gill Sans MT" pitchFamily="34" charset="0"/>
                <a:ea typeface="宋体" charset="-122"/>
              </a:rPr>
              <a:t> </a:t>
            </a:r>
            <a:r>
              <a:rPr kumimoji="1" lang="en-US" altLang="zh-CN" b="0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: The set of variables that are defined by node n </a:t>
            </a:r>
          </a:p>
          <a:p>
            <a:r>
              <a:rPr kumimoji="1" lang="en-US" altLang="zh-CN" b="0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   or edge e</a:t>
            </a:r>
          </a:p>
          <a:p>
            <a:pPr>
              <a:buFont typeface="Arial" charset="0"/>
              <a:buChar char="•"/>
            </a:pPr>
            <a:r>
              <a:rPr kumimoji="1" lang="en-US" altLang="zh-CN" b="0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 </a:t>
            </a:r>
            <a:r>
              <a:rPr kumimoji="1" lang="en-US" altLang="zh-CN" b="0" dirty="0">
                <a:solidFill>
                  <a:schemeClr val="tx2"/>
                </a:solidFill>
                <a:latin typeface="Gill Sans MT" pitchFamily="34" charset="0"/>
                <a:ea typeface="宋体" charset="-122"/>
              </a:rPr>
              <a:t>use (n) or use (e)</a:t>
            </a:r>
            <a:r>
              <a:rPr kumimoji="1" lang="en-US" altLang="zh-CN" b="0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 : The set of variables that are used by node n or </a:t>
            </a:r>
          </a:p>
          <a:p>
            <a:r>
              <a:rPr kumimoji="1" lang="en-US" altLang="zh-CN" b="0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   edge e</a:t>
            </a:r>
            <a:endParaRPr kumimoji="1" lang="en-US" b="0" dirty="0">
              <a:solidFill>
                <a:schemeClr val="tx1"/>
              </a:solidFill>
              <a:latin typeface="Gill Sans MT" pitchFamily="34" charset="0"/>
            </a:endParaRP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120650" y="2386013"/>
            <a:ext cx="8878888" cy="708025"/>
          </a:xfrm>
          <a:prstGeom prst="rect">
            <a:avLst/>
          </a:prstGeom>
          <a:solidFill>
            <a:srgbClr val="0033CC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buFont typeface="Arial" charset="0"/>
              <a:buChar char="•"/>
            </a:pPr>
            <a:r>
              <a:rPr kumimoji="1" lang="en-US" altLang="zh-CN" b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 </a:t>
            </a:r>
            <a:r>
              <a:rPr lang="en-US" b="0">
                <a:solidFill>
                  <a:schemeClr val="tx2"/>
                </a:solidFill>
                <a:latin typeface="Gill Sans MT" pitchFamily="34" charset="0"/>
              </a:rPr>
              <a:t>DU pair</a:t>
            </a:r>
            <a:r>
              <a:rPr lang="en-US" b="0">
                <a:solidFill>
                  <a:schemeClr val="tx1"/>
                </a:solidFill>
                <a:latin typeface="Gill Sans MT" pitchFamily="34" charset="0"/>
              </a:rPr>
              <a:t> : A pair of locations (</a:t>
            </a:r>
            <a:r>
              <a:rPr lang="en-US" b="0" i="1">
                <a:solidFill>
                  <a:schemeClr val="tx1"/>
                </a:solidFill>
                <a:latin typeface="Gill Sans MT" pitchFamily="34" charset="0"/>
              </a:rPr>
              <a:t>l</a:t>
            </a:r>
            <a:r>
              <a:rPr lang="en-US" b="0" i="1" baseline="-25000">
                <a:solidFill>
                  <a:schemeClr val="tx1"/>
                </a:solidFill>
                <a:latin typeface="Gill Sans MT" pitchFamily="34" charset="0"/>
              </a:rPr>
              <a:t>i</a:t>
            </a:r>
            <a:r>
              <a:rPr lang="en-US" b="0">
                <a:solidFill>
                  <a:schemeClr val="tx1"/>
                </a:solidFill>
                <a:latin typeface="Gill Sans MT" pitchFamily="34" charset="0"/>
              </a:rPr>
              <a:t>, </a:t>
            </a:r>
            <a:r>
              <a:rPr lang="en-US" b="0" i="1">
                <a:solidFill>
                  <a:schemeClr val="tx1"/>
                </a:solidFill>
                <a:latin typeface="Gill Sans MT" pitchFamily="34" charset="0"/>
              </a:rPr>
              <a:t>l</a:t>
            </a:r>
            <a:r>
              <a:rPr lang="en-US" b="0" i="1" baseline="-25000">
                <a:solidFill>
                  <a:schemeClr val="tx1"/>
                </a:solidFill>
                <a:latin typeface="Gill Sans MT" pitchFamily="34" charset="0"/>
              </a:rPr>
              <a:t>j</a:t>
            </a:r>
            <a:r>
              <a:rPr lang="en-US" b="0">
                <a:solidFill>
                  <a:schemeClr val="tx1"/>
                </a:solidFill>
                <a:latin typeface="Gill Sans MT" pitchFamily="34" charset="0"/>
              </a:rPr>
              <a:t>) such that a variable </a:t>
            </a:r>
            <a:r>
              <a:rPr lang="en-US" b="0" i="1">
                <a:solidFill>
                  <a:schemeClr val="tx1"/>
                </a:solidFill>
                <a:latin typeface="Gill Sans MT" pitchFamily="34" charset="0"/>
              </a:rPr>
              <a:t>v</a:t>
            </a:r>
            <a:r>
              <a:rPr lang="en-US" b="0">
                <a:solidFill>
                  <a:schemeClr val="tx1"/>
                </a:solidFill>
                <a:latin typeface="Gill Sans MT" pitchFamily="34" charset="0"/>
              </a:rPr>
              <a:t> is </a:t>
            </a:r>
          </a:p>
          <a:p>
            <a:r>
              <a:rPr lang="en-US" b="0">
                <a:solidFill>
                  <a:schemeClr val="tx1"/>
                </a:solidFill>
                <a:latin typeface="Gill Sans MT" pitchFamily="34" charset="0"/>
              </a:rPr>
              <a:t>   defined at </a:t>
            </a:r>
            <a:r>
              <a:rPr lang="en-US" b="0" i="1">
                <a:solidFill>
                  <a:schemeClr val="tx1"/>
                </a:solidFill>
                <a:latin typeface="Gill Sans MT" pitchFamily="34" charset="0"/>
              </a:rPr>
              <a:t>l</a:t>
            </a:r>
            <a:r>
              <a:rPr lang="en-US" b="0" i="1" baseline="-25000">
                <a:solidFill>
                  <a:schemeClr val="tx1"/>
                </a:solidFill>
                <a:latin typeface="Gill Sans MT" pitchFamily="34" charset="0"/>
              </a:rPr>
              <a:t>i</a:t>
            </a:r>
            <a:r>
              <a:rPr lang="en-US" b="0">
                <a:solidFill>
                  <a:schemeClr val="tx1"/>
                </a:solidFill>
                <a:latin typeface="Gill Sans MT" pitchFamily="34" charset="0"/>
              </a:rPr>
              <a:t> and used at </a:t>
            </a:r>
            <a:r>
              <a:rPr lang="en-US" b="0" i="1">
                <a:solidFill>
                  <a:schemeClr val="tx1"/>
                </a:solidFill>
                <a:latin typeface="Gill Sans MT" pitchFamily="34" charset="0"/>
              </a:rPr>
              <a:t>l</a:t>
            </a:r>
            <a:r>
              <a:rPr lang="en-US" b="0" i="1" baseline="-25000">
                <a:solidFill>
                  <a:schemeClr val="tx1"/>
                </a:solidFill>
                <a:latin typeface="Gill Sans MT" pitchFamily="34" charset="0"/>
              </a:rPr>
              <a:t>j</a:t>
            </a:r>
            <a:endParaRPr lang="en-US" b="0" i="1">
              <a:solidFill>
                <a:schemeClr val="tx1"/>
              </a:solidFill>
              <a:latin typeface="Gill Sans MT" pitchFamily="34" charset="0"/>
            </a:endParaRP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120650" y="3317875"/>
            <a:ext cx="8878888" cy="1631950"/>
          </a:xfrm>
          <a:prstGeom prst="rect">
            <a:avLst/>
          </a:prstGeom>
          <a:solidFill>
            <a:srgbClr val="0033CC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buFont typeface="Arial" charset="0"/>
              <a:buChar char="•"/>
            </a:pPr>
            <a:r>
              <a:rPr kumimoji="1" lang="en-US" altLang="zh-CN" b="0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 </a:t>
            </a:r>
            <a:r>
              <a:rPr kumimoji="1" lang="en-US" altLang="zh-CN" b="0" dirty="0">
                <a:solidFill>
                  <a:schemeClr val="tx2"/>
                </a:solidFill>
                <a:latin typeface="Gill Sans MT" pitchFamily="34" charset="0"/>
                <a:ea typeface="宋体" charset="-122"/>
              </a:rPr>
              <a:t>Def-clear</a:t>
            </a:r>
            <a:r>
              <a:rPr kumimoji="1" lang="en-US" altLang="zh-CN" b="0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 : A path from </a:t>
            </a:r>
            <a:r>
              <a:rPr lang="en-US" b="0" i="1" dirty="0">
                <a:solidFill>
                  <a:schemeClr val="tx1"/>
                </a:solidFill>
                <a:latin typeface="Gill Sans MT" pitchFamily="34" charset="0"/>
              </a:rPr>
              <a:t>l</a:t>
            </a:r>
            <a:r>
              <a:rPr lang="en-US" b="0" i="1" baseline="-25000" dirty="0">
                <a:solidFill>
                  <a:schemeClr val="tx1"/>
                </a:solidFill>
                <a:latin typeface="Gill Sans MT" pitchFamily="34" charset="0"/>
              </a:rPr>
              <a:t>i</a:t>
            </a:r>
            <a:r>
              <a:rPr kumimoji="1" lang="en-US" altLang="zh-CN" b="0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 to </a:t>
            </a:r>
            <a:r>
              <a:rPr lang="en-US" b="0" i="1" dirty="0" err="1">
                <a:solidFill>
                  <a:schemeClr val="tx1"/>
                </a:solidFill>
                <a:latin typeface="Gill Sans MT" pitchFamily="34" charset="0"/>
              </a:rPr>
              <a:t>l</a:t>
            </a:r>
            <a:r>
              <a:rPr lang="en-US" b="0" i="1" baseline="-25000" dirty="0" err="1">
                <a:solidFill>
                  <a:schemeClr val="tx1"/>
                </a:solidFill>
                <a:latin typeface="Gill Sans MT" pitchFamily="34" charset="0"/>
              </a:rPr>
              <a:t>j</a:t>
            </a:r>
            <a:r>
              <a:rPr kumimoji="1" lang="en-US" altLang="zh-CN" b="0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 is </a:t>
            </a:r>
            <a:r>
              <a:rPr kumimoji="1" lang="en-US" altLang="zh-CN" b="0" i="1" dirty="0" err="1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def</a:t>
            </a:r>
            <a:r>
              <a:rPr kumimoji="1" lang="en-US" altLang="zh-CN" b="0" i="1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-clear</a:t>
            </a:r>
            <a:r>
              <a:rPr kumimoji="1" lang="en-US" altLang="zh-CN" b="0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 with respect to variable </a:t>
            </a:r>
          </a:p>
          <a:p>
            <a:r>
              <a:rPr kumimoji="1" lang="en-US" altLang="zh-CN" b="0" i="1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  v</a:t>
            </a:r>
            <a:r>
              <a:rPr kumimoji="1" lang="en-US" altLang="zh-CN" b="0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 if </a:t>
            </a:r>
            <a:r>
              <a:rPr kumimoji="1" lang="en-US" altLang="zh-CN" b="0" i="1" dirty="0">
                <a:solidFill>
                  <a:srgbClr val="FF0000"/>
                </a:solidFill>
                <a:latin typeface="Gill Sans MT" pitchFamily="34" charset="0"/>
                <a:ea typeface="宋体" charset="-122"/>
              </a:rPr>
              <a:t>v</a:t>
            </a:r>
            <a:r>
              <a:rPr kumimoji="1" lang="en-US" altLang="zh-CN" b="0" dirty="0">
                <a:solidFill>
                  <a:srgbClr val="FF0000"/>
                </a:solidFill>
                <a:latin typeface="Gill Sans MT" pitchFamily="34" charset="0"/>
                <a:ea typeface="宋体" charset="-122"/>
              </a:rPr>
              <a:t> is not given another value</a:t>
            </a:r>
            <a:r>
              <a:rPr kumimoji="1" lang="en-US" altLang="zh-CN" b="0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 on any of the nodes or edges in </a:t>
            </a:r>
          </a:p>
          <a:p>
            <a:r>
              <a:rPr kumimoji="1" lang="en-US" altLang="zh-CN" b="0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  the path</a:t>
            </a:r>
          </a:p>
          <a:p>
            <a:pPr>
              <a:buFont typeface="Arial" charset="0"/>
              <a:buChar char="•"/>
            </a:pPr>
            <a:r>
              <a:rPr kumimoji="1" lang="en-US" b="0" i="1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 </a:t>
            </a:r>
            <a:r>
              <a:rPr kumimoji="1" lang="en-US" altLang="zh-CN" b="0" dirty="0">
                <a:solidFill>
                  <a:schemeClr val="tx2"/>
                </a:solidFill>
                <a:latin typeface="Gill Sans MT" pitchFamily="34" charset="0"/>
                <a:ea typeface="宋体" charset="-122"/>
              </a:rPr>
              <a:t>Reach</a:t>
            </a:r>
            <a:r>
              <a:rPr kumimoji="1" lang="en-US" altLang="zh-CN" b="0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 : If there is a </a:t>
            </a:r>
            <a:r>
              <a:rPr kumimoji="1" lang="en-US" altLang="zh-CN" b="0" dirty="0" err="1">
                <a:solidFill>
                  <a:srgbClr val="FF0000"/>
                </a:solidFill>
                <a:latin typeface="Gill Sans MT" pitchFamily="34" charset="0"/>
                <a:ea typeface="宋体" charset="-122"/>
              </a:rPr>
              <a:t>def</a:t>
            </a:r>
            <a:r>
              <a:rPr kumimoji="1" lang="en-US" altLang="zh-CN" b="0" dirty="0">
                <a:solidFill>
                  <a:srgbClr val="FF0000"/>
                </a:solidFill>
                <a:latin typeface="Gill Sans MT" pitchFamily="34" charset="0"/>
                <a:ea typeface="宋体" charset="-122"/>
              </a:rPr>
              <a:t>-clear path </a:t>
            </a:r>
            <a:r>
              <a:rPr kumimoji="1" lang="en-US" altLang="zh-CN" b="0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from </a:t>
            </a:r>
            <a:r>
              <a:rPr lang="en-US" b="0" i="1" dirty="0">
                <a:solidFill>
                  <a:schemeClr val="tx1"/>
                </a:solidFill>
                <a:latin typeface="Gill Sans MT" pitchFamily="34" charset="0"/>
              </a:rPr>
              <a:t>l</a:t>
            </a:r>
            <a:r>
              <a:rPr lang="en-US" b="0" i="1" baseline="-25000" dirty="0">
                <a:solidFill>
                  <a:schemeClr val="tx1"/>
                </a:solidFill>
                <a:latin typeface="Gill Sans MT" pitchFamily="34" charset="0"/>
              </a:rPr>
              <a:t>i</a:t>
            </a:r>
            <a:r>
              <a:rPr kumimoji="1" lang="en-US" altLang="zh-CN" b="0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 to </a:t>
            </a:r>
            <a:r>
              <a:rPr lang="en-US" b="0" i="1" dirty="0" err="1">
                <a:solidFill>
                  <a:schemeClr val="tx1"/>
                </a:solidFill>
                <a:latin typeface="Gill Sans MT" pitchFamily="34" charset="0"/>
              </a:rPr>
              <a:t>l</a:t>
            </a:r>
            <a:r>
              <a:rPr lang="en-US" b="0" i="1" baseline="-25000" dirty="0" err="1">
                <a:solidFill>
                  <a:schemeClr val="tx1"/>
                </a:solidFill>
                <a:latin typeface="Gill Sans MT" pitchFamily="34" charset="0"/>
              </a:rPr>
              <a:t>j</a:t>
            </a:r>
            <a:r>
              <a:rPr kumimoji="1" lang="en-US" altLang="zh-CN" b="0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 with respect to </a:t>
            </a:r>
            <a:r>
              <a:rPr kumimoji="1" lang="en-US" altLang="zh-CN" b="0" i="1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v</a:t>
            </a:r>
            <a:r>
              <a:rPr kumimoji="1" lang="en-US" altLang="zh-CN" b="0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, </a:t>
            </a:r>
          </a:p>
          <a:p>
            <a:r>
              <a:rPr kumimoji="1" lang="en-US" altLang="zh-CN" b="0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  the </a:t>
            </a:r>
            <a:r>
              <a:rPr kumimoji="1" lang="en-US" altLang="zh-CN" b="0" dirty="0" err="1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def</a:t>
            </a:r>
            <a:r>
              <a:rPr kumimoji="1" lang="en-US" altLang="zh-CN" b="0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 of </a:t>
            </a:r>
            <a:r>
              <a:rPr kumimoji="1" lang="en-US" altLang="zh-CN" b="0" i="1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v</a:t>
            </a:r>
            <a:r>
              <a:rPr kumimoji="1" lang="en-US" altLang="zh-CN" b="0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 at </a:t>
            </a:r>
            <a:r>
              <a:rPr lang="en-US" b="0" i="1" dirty="0">
                <a:solidFill>
                  <a:schemeClr val="tx1"/>
                </a:solidFill>
                <a:latin typeface="Gill Sans MT" pitchFamily="34" charset="0"/>
              </a:rPr>
              <a:t>l</a:t>
            </a:r>
            <a:r>
              <a:rPr lang="en-US" b="0" i="1" baseline="-25000" dirty="0">
                <a:solidFill>
                  <a:schemeClr val="tx1"/>
                </a:solidFill>
                <a:latin typeface="Gill Sans MT" pitchFamily="34" charset="0"/>
              </a:rPr>
              <a:t>i</a:t>
            </a:r>
            <a:r>
              <a:rPr kumimoji="1" lang="en-US" altLang="zh-CN" b="0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 reaches the use at </a:t>
            </a:r>
            <a:r>
              <a:rPr lang="en-US" b="0" i="1" dirty="0" err="1">
                <a:solidFill>
                  <a:schemeClr val="tx1"/>
                </a:solidFill>
                <a:latin typeface="Gill Sans MT" pitchFamily="34" charset="0"/>
              </a:rPr>
              <a:t>l</a:t>
            </a:r>
            <a:r>
              <a:rPr lang="en-US" b="0" i="1" baseline="-25000" dirty="0" err="1">
                <a:solidFill>
                  <a:schemeClr val="tx1"/>
                </a:solidFill>
                <a:latin typeface="Gill Sans MT" pitchFamily="34" charset="0"/>
              </a:rPr>
              <a:t>j</a:t>
            </a:r>
            <a:endParaRPr kumimoji="1" lang="en-US" altLang="zh-CN" b="0" dirty="0">
              <a:solidFill>
                <a:schemeClr val="tx1"/>
              </a:solidFill>
              <a:latin typeface="Gill Sans MT" pitchFamily="34" charset="0"/>
              <a:ea typeface="宋体" charset="-122"/>
            </a:endParaRP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120650" y="5173663"/>
            <a:ext cx="8878888" cy="1323975"/>
          </a:xfrm>
          <a:prstGeom prst="rect">
            <a:avLst/>
          </a:prstGeom>
          <a:solidFill>
            <a:srgbClr val="0033CC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buFont typeface="Arial" charset="0"/>
              <a:buChar char="•"/>
            </a:pPr>
            <a:r>
              <a:rPr kumimoji="1" lang="en-US" altLang="zh-CN" b="0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 </a:t>
            </a:r>
            <a:r>
              <a:rPr kumimoji="1" lang="en-US" altLang="zh-CN" b="0" dirty="0">
                <a:solidFill>
                  <a:schemeClr val="tx2"/>
                </a:solidFill>
                <a:latin typeface="Gill Sans MT" pitchFamily="34" charset="0"/>
                <a:ea typeface="宋体" charset="-122"/>
              </a:rPr>
              <a:t>du-path</a:t>
            </a:r>
            <a:r>
              <a:rPr kumimoji="1" lang="en-US" altLang="zh-CN" b="0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 : A simple </a:t>
            </a:r>
            <a:r>
              <a:rPr kumimoji="1" lang="en-US" altLang="zh-CN" b="0" dirty="0" err="1">
                <a:solidFill>
                  <a:srgbClr val="FF0000"/>
                </a:solidFill>
                <a:latin typeface="Gill Sans MT" pitchFamily="34" charset="0"/>
                <a:ea typeface="宋体" charset="-122"/>
              </a:rPr>
              <a:t>subpath</a:t>
            </a:r>
            <a:r>
              <a:rPr kumimoji="1" lang="en-US" altLang="zh-CN" b="0" dirty="0">
                <a:solidFill>
                  <a:srgbClr val="FF0000"/>
                </a:solidFill>
                <a:latin typeface="Gill Sans MT" pitchFamily="34" charset="0"/>
                <a:ea typeface="宋体" charset="-122"/>
              </a:rPr>
              <a:t> </a:t>
            </a:r>
            <a:r>
              <a:rPr kumimoji="1" lang="en-US" altLang="zh-CN" b="0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that is </a:t>
            </a:r>
            <a:r>
              <a:rPr kumimoji="1" lang="en-US" altLang="zh-CN" b="0" dirty="0" err="1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def</a:t>
            </a:r>
            <a:r>
              <a:rPr kumimoji="1" lang="en-US" altLang="zh-CN" b="0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-clear with respect to </a:t>
            </a:r>
            <a:r>
              <a:rPr kumimoji="1" lang="en-US" altLang="zh-CN" b="0" i="1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v</a:t>
            </a:r>
            <a:r>
              <a:rPr kumimoji="1" lang="en-US" altLang="zh-CN" b="0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 </a:t>
            </a:r>
          </a:p>
          <a:p>
            <a:r>
              <a:rPr kumimoji="1" lang="en-US" altLang="zh-CN" b="0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  from a </a:t>
            </a:r>
            <a:r>
              <a:rPr kumimoji="1" lang="en-US" altLang="zh-CN" b="0" dirty="0" err="1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def</a:t>
            </a:r>
            <a:r>
              <a:rPr kumimoji="1" lang="en-US" altLang="zh-CN" b="0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 of </a:t>
            </a:r>
            <a:r>
              <a:rPr kumimoji="1" lang="en-US" altLang="zh-CN" b="0" i="1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v</a:t>
            </a:r>
            <a:r>
              <a:rPr kumimoji="1" lang="en-US" altLang="zh-CN" b="0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 to a use of </a:t>
            </a:r>
            <a:r>
              <a:rPr kumimoji="1" lang="en-US" altLang="zh-CN" b="0" i="1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v</a:t>
            </a:r>
          </a:p>
          <a:p>
            <a:pPr>
              <a:buFont typeface="Arial" charset="0"/>
              <a:buChar char="•"/>
            </a:pPr>
            <a:r>
              <a:rPr kumimoji="1" lang="en-US" altLang="zh-CN" b="0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 </a:t>
            </a:r>
            <a:r>
              <a:rPr kumimoji="1" lang="en-US" altLang="zh-CN" b="0" dirty="0">
                <a:solidFill>
                  <a:schemeClr val="tx2"/>
                </a:solidFill>
                <a:latin typeface="Gill Sans MT" pitchFamily="34" charset="0"/>
                <a:ea typeface="宋体" charset="-122"/>
              </a:rPr>
              <a:t>du (</a:t>
            </a:r>
            <a:r>
              <a:rPr lang="en-US" b="0" i="1" dirty="0" err="1">
                <a:solidFill>
                  <a:schemeClr val="tx2"/>
                </a:solidFill>
                <a:latin typeface="Gill Sans MT" pitchFamily="34" charset="0"/>
              </a:rPr>
              <a:t>n</a:t>
            </a:r>
            <a:r>
              <a:rPr lang="en-US" b="0" i="1" baseline="-25000" dirty="0" err="1">
                <a:solidFill>
                  <a:schemeClr val="tx2"/>
                </a:solidFill>
                <a:latin typeface="Gill Sans MT" pitchFamily="34" charset="0"/>
              </a:rPr>
              <a:t>i</a:t>
            </a:r>
            <a:r>
              <a:rPr kumimoji="1" lang="en-US" altLang="zh-CN" b="0" dirty="0">
                <a:solidFill>
                  <a:schemeClr val="tx2"/>
                </a:solidFill>
                <a:latin typeface="Gill Sans MT" pitchFamily="34" charset="0"/>
                <a:ea typeface="宋体" charset="-122"/>
              </a:rPr>
              <a:t>, </a:t>
            </a:r>
            <a:r>
              <a:rPr lang="en-US" b="0" i="1" dirty="0" err="1">
                <a:solidFill>
                  <a:schemeClr val="tx2"/>
                </a:solidFill>
                <a:latin typeface="Gill Sans MT" pitchFamily="34" charset="0"/>
              </a:rPr>
              <a:t>n</a:t>
            </a:r>
            <a:r>
              <a:rPr lang="en-US" b="0" i="1" baseline="-25000" dirty="0" err="1">
                <a:solidFill>
                  <a:schemeClr val="tx2"/>
                </a:solidFill>
                <a:latin typeface="Gill Sans MT" pitchFamily="34" charset="0"/>
              </a:rPr>
              <a:t>j</a:t>
            </a:r>
            <a:r>
              <a:rPr kumimoji="1" lang="en-US" altLang="zh-CN" b="0" dirty="0">
                <a:solidFill>
                  <a:schemeClr val="tx2"/>
                </a:solidFill>
                <a:latin typeface="Gill Sans MT" pitchFamily="34" charset="0"/>
                <a:ea typeface="宋体" charset="-122"/>
              </a:rPr>
              <a:t>, </a:t>
            </a:r>
            <a:r>
              <a:rPr kumimoji="1" lang="en-US" altLang="zh-CN" b="0" i="1" dirty="0">
                <a:solidFill>
                  <a:schemeClr val="tx2"/>
                </a:solidFill>
                <a:latin typeface="Gill Sans MT" pitchFamily="34" charset="0"/>
                <a:ea typeface="宋体" charset="-122"/>
              </a:rPr>
              <a:t>v</a:t>
            </a:r>
            <a:r>
              <a:rPr kumimoji="1" lang="en-US" altLang="zh-CN" b="0" dirty="0">
                <a:solidFill>
                  <a:schemeClr val="tx2"/>
                </a:solidFill>
                <a:latin typeface="Gill Sans MT" pitchFamily="34" charset="0"/>
                <a:ea typeface="宋体" charset="-122"/>
              </a:rPr>
              <a:t>)</a:t>
            </a:r>
            <a:r>
              <a:rPr kumimoji="1" lang="en-US" altLang="zh-CN" b="0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 – the set of du-paths from </a:t>
            </a:r>
            <a:r>
              <a:rPr lang="en-US" b="0" i="1" dirty="0" err="1">
                <a:solidFill>
                  <a:schemeClr val="tx1"/>
                </a:solidFill>
                <a:latin typeface="Gill Sans MT" pitchFamily="34" charset="0"/>
              </a:rPr>
              <a:t>n</a:t>
            </a:r>
            <a:r>
              <a:rPr lang="en-US" b="0" i="1" baseline="-25000" dirty="0" err="1">
                <a:solidFill>
                  <a:schemeClr val="tx1"/>
                </a:solidFill>
                <a:latin typeface="Gill Sans MT" pitchFamily="34" charset="0"/>
              </a:rPr>
              <a:t>i</a:t>
            </a:r>
            <a:r>
              <a:rPr kumimoji="1" lang="en-US" altLang="zh-CN" b="0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 to </a:t>
            </a:r>
            <a:r>
              <a:rPr lang="en-US" b="0" i="1" dirty="0" err="1">
                <a:solidFill>
                  <a:schemeClr val="tx1"/>
                </a:solidFill>
                <a:latin typeface="Gill Sans MT" pitchFamily="34" charset="0"/>
              </a:rPr>
              <a:t>n</a:t>
            </a:r>
            <a:r>
              <a:rPr lang="en-US" b="0" i="1" baseline="-25000" dirty="0" err="1">
                <a:solidFill>
                  <a:schemeClr val="tx1"/>
                </a:solidFill>
                <a:latin typeface="Gill Sans MT" pitchFamily="34" charset="0"/>
              </a:rPr>
              <a:t>j</a:t>
            </a:r>
            <a:endParaRPr kumimoji="1" lang="en-US" altLang="zh-CN" b="0" dirty="0">
              <a:solidFill>
                <a:schemeClr val="tx1"/>
              </a:solidFill>
              <a:latin typeface="Gill Sans MT" pitchFamily="34" charset="0"/>
              <a:ea typeface="宋体" charset="-122"/>
            </a:endParaRPr>
          </a:p>
          <a:p>
            <a:pPr>
              <a:buFont typeface="Arial" charset="0"/>
              <a:buChar char="•"/>
            </a:pPr>
            <a:r>
              <a:rPr kumimoji="1" lang="en-US" altLang="zh-CN" b="0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 </a:t>
            </a:r>
            <a:r>
              <a:rPr kumimoji="1" lang="en-US" altLang="zh-CN" b="0" dirty="0">
                <a:solidFill>
                  <a:srgbClr val="FFFF00"/>
                </a:solidFill>
                <a:latin typeface="Gill Sans MT" pitchFamily="34" charset="0"/>
                <a:ea typeface="宋体" charset="-122"/>
              </a:rPr>
              <a:t>du </a:t>
            </a:r>
            <a:r>
              <a:rPr kumimoji="1" lang="en-US" altLang="zh-CN" b="0" dirty="0">
                <a:solidFill>
                  <a:schemeClr val="tx2"/>
                </a:solidFill>
                <a:latin typeface="Gill Sans MT" pitchFamily="34" charset="0"/>
                <a:ea typeface="宋体" charset="-122"/>
              </a:rPr>
              <a:t>(</a:t>
            </a:r>
            <a:r>
              <a:rPr lang="en-US" b="0" i="1" dirty="0" err="1">
                <a:solidFill>
                  <a:schemeClr val="tx2"/>
                </a:solidFill>
                <a:latin typeface="Gill Sans MT" pitchFamily="34" charset="0"/>
              </a:rPr>
              <a:t>n</a:t>
            </a:r>
            <a:r>
              <a:rPr lang="en-US" b="0" i="1" baseline="-25000" dirty="0" err="1">
                <a:solidFill>
                  <a:schemeClr val="tx2"/>
                </a:solidFill>
                <a:latin typeface="Gill Sans MT" pitchFamily="34" charset="0"/>
              </a:rPr>
              <a:t>i</a:t>
            </a:r>
            <a:r>
              <a:rPr kumimoji="1" lang="en-US" altLang="zh-CN" b="0" dirty="0">
                <a:solidFill>
                  <a:schemeClr val="tx2"/>
                </a:solidFill>
                <a:latin typeface="Gill Sans MT" pitchFamily="34" charset="0"/>
                <a:ea typeface="宋体" charset="-122"/>
              </a:rPr>
              <a:t>, </a:t>
            </a:r>
            <a:r>
              <a:rPr kumimoji="1" lang="en-US" altLang="zh-CN" b="0" i="1" dirty="0">
                <a:solidFill>
                  <a:schemeClr val="tx2"/>
                </a:solidFill>
                <a:latin typeface="Gill Sans MT" pitchFamily="34" charset="0"/>
                <a:ea typeface="宋体" charset="-122"/>
              </a:rPr>
              <a:t>v</a:t>
            </a:r>
            <a:r>
              <a:rPr kumimoji="1" lang="en-US" altLang="zh-CN" b="0" dirty="0">
                <a:solidFill>
                  <a:schemeClr val="tx2"/>
                </a:solidFill>
                <a:latin typeface="Gill Sans MT" pitchFamily="34" charset="0"/>
                <a:ea typeface="宋体" charset="-122"/>
              </a:rPr>
              <a:t>)</a:t>
            </a:r>
            <a:r>
              <a:rPr kumimoji="1" lang="en-US" altLang="zh-CN" b="0" dirty="0">
                <a:solidFill>
                  <a:schemeClr val="tx1"/>
                </a:solidFill>
                <a:latin typeface="Gill Sans MT" pitchFamily="34" charset="0"/>
                <a:ea typeface="宋体" charset="-122"/>
              </a:rPr>
              <a:t> – the set of du-paths that start at </a:t>
            </a:r>
            <a:r>
              <a:rPr lang="en-US" b="0" i="1" dirty="0" err="1">
                <a:solidFill>
                  <a:schemeClr val="tx1"/>
                </a:solidFill>
                <a:latin typeface="Gill Sans MT" pitchFamily="34" charset="0"/>
              </a:rPr>
              <a:t>n</a:t>
            </a:r>
            <a:r>
              <a:rPr lang="en-US" b="0" i="1" baseline="-25000" dirty="0" err="1">
                <a:solidFill>
                  <a:schemeClr val="tx1"/>
                </a:solidFill>
                <a:latin typeface="Gill Sans MT" pitchFamily="34" charset="0"/>
              </a:rPr>
              <a:t>i</a:t>
            </a:r>
            <a:endParaRPr lang="en-US" b="0" i="1" dirty="0">
              <a:solidFill>
                <a:schemeClr val="tx1"/>
              </a:solidFill>
              <a:latin typeface="Gill Sans MT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Introduction to Software Testing, Edition 2  (Ch 07)</a:t>
            </a:r>
          </a:p>
        </p:txBody>
      </p:sp>
      <p:sp>
        <p:nvSpPr>
          <p:cNvPr id="29699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© Ammann &amp; Offutt</a:t>
            </a:r>
          </a:p>
        </p:txBody>
      </p:sp>
      <p:sp>
        <p:nvSpPr>
          <p:cNvPr id="2970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58C4394-EFB9-4A3E-B4B8-8FF2D650E2B2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297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Touring DU-Paths</a:t>
            </a:r>
          </a:p>
        </p:txBody>
      </p:sp>
      <p:sp>
        <p:nvSpPr>
          <p:cNvPr id="297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25" y="1620838"/>
            <a:ext cx="9005888" cy="4722812"/>
          </a:xfrm>
        </p:spPr>
        <p:txBody>
          <a:bodyPr/>
          <a:lstStyle/>
          <a:p>
            <a:r>
              <a:rPr lang="en-US" dirty="0"/>
              <a:t>A test path </a:t>
            </a:r>
            <a:r>
              <a:rPr lang="en-US" i="1" dirty="0"/>
              <a:t>p</a:t>
            </a:r>
            <a:r>
              <a:rPr lang="en-US" dirty="0"/>
              <a:t> </a:t>
            </a:r>
            <a:r>
              <a:rPr lang="en-US" i="1" dirty="0">
                <a:solidFill>
                  <a:schemeClr val="tx2"/>
                </a:solidFill>
              </a:rPr>
              <a:t>du-tours</a:t>
            </a:r>
            <a:r>
              <a:rPr lang="en-US" dirty="0"/>
              <a:t> </a:t>
            </a:r>
            <a:r>
              <a:rPr lang="en-US" dirty="0" err="1"/>
              <a:t>subpath</a:t>
            </a:r>
            <a:r>
              <a:rPr lang="en-US" dirty="0"/>
              <a:t> </a:t>
            </a:r>
            <a:r>
              <a:rPr lang="en-US" i="1" dirty="0"/>
              <a:t>d</a:t>
            </a:r>
            <a:r>
              <a:rPr lang="en-US" dirty="0"/>
              <a:t> with respect to </a:t>
            </a:r>
            <a:r>
              <a:rPr lang="en-US" i="1" dirty="0"/>
              <a:t>v</a:t>
            </a:r>
            <a:r>
              <a:rPr lang="en-US" dirty="0"/>
              <a:t> if </a:t>
            </a:r>
            <a:r>
              <a:rPr lang="en-US" i="1" dirty="0"/>
              <a:t>p</a:t>
            </a:r>
            <a:r>
              <a:rPr lang="en-US" dirty="0"/>
              <a:t> tours </a:t>
            </a:r>
            <a:r>
              <a:rPr lang="en-US" i="1" dirty="0"/>
              <a:t>d</a:t>
            </a:r>
            <a:r>
              <a:rPr lang="en-US" dirty="0"/>
              <a:t> and the </a:t>
            </a:r>
            <a:r>
              <a:rPr lang="en-US" dirty="0" err="1"/>
              <a:t>subpath</a:t>
            </a:r>
            <a:r>
              <a:rPr lang="en-US" dirty="0"/>
              <a:t> taken is def-clear with respect to </a:t>
            </a:r>
            <a:r>
              <a:rPr lang="en-US" i="1" dirty="0"/>
              <a:t>v</a:t>
            </a:r>
          </a:p>
          <a:p>
            <a:pPr lvl="1"/>
            <a:endParaRPr lang="en-US" dirty="0"/>
          </a:p>
          <a:p>
            <a:r>
              <a:rPr lang="en-US" dirty="0" err="1">
                <a:solidFill>
                  <a:schemeClr val="tx2"/>
                </a:solidFill>
              </a:rPr>
              <a:t>Sidetrips</a:t>
            </a:r>
            <a:r>
              <a:rPr lang="en-US" dirty="0"/>
              <a:t> can be used, just as with previous touring</a:t>
            </a:r>
          </a:p>
          <a:p>
            <a:pPr lvl="1"/>
            <a:endParaRPr lang="en-US" dirty="0"/>
          </a:p>
          <a:p>
            <a:r>
              <a:rPr lang="en-US" dirty="0"/>
              <a:t>Three criteria</a:t>
            </a:r>
          </a:p>
          <a:p>
            <a:pPr lvl="1"/>
            <a:r>
              <a:rPr lang="en-US" dirty="0"/>
              <a:t>Use every def</a:t>
            </a:r>
          </a:p>
          <a:p>
            <a:pPr lvl="1"/>
            <a:r>
              <a:rPr lang="en-US" dirty="0"/>
              <a:t>Get to every use</a:t>
            </a:r>
          </a:p>
          <a:p>
            <a:pPr lvl="1"/>
            <a:r>
              <a:rPr lang="en-US" dirty="0"/>
              <a:t>Follow all du-paths</a:t>
            </a:r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Introduction to Software Testing, Edition 2  (Ch 07)</a:t>
            </a:r>
          </a:p>
        </p:txBody>
      </p:sp>
      <p:sp>
        <p:nvSpPr>
          <p:cNvPr id="30723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© Ammann &amp; Offutt</a:t>
            </a:r>
          </a:p>
        </p:txBody>
      </p:sp>
      <p:sp>
        <p:nvSpPr>
          <p:cNvPr id="3072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667AF9F-EB62-4275-B272-04B35E944CA4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307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Flow Test Criteria</a:t>
            </a:r>
          </a:p>
        </p:txBody>
      </p:sp>
      <p:sp>
        <p:nvSpPr>
          <p:cNvPr id="193540" name="Text Box 4"/>
          <p:cNvSpPr txBox="1">
            <a:spLocks noChangeArrowheads="1"/>
          </p:cNvSpPr>
          <p:nvPr/>
        </p:nvSpPr>
        <p:spPr bwMode="auto">
          <a:xfrm>
            <a:off x="441325" y="1688148"/>
            <a:ext cx="8262938" cy="841375"/>
          </a:xfrm>
          <a:prstGeom prst="rect">
            <a:avLst/>
          </a:prstGeom>
          <a:gradFill rotWithShape="1">
            <a:gsLst>
              <a:gs pos="0">
                <a:srgbClr val="0066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defRPr/>
            </a:pPr>
            <a:r>
              <a:rPr lang="en-US" sz="2400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All-</a:t>
            </a:r>
            <a:r>
              <a:rPr lang="en-US" sz="2400" u="sng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defs</a:t>
            </a:r>
            <a:r>
              <a:rPr lang="en-US" sz="2400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 coverage (ADC)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 : For each set of du-paths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S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 =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du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 (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n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,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v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), TR contains at least one path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d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 in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S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.</a:t>
            </a:r>
          </a:p>
        </p:txBody>
      </p:sp>
      <p:sp>
        <p:nvSpPr>
          <p:cNvPr id="193542" name="Text Box 6"/>
          <p:cNvSpPr txBox="1">
            <a:spLocks noChangeArrowheads="1"/>
          </p:cNvSpPr>
          <p:nvPr/>
        </p:nvSpPr>
        <p:spPr bwMode="auto">
          <a:xfrm>
            <a:off x="441325" y="3823606"/>
            <a:ext cx="8262938" cy="841375"/>
          </a:xfrm>
          <a:prstGeom prst="rect">
            <a:avLst/>
          </a:prstGeom>
          <a:gradFill rotWithShape="1">
            <a:gsLst>
              <a:gs pos="0">
                <a:srgbClr val="0066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defRPr/>
            </a:pPr>
            <a:r>
              <a:rPr lang="en-US" sz="2400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All-uses coverage (AUC)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 : For each set of du-paths to uses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S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 =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du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 (</a:t>
            </a:r>
            <a:r>
              <a:rPr lang="en-US" sz="2400" i="1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n</a:t>
            </a:r>
            <a:r>
              <a:rPr lang="en-US" sz="2400" i="1" baseline="-25000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i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, </a:t>
            </a:r>
            <a:r>
              <a:rPr lang="en-US" sz="2400" i="1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n</a:t>
            </a:r>
            <a:r>
              <a:rPr lang="en-US" sz="2400" i="1" baseline="-25000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j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,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v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), TR contains at least one path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d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 in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S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.</a:t>
            </a:r>
          </a:p>
        </p:txBody>
      </p:sp>
      <p:sp>
        <p:nvSpPr>
          <p:cNvPr id="193543" name="Text Box 7"/>
          <p:cNvSpPr txBox="1">
            <a:spLocks noChangeArrowheads="1"/>
          </p:cNvSpPr>
          <p:nvPr/>
        </p:nvSpPr>
        <p:spPr bwMode="auto">
          <a:xfrm>
            <a:off x="439738" y="5592771"/>
            <a:ext cx="8262937" cy="841375"/>
          </a:xfrm>
          <a:prstGeom prst="rect">
            <a:avLst/>
          </a:prstGeom>
          <a:gradFill rotWithShape="1">
            <a:gsLst>
              <a:gs pos="0">
                <a:srgbClr val="0066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defRPr/>
            </a:pPr>
            <a:r>
              <a:rPr lang="en-US" sz="2400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All-du-paths coverage (ADUPC)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 : For each set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S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 =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du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 (</a:t>
            </a:r>
            <a:r>
              <a:rPr lang="en-US" sz="2400" i="1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ni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, </a:t>
            </a:r>
            <a:r>
              <a:rPr lang="en-US" sz="2400" i="1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nj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,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v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), TR contains every path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d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 in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S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</a:rPr>
              <a:t>.</a:t>
            </a:r>
          </a:p>
        </p:txBody>
      </p:sp>
      <p:sp>
        <p:nvSpPr>
          <p:cNvPr id="193544" name="Rectangle 8"/>
          <p:cNvSpPr>
            <a:spLocks noChangeArrowheads="1"/>
          </p:cNvSpPr>
          <p:nvPr/>
        </p:nvSpPr>
        <p:spPr bwMode="auto">
          <a:xfrm>
            <a:off x="138113" y="2756086"/>
            <a:ext cx="8867775" cy="840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Then we make sure that </a:t>
            </a:r>
            <a:r>
              <a:rPr lang="en-US" sz="2800" b="0" dirty="0">
                <a:solidFill>
                  <a:schemeClr val="tx2"/>
                </a:solidFill>
                <a:latin typeface="Gill Sans MT" pitchFamily="34" charset="0"/>
              </a:rPr>
              <a:t>every def</a:t>
            </a: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 reaches </a:t>
            </a:r>
            <a:r>
              <a:rPr lang="en-US" sz="2800" b="0" dirty="0">
                <a:solidFill>
                  <a:srgbClr val="FF0000"/>
                </a:solidFill>
                <a:latin typeface="Gill Sans MT" pitchFamily="34" charset="0"/>
              </a:rPr>
              <a:t>all</a:t>
            </a: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 possible </a:t>
            </a:r>
            <a:r>
              <a:rPr lang="en-US" sz="2800" b="0" dirty="0">
                <a:solidFill>
                  <a:schemeClr val="tx2"/>
                </a:solidFill>
                <a:latin typeface="Gill Sans MT" pitchFamily="34" charset="0"/>
              </a:rPr>
              <a:t>uses</a:t>
            </a:r>
          </a:p>
        </p:txBody>
      </p:sp>
      <p:sp>
        <p:nvSpPr>
          <p:cNvPr id="193545" name="Rectangle 9"/>
          <p:cNvSpPr>
            <a:spLocks noChangeArrowheads="1"/>
          </p:cNvSpPr>
          <p:nvPr/>
        </p:nvSpPr>
        <p:spPr bwMode="auto">
          <a:xfrm>
            <a:off x="138113" y="4891544"/>
            <a:ext cx="8867775" cy="474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Finally, we cover </a:t>
            </a:r>
            <a:r>
              <a:rPr lang="en-US" sz="2800" b="0" dirty="0">
                <a:solidFill>
                  <a:schemeClr val="tx2"/>
                </a:solidFill>
                <a:latin typeface="Gill Sans MT" pitchFamily="34" charset="0"/>
              </a:rPr>
              <a:t>all the paths</a:t>
            </a: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 between </a:t>
            </a:r>
            <a:r>
              <a:rPr lang="en-US" sz="2800" b="0" dirty="0" err="1">
                <a:solidFill>
                  <a:schemeClr val="tx1"/>
                </a:solidFill>
                <a:latin typeface="Gill Sans MT" pitchFamily="34" charset="0"/>
              </a:rPr>
              <a:t>defs</a:t>
            </a: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 and uses</a:t>
            </a:r>
          </a:p>
        </p:txBody>
      </p:sp>
      <p:sp>
        <p:nvSpPr>
          <p:cNvPr id="30731" name="Rectangle 11"/>
          <p:cNvSpPr>
            <a:spLocks noChangeArrowheads="1"/>
          </p:cNvSpPr>
          <p:nvPr/>
        </p:nvSpPr>
        <p:spPr bwMode="auto">
          <a:xfrm>
            <a:off x="138113" y="901197"/>
            <a:ext cx="8867775" cy="56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First, we make sure </a:t>
            </a:r>
            <a:r>
              <a:rPr lang="en-US" sz="2800" b="0" dirty="0">
                <a:solidFill>
                  <a:schemeClr val="tx2"/>
                </a:solidFill>
                <a:latin typeface="Gill Sans MT" pitchFamily="34" charset="0"/>
              </a:rPr>
              <a:t>every def</a:t>
            </a:r>
            <a:r>
              <a:rPr lang="en-US" sz="2800" b="0" dirty="0">
                <a:solidFill>
                  <a:schemeClr val="tx1"/>
                </a:solidFill>
                <a:latin typeface="Gill Sans MT" pitchFamily="34" charset="0"/>
              </a:rPr>
              <a:t> reaches</a:t>
            </a:r>
            <a:r>
              <a:rPr lang="en-US" sz="2800" b="0" dirty="0">
                <a:solidFill>
                  <a:srgbClr val="FF0000"/>
                </a:solidFill>
                <a:latin typeface="Gill Sans MT" pitchFamily="34" charset="0"/>
              </a:rPr>
              <a:t> a </a:t>
            </a:r>
            <a:r>
              <a:rPr lang="en-US" sz="2800" b="0" dirty="0">
                <a:solidFill>
                  <a:schemeClr val="tx2"/>
                </a:solidFill>
                <a:latin typeface="Gill Sans MT" pitchFamily="34" charset="0"/>
              </a:rPr>
              <a:t>use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3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3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93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3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93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540" grpId="0" animBg="1" autoUpdateAnimBg="0"/>
      <p:bldP spid="193542" grpId="0" animBg="1" autoUpdateAnimBg="0"/>
      <p:bldP spid="193543" grpId="0" animBg="1" autoUpdateAnimBg="0"/>
      <p:bldP spid="193544" grpId="0" autoUpdateAnimBg="0"/>
      <p:bldP spid="193545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Introduction to Software Testing, Edition 2  (Ch 07)</a:t>
            </a:r>
          </a:p>
        </p:txBody>
      </p:sp>
      <p:sp>
        <p:nvSpPr>
          <p:cNvPr id="31747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© Ammann &amp; Offutt</a:t>
            </a:r>
          </a:p>
        </p:txBody>
      </p:sp>
      <p:sp>
        <p:nvSpPr>
          <p:cNvPr id="3174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18D97B6-0619-419D-BF6F-B75BAEB17F0E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317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Flow Testing Example</a:t>
            </a:r>
          </a:p>
        </p:txBody>
      </p:sp>
      <p:grpSp>
        <p:nvGrpSpPr>
          <p:cNvPr id="31750" name="Group 41"/>
          <p:cNvGrpSpPr>
            <a:grpSpLocks/>
          </p:cNvGrpSpPr>
          <p:nvPr/>
        </p:nvGrpSpPr>
        <p:grpSpPr bwMode="auto">
          <a:xfrm>
            <a:off x="2366963" y="1206500"/>
            <a:ext cx="4346575" cy="2141538"/>
            <a:chOff x="1491" y="760"/>
            <a:chExt cx="2738" cy="1349"/>
          </a:xfrm>
        </p:grpSpPr>
        <p:grpSp>
          <p:nvGrpSpPr>
            <p:cNvPr id="31760" name="Group 4"/>
            <p:cNvGrpSpPr>
              <a:grpSpLocks/>
            </p:cNvGrpSpPr>
            <p:nvPr/>
          </p:nvGrpSpPr>
          <p:grpSpPr bwMode="auto">
            <a:xfrm>
              <a:off x="1491" y="979"/>
              <a:ext cx="2738" cy="909"/>
              <a:chOff x="503" y="2966"/>
              <a:chExt cx="2738" cy="909"/>
            </a:xfrm>
          </p:grpSpPr>
          <p:grpSp>
            <p:nvGrpSpPr>
              <p:cNvPr id="31764" name="Group 5"/>
              <p:cNvGrpSpPr>
                <a:grpSpLocks/>
              </p:cNvGrpSpPr>
              <p:nvPr/>
            </p:nvGrpSpPr>
            <p:grpSpPr bwMode="auto">
              <a:xfrm>
                <a:off x="730" y="3273"/>
                <a:ext cx="350" cy="296"/>
                <a:chOff x="4288" y="1746"/>
                <a:chExt cx="350" cy="296"/>
              </a:xfrm>
            </p:grpSpPr>
            <p:sp>
              <p:nvSpPr>
                <p:cNvPr id="31794" name="Oval 6"/>
                <p:cNvSpPr>
                  <a:spLocks noChangeArrowheads="1"/>
                </p:cNvSpPr>
                <p:nvPr/>
              </p:nvSpPr>
              <p:spPr bwMode="auto">
                <a:xfrm>
                  <a:off x="4288" y="1746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795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4365" y="1769"/>
                  <a:ext cx="196" cy="25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pPr algn="r"/>
                  <a:r>
                    <a:rPr lang="en-US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</p:grpSp>
          <p:grpSp>
            <p:nvGrpSpPr>
              <p:cNvPr id="31765" name="Group 8"/>
              <p:cNvGrpSpPr>
                <a:grpSpLocks/>
              </p:cNvGrpSpPr>
              <p:nvPr/>
            </p:nvGrpSpPr>
            <p:grpSpPr bwMode="auto">
              <a:xfrm>
                <a:off x="1255" y="2966"/>
                <a:ext cx="380" cy="908"/>
                <a:chOff x="1346" y="2965"/>
                <a:chExt cx="380" cy="908"/>
              </a:xfrm>
            </p:grpSpPr>
            <p:grpSp>
              <p:nvGrpSpPr>
                <p:cNvPr id="31788" name="Group 9"/>
                <p:cNvGrpSpPr>
                  <a:grpSpLocks/>
                </p:cNvGrpSpPr>
                <p:nvPr/>
              </p:nvGrpSpPr>
              <p:grpSpPr bwMode="auto">
                <a:xfrm>
                  <a:off x="1346" y="3577"/>
                  <a:ext cx="350" cy="296"/>
                  <a:chOff x="4738" y="2684"/>
                  <a:chExt cx="350" cy="296"/>
                </a:xfrm>
              </p:grpSpPr>
              <p:sp>
                <p:nvSpPr>
                  <p:cNvPr id="31792" name="Oval 10"/>
                  <p:cNvSpPr>
                    <a:spLocks noChangeArrowheads="1"/>
                  </p:cNvSpPr>
                  <p:nvPr/>
                </p:nvSpPr>
                <p:spPr bwMode="auto">
                  <a:xfrm>
                    <a:off x="4738" y="2684"/>
                    <a:ext cx="350" cy="296"/>
                  </a:xfrm>
                  <a:prstGeom prst="ellipse">
                    <a:avLst/>
                  </a:prstGeom>
                  <a:solidFill>
                    <a:srgbClr val="0066FF"/>
                  </a:solidFill>
                  <a:ln w="1905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1793" name="Text Box 1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815" y="2707"/>
                    <a:ext cx="197" cy="252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 type="none" w="sm" len="sm"/>
                    <a:tailEnd type="none" w="sm" len="sm"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dirty="0">
                        <a:solidFill>
                          <a:schemeClr val="tx1"/>
                        </a:solidFill>
                      </a:rPr>
                      <a:t>3</a:t>
                    </a:r>
                  </a:p>
                </p:txBody>
              </p:sp>
            </p:grpSp>
            <p:grpSp>
              <p:nvGrpSpPr>
                <p:cNvPr id="31789" name="Group 12"/>
                <p:cNvGrpSpPr>
                  <a:grpSpLocks/>
                </p:cNvGrpSpPr>
                <p:nvPr/>
              </p:nvGrpSpPr>
              <p:grpSpPr bwMode="auto">
                <a:xfrm>
                  <a:off x="1376" y="2965"/>
                  <a:ext cx="350" cy="296"/>
                  <a:chOff x="3838" y="2684"/>
                  <a:chExt cx="350" cy="296"/>
                </a:xfrm>
              </p:grpSpPr>
              <p:sp>
                <p:nvSpPr>
                  <p:cNvPr id="31790" name="Oval 13"/>
                  <p:cNvSpPr>
                    <a:spLocks noChangeArrowheads="1"/>
                  </p:cNvSpPr>
                  <p:nvPr/>
                </p:nvSpPr>
                <p:spPr bwMode="auto">
                  <a:xfrm>
                    <a:off x="3838" y="2684"/>
                    <a:ext cx="350" cy="296"/>
                  </a:xfrm>
                  <a:prstGeom prst="ellipse">
                    <a:avLst/>
                  </a:prstGeom>
                  <a:solidFill>
                    <a:srgbClr val="0066FF"/>
                  </a:solidFill>
                  <a:ln w="1905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1791" name="Text Box 1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915" y="2707"/>
                    <a:ext cx="196" cy="250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 type="none" w="sm" len="sm"/>
                    <a:tailEnd type="none" w="sm" len="sm"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dirty="0">
                        <a:solidFill>
                          <a:schemeClr val="tx1"/>
                        </a:solidFill>
                      </a:rPr>
                      <a:t>2</a:t>
                    </a:r>
                  </a:p>
                </p:txBody>
              </p:sp>
            </p:grpSp>
          </p:grpSp>
          <p:grpSp>
            <p:nvGrpSpPr>
              <p:cNvPr id="31766" name="Group 15"/>
              <p:cNvGrpSpPr>
                <a:grpSpLocks/>
              </p:cNvGrpSpPr>
              <p:nvPr/>
            </p:nvGrpSpPr>
            <p:grpSpPr bwMode="auto">
              <a:xfrm>
                <a:off x="2891" y="3273"/>
                <a:ext cx="350" cy="296"/>
                <a:chOff x="4288" y="3622"/>
                <a:chExt cx="350" cy="296"/>
              </a:xfrm>
            </p:grpSpPr>
            <p:sp>
              <p:nvSpPr>
                <p:cNvPr id="31786" name="Oval 16"/>
                <p:cNvSpPr>
                  <a:spLocks noChangeArrowheads="1"/>
                </p:cNvSpPr>
                <p:nvPr/>
              </p:nvSpPr>
              <p:spPr bwMode="auto">
                <a:xfrm>
                  <a:off x="4288" y="3622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571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787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4365" y="3645"/>
                  <a:ext cx="196" cy="25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</p:grpSp>
          <p:sp>
            <p:nvSpPr>
              <p:cNvPr id="31767" name="Line 18"/>
              <p:cNvSpPr>
                <a:spLocks noChangeShapeType="1"/>
              </p:cNvSpPr>
              <p:nvPr/>
            </p:nvSpPr>
            <p:spPr bwMode="auto">
              <a:xfrm flipV="1">
                <a:off x="1075" y="3193"/>
                <a:ext cx="250" cy="16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768" name="Line 19"/>
              <p:cNvSpPr>
                <a:spLocks noChangeShapeType="1"/>
              </p:cNvSpPr>
              <p:nvPr/>
            </p:nvSpPr>
            <p:spPr bwMode="auto">
              <a:xfrm>
                <a:off x="503" y="3421"/>
                <a:ext cx="22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1769" name="Group 20"/>
              <p:cNvGrpSpPr>
                <a:grpSpLocks/>
              </p:cNvGrpSpPr>
              <p:nvPr/>
            </p:nvGrpSpPr>
            <p:grpSpPr bwMode="auto">
              <a:xfrm>
                <a:off x="1810" y="3273"/>
                <a:ext cx="350" cy="296"/>
                <a:chOff x="4288" y="1746"/>
                <a:chExt cx="350" cy="296"/>
              </a:xfrm>
            </p:grpSpPr>
            <p:sp>
              <p:nvSpPr>
                <p:cNvPr id="31784" name="Oval 21"/>
                <p:cNvSpPr>
                  <a:spLocks noChangeArrowheads="1"/>
                </p:cNvSpPr>
                <p:nvPr/>
              </p:nvSpPr>
              <p:spPr bwMode="auto">
                <a:xfrm>
                  <a:off x="4288" y="1746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785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4365" y="1769"/>
                  <a:ext cx="196" cy="25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pPr algn="r"/>
                  <a:r>
                    <a:rPr lang="en-US" dirty="0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</p:grpSp>
          <p:grpSp>
            <p:nvGrpSpPr>
              <p:cNvPr id="31770" name="Group 23"/>
              <p:cNvGrpSpPr>
                <a:grpSpLocks/>
              </p:cNvGrpSpPr>
              <p:nvPr/>
            </p:nvGrpSpPr>
            <p:grpSpPr bwMode="auto">
              <a:xfrm>
                <a:off x="2335" y="2967"/>
                <a:ext cx="380" cy="908"/>
                <a:chOff x="2450" y="2968"/>
                <a:chExt cx="380" cy="908"/>
              </a:xfrm>
            </p:grpSpPr>
            <p:grpSp>
              <p:nvGrpSpPr>
                <p:cNvPr id="31778" name="Group 24"/>
                <p:cNvGrpSpPr>
                  <a:grpSpLocks/>
                </p:cNvGrpSpPr>
                <p:nvPr/>
              </p:nvGrpSpPr>
              <p:grpSpPr bwMode="auto">
                <a:xfrm>
                  <a:off x="2450" y="3580"/>
                  <a:ext cx="350" cy="296"/>
                  <a:chOff x="4738" y="2684"/>
                  <a:chExt cx="350" cy="296"/>
                </a:xfrm>
              </p:grpSpPr>
              <p:sp>
                <p:nvSpPr>
                  <p:cNvPr id="31782" name="Oval 25"/>
                  <p:cNvSpPr>
                    <a:spLocks noChangeArrowheads="1"/>
                  </p:cNvSpPr>
                  <p:nvPr/>
                </p:nvSpPr>
                <p:spPr bwMode="auto">
                  <a:xfrm>
                    <a:off x="4738" y="2684"/>
                    <a:ext cx="350" cy="296"/>
                  </a:xfrm>
                  <a:prstGeom prst="ellipse">
                    <a:avLst/>
                  </a:prstGeom>
                  <a:solidFill>
                    <a:srgbClr val="0066FF"/>
                  </a:solidFill>
                  <a:ln w="1905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1783" name="Text Box 2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815" y="2707"/>
                    <a:ext cx="196" cy="250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 type="none" w="sm" len="sm"/>
                    <a:tailEnd type="none" w="sm" len="sm"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dirty="0">
                        <a:solidFill>
                          <a:schemeClr val="tx1"/>
                        </a:solidFill>
                      </a:rPr>
                      <a:t>6</a:t>
                    </a:r>
                  </a:p>
                </p:txBody>
              </p:sp>
            </p:grpSp>
            <p:grpSp>
              <p:nvGrpSpPr>
                <p:cNvPr id="31779" name="Group 27"/>
                <p:cNvGrpSpPr>
                  <a:grpSpLocks/>
                </p:cNvGrpSpPr>
                <p:nvPr/>
              </p:nvGrpSpPr>
              <p:grpSpPr bwMode="auto">
                <a:xfrm>
                  <a:off x="2480" y="2968"/>
                  <a:ext cx="350" cy="296"/>
                  <a:chOff x="3838" y="2684"/>
                  <a:chExt cx="350" cy="296"/>
                </a:xfrm>
              </p:grpSpPr>
              <p:sp>
                <p:nvSpPr>
                  <p:cNvPr id="31780" name="Oval 28"/>
                  <p:cNvSpPr>
                    <a:spLocks noChangeArrowheads="1"/>
                  </p:cNvSpPr>
                  <p:nvPr/>
                </p:nvSpPr>
                <p:spPr bwMode="auto">
                  <a:xfrm>
                    <a:off x="3838" y="2684"/>
                    <a:ext cx="350" cy="296"/>
                  </a:xfrm>
                  <a:prstGeom prst="ellipse">
                    <a:avLst/>
                  </a:prstGeom>
                  <a:solidFill>
                    <a:srgbClr val="0066FF"/>
                  </a:solidFill>
                  <a:ln w="1905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1781" name="Text Box 2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915" y="2707"/>
                    <a:ext cx="196" cy="250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 type="none" w="sm" len="sm"/>
                    <a:tailEnd type="none" w="sm" len="sm"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dirty="0">
                        <a:solidFill>
                          <a:schemeClr val="tx1"/>
                        </a:solidFill>
                      </a:rPr>
                      <a:t>5</a:t>
                    </a:r>
                  </a:p>
                </p:txBody>
              </p:sp>
            </p:grpSp>
          </p:grpSp>
          <p:sp>
            <p:nvSpPr>
              <p:cNvPr id="31771" name="Line 30"/>
              <p:cNvSpPr>
                <a:spLocks noChangeShapeType="1"/>
              </p:cNvSpPr>
              <p:nvPr/>
            </p:nvSpPr>
            <p:spPr bwMode="auto">
              <a:xfrm flipV="1">
                <a:off x="2679" y="3513"/>
                <a:ext cx="250" cy="16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772" name="Line 31"/>
              <p:cNvSpPr>
                <a:spLocks noChangeShapeType="1"/>
              </p:cNvSpPr>
              <p:nvPr/>
            </p:nvSpPr>
            <p:spPr bwMode="auto">
              <a:xfrm flipV="1">
                <a:off x="1595" y="3513"/>
                <a:ext cx="250" cy="16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773" name="Line 32"/>
              <p:cNvSpPr>
                <a:spLocks noChangeShapeType="1"/>
              </p:cNvSpPr>
              <p:nvPr/>
            </p:nvSpPr>
            <p:spPr bwMode="auto">
              <a:xfrm flipV="1">
                <a:off x="2147" y="3193"/>
                <a:ext cx="250" cy="16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774" name="Line 33"/>
              <p:cNvSpPr>
                <a:spLocks noChangeShapeType="1"/>
              </p:cNvSpPr>
              <p:nvPr/>
            </p:nvSpPr>
            <p:spPr bwMode="auto">
              <a:xfrm>
                <a:off x="1055" y="3517"/>
                <a:ext cx="218" cy="15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775" name="Line 34"/>
              <p:cNvSpPr>
                <a:spLocks noChangeShapeType="1"/>
              </p:cNvSpPr>
              <p:nvPr/>
            </p:nvSpPr>
            <p:spPr bwMode="auto">
              <a:xfrm>
                <a:off x="1607" y="3198"/>
                <a:ext cx="218" cy="15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776" name="Line 35"/>
              <p:cNvSpPr>
                <a:spLocks noChangeShapeType="1"/>
              </p:cNvSpPr>
              <p:nvPr/>
            </p:nvSpPr>
            <p:spPr bwMode="auto">
              <a:xfrm>
                <a:off x="2123" y="3518"/>
                <a:ext cx="218" cy="15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777" name="Line 36"/>
              <p:cNvSpPr>
                <a:spLocks noChangeShapeType="1"/>
              </p:cNvSpPr>
              <p:nvPr/>
            </p:nvSpPr>
            <p:spPr bwMode="auto">
              <a:xfrm>
                <a:off x="2707" y="3197"/>
                <a:ext cx="218" cy="15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1761" name="Text Box 38"/>
            <p:cNvSpPr txBox="1">
              <a:spLocks noChangeArrowheads="1"/>
            </p:cNvSpPr>
            <p:nvPr/>
          </p:nvSpPr>
          <p:spPr bwMode="auto">
            <a:xfrm>
              <a:off x="1569" y="1093"/>
              <a:ext cx="648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dirty="0"/>
                <a:t>X = 42</a:t>
              </a:r>
            </a:p>
          </p:txBody>
        </p:sp>
        <p:sp>
          <p:nvSpPr>
            <p:cNvPr id="31762" name="Text Box 39"/>
            <p:cNvSpPr txBox="1">
              <a:spLocks noChangeArrowheads="1"/>
            </p:cNvSpPr>
            <p:nvPr/>
          </p:nvSpPr>
          <p:spPr bwMode="auto">
            <a:xfrm>
              <a:off x="3185" y="1859"/>
              <a:ext cx="648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/>
                <a:t>Z = X-8</a:t>
              </a:r>
            </a:p>
          </p:txBody>
        </p:sp>
        <p:sp>
          <p:nvSpPr>
            <p:cNvPr id="31763" name="Text Box 40"/>
            <p:cNvSpPr txBox="1">
              <a:spLocks noChangeArrowheads="1"/>
            </p:cNvSpPr>
            <p:nvPr/>
          </p:nvSpPr>
          <p:spPr bwMode="auto">
            <a:xfrm>
              <a:off x="3132" y="760"/>
              <a:ext cx="756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/>
                <a:t>Z = X*2</a:t>
              </a:r>
            </a:p>
          </p:txBody>
        </p:sp>
      </p:grpSp>
      <p:grpSp>
        <p:nvGrpSpPr>
          <p:cNvPr id="13" name="Group 47"/>
          <p:cNvGrpSpPr>
            <a:grpSpLocks/>
          </p:cNvGrpSpPr>
          <p:nvPr/>
        </p:nvGrpSpPr>
        <p:grpSpPr bwMode="auto">
          <a:xfrm>
            <a:off x="614363" y="3656011"/>
            <a:ext cx="2011362" cy="1015999"/>
            <a:chOff x="382" y="2268"/>
            <a:chExt cx="1080" cy="640"/>
          </a:xfrm>
        </p:grpSpPr>
        <p:sp>
          <p:nvSpPr>
            <p:cNvPr id="31758" name="Text Box 37"/>
            <p:cNvSpPr txBox="1">
              <a:spLocks noChangeArrowheads="1"/>
            </p:cNvSpPr>
            <p:nvPr/>
          </p:nvSpPr>
          <p:spPr bwMode="auto">
            <a:xfrm>
              <a:off x="388" y="2268"/>
              <a:ext cx="1071" cy="640"/>
            </a:xfrm>
            <a:prstGeom prst="rect">
              <a:avLst/>
            </a:prstGeom>
            <a:solidFill>
              <a:srgbClr val="0066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dirty="0">
                  <a:solidFill>
                    <a:schemeClr val="tx1"/>
                  </a:solidFill>
                </a:rPr>
                <a:t>All-</a:t>
              </a:r>
              <a:r>
                <a:rPr lang="en-US" sz="2400" dirty="0" err="1">
                  <a:solidFill>
                    <a:schemeClr val="tx1"/>
                  </a:solidFill>
                </a:rPr>
                <a:t>defs</a:t>
              </a:r>
              <a:r>
                <a:rPr lang="en-US" sz="2400" dirty="0">
                  <a:solidFill>
                    <a:schemeClr val="tx1"/>
                  </a:solidFill>
                </a:rPr>
                <a:t> for </a:t>
              </a:r>
              <a:r>
                <a:rPr lang="en-US" sz="2400" i="1" dirty="0">
                  <a:solidFill>
                    <a:schemeClr val="tx1"/>
                  </a:solidFill>
                </a:rPr>
                <a:t>X</a:t>
              </a:r>
            </a:p>
            <a:p>
              <a:pPr algn="ctr">
                <a:spcBef>
                  <a:spcPct val="50000"/>
                </a:spcBef>
              </a:pPr>
              <a:r>
                <a:rPr lang="en-US" sz="2400" dirty="0">
                  <a:solidFill>
                    <a:schemeClr val="tx1"/>
                  </a:solidFill>
                </a:rPr>
                <a:t>[ 1, 2, 4, 5 ]</a:t>
              </a:r>
            </a:p>
          </p:txBody>
        </p:sp>
        <p:sp>
          <p:nvSpPr>
            <p:cNvPr id="31759" name="Line 42"/>
            <p:cNvSpPr>
              <a:spLocks noChangeShapeType="1"/>
            </p:cNvSpPr>
            <p:nvPr/>
          </p:nvSpPr>
          <p:spPr bwMode="auto">
            <a:xfrm>
              <a:off x="382" y="2513"/>
              <a:ext cx="10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48"/>
          <p:cNvGrpSpPr>
            <a:grpSpLocks/>
          </p:cNvGrpSpPr>
          <p:nvPr/>
        </p:nvGrpSpPr>
        <p:grpSpPr bwMode="auto">
          <a:xfrm>
            <a:off x="3240088" y="3656013"/>
            <a:ext cx="2028825" cy="1565275"/>
            <a:chOff x="1781" y="2364"/>
            <a:chExt cx="1070" cy="986"/>
          </a:xfrm>
        </p:grpSpPr>
        <p:sp>
          <p:nvSpPr>
            <p:cNvPr id="31756" name="Text Box 43"/>
            <p:cNvSpPr txBox="1">
              <a:spLocks noChangeArrowheads="1"/>
            </p:cNvSpPr>
            <p:nvPr/>
          </p:nvSpPr>
          <p:spPr bwMode="auto">
            <a:xfrm>
              <a:off x="1787" y="2364"/>
              <a:ext cx="1064" cy="986"/>
            </a:xfrm>
            <a:prstGeom prst="rect">
              <a:avLst/>
            </a:prstGeom>
            <a:solidFill>
              <a:srgbClr val="0066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dirty="0">
                  <a:solidFill>
                    <a:schemeClr val="tx1"/>
                  </a:solidFill>
                </a:rPr>
                <a:t>All-uses for </a:t>
              </a:r>
              <a:r>
                <a:rPr lang="en-US" sz="2400" i="1" dirty="0">
                  <a:solidFill>
                    <a:schemeClr val="tx1"/>
                  </a:solidFill>
                </a:rPr>
                <a:t>X</a:t>
              </a:r>
              <a:endParaRPr lang="en-US" sz="2800" i="1" dirty="0">
                <a:solidFill>
                  <a:schemeClr val="tx1"/>
                </a:solidFill>
              </a:endParaRPr>
            </a:p>
            <a:p>
              <a:pPr algn="ctr">
                <a:spcBef>
                  <a:spcPct val="50000"/>
                </a:spcBef>
              </a:pPr>
              <a:r>
                <a:rPr lang="en-US" sz="2400" dirty="0">
                  <a:solidFill>
                    <a:schemeClr val="tx1"/>
                  </a:solidFill>
                </a:rPr>
                <a:t>[ 1, 2, 4, 5 ]</a:t>
              </a:r>
            </a:p>
            <a:p>
              <a:pPr algn="ctr">
                <a:spcBef>
                  <a:spcPct val="50000"/>
                </a:spcBef>
              </a:pPr>
              <a:r>
                <a:rPr lang="en-US" sz="2400" dirty="0">
                  <a:solidFill>
                    <a:schemeClr val="tx1"/>
                  </a:solidFill>
                </a:rPr>
                <a:t>[ 1, 2, 4, 6 ]</a:t>
              </a:r>
            </a:p>
          </p:txBody>
        </p:sp>
        <p:sp>
          <p:nvSpPr>
            <p:cNvPr id="31757" name="Line 44"/>
            <p:cNvSpPr>
              <a:spLocks noChangeShapeType="1"/>
            </p:cNvSpPr>
            <p:nvPr/>
          </p:nvSpPr>
          <p:spPr bwMode="auto">
            <a:xfrm>
              <a:off x="1781" y="2609"/>
              <a:ext cx="106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49"/>
          <p:cNvGrpSpPr>
            <a:grpSpLocks/>
          </p:cNvGrpSpPr>
          <p:nvPr/>
        </p:nvGrpSpPr>
        <p:grpSpPr bwMode="auto">
          <a:xfrm>
            <a:off x="5883275" y="3656014"/>
            <a:ext cx="2646363" cy="2678113"/>
            <a:chOff x="3346" y="2424"/>
            <a:chExt cx="1207" cy="1687"/>
          </a:xfrm>
        </p:grpSpPr>
        <p:sp>
          <p:nvSpPr>
            <p:cNvPr id="31754" name="Text Box 45"/>
            <p:cNvSpPr txBox="1">
              <a:spLocks noChangeArrowheads="1"/>
            </p:cNvSpPr>
            <p:nvPr/>
          </p:nvSpPr>
          <p:spPr bwMode="auto">
            <a:xfrm>
              <a:off x="3352" y="2424"/>
              <a:ext cx="1201" cy="1687"/>
            </a:xfrm>
            <a:prstGeom prst="rect">
              <a:avLst/>
            </a:prstGeom>
            <a:solidFill>
              <a:srgbClr val="0066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dirty="0">
                  <a:solidFill>
                    <a:schemeClr val="tx1"/>
                  </a:solidFill>
                </a:rPr>
                <a:t>All-du-paths for </a:t>
              </a:r>
              <a:r>
                <a:rPr lang="en-US" sz="2400" i="1" dirty="0">
                  <a:solidFill>
                    <a:schemeClr val="tx1"/>
                  </a:solidFill>
                </a:rPr>
                <a:t>X</a:t>
              </a:r>
              <a:endParaRPr lang="en-US" sz="2800" i="1" dirty="0">
                <a:solidFill>
                  <a:schemeClr val="tx1"/>
                </a:solidFill>
              </a:endParaRPr>
            </a:p>
            <a:p>
              <a:pPr algn="ctr">
                <a:spcBef>
                  <a:spcPct val="50000"/>
                </a:spcBef>
              </a:pPr>
              <a:r>
                <a:rPr lang="en-US" sz="2400" dirty="0">
                  <a:solidFill>
                    <a:schemeClr val="tx1"/>
                  </a:solidFill>
                </a:rPr>
                <a:t>[ 1, 2, 4, 5 ]</a:t>
              </a:r>
            </a:p>
            <a:p>
              <a:pPr algn="ctr">
                <a:spcBef>
                  <a:spcPct val="50000"/>
                </a:spcBef>
              </a:pPr>
              <a:r>
                <a:rPr lang="en-US" sz="2400" dirty="0">
                  <a:solidFill>
                    <a:schemeClr val="tx1"/>
                  </a:solidFill>
                </a:rPr>
                <a:t>[ 1, 3, 4, 5 ]</a:t>
              </a:r>
            </a:p>
            <a:p>
              <a:pPr algn="ctr">
                <a:spcBef>
                  <a:spcPct val="50000"/>
                </a:spcBef>
              </a:pPr>
              <a:r>
                <a:rPr lang="en-US" sz="2400" dirty="0">
                  <a:solidFill>
                    <a:schemeClr val="tx1"/>
                  </a:solidFill>
                </a:rPr>
                <a:t>[ 1, 2, 4, 6 ]</a:t>
              </a:r>
            </a:p>
            <a:p>
              <a:pPr algn="ctr">
                <a:spcBef>
                  <a:spcPct val="50000"/>
                </a:spcBef>
              </a:pPr>
              <a:r>
                <a:rPr lang="en-US" sz="2400" dirty="0">
                  <a:solidFill>
                    <a:schemeClr val="tx1"/>
                  </a:solidFill>
                </a:rPr>
                <a:t>[ 1, 3, 4, 6 ]</a:t>
              </a:r>
            </a:p>
          </p:txBody>
        </p:sp>
        <p:sp>
          <p:nvSpPr>
            <p:cNvPr id="31755" name="Line 46"/>
            <p:cNvSpPr>
              <a:spLocks noChangeShapeType="1"/>
            </p:cNvSpPr>
            <p:nvPr/>
          </p:nvSpPr>
          <p:spPr bwMode="auto">
            <a:xfrm>
              <a:off x="3346" y="2669"/>
              <a:ext cx="120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intro">
  <a:themeElements>
    <a:clrScheme name="Custom 6">
      <a:dk1>
        <a:srgbClr val="5F5F5F"/>
      </a:dk1>
      <a:lt1>
        <a:srgbClr val="FFFFFF"/>
      </a:lt1>
      <a:dk2>
        <a:srgbClr val="000099"/>
      </a:dk2>
      <a:lt2>
        <a:srgbClr val="FFFF00"/>
      </a:lt2>
      <a:accent1>
        <a:srgbClr val="FF9900"/>
      </a:accent1>
      <a:accent2>
        <a:srgbClr val="66CCFF"/>
      </a:accent2>
      <a:accent3>
        <a:srgbClr val="AAAACA"/>
      </a:accent3>
      <a:accent4>
        <a:srgbClr val="DADADA"/>
      </a:accent4>
      <a:accent5>
        <a:srgbClr val="FFCAAA"/>
      </a:accent5>
      <a:accent6>
        <a:srgbClr val="5CB9E7"/>
      </a:accent6>
      <a:hlink>
        <a:srgbClr val="FFFF00"/>
      </a:hlink>
      <a:folHlink>
        <a:srgbClr val="FFC000"/>
      </a:folHlink>
    </a:clrScheme>
    <a:fontScheme name="intro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rgbClr val="FAFD00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rgbClr val="FAFD00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intro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ro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a:\intro.ppt</Template>
  <TotalTime>9503</TotalTime>
  <Pages>49</Pages>
  <Words>3898</Words>
  <Application>Microsoft Macintosh PowerPoint</Application>
  <PresentationFormat>On-screen Show (4:3)</PresentationFormat>
  <Paragraphs>553</Paragraphs>
  <Slides>30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Arial</vt:lpstr>
      <vt:lpstr>Comic Sans MS</vt:lpstr>
      <vt:lpstr>Gill Sans MT</vt:lpstr>
      <vt:lpstr>Times New Roman</vt:lpstr>
      <vt:lpstr>Verdana</vt:lpstr>
      <vt:lpstr>Wingdings</vt:lpstr>
      <vt:lpstr>intro</vt:lpstr>
      <vt:lpstr>Introduction to Software Testing (2nd edition) Chapter 7.1, 7.2  Overview Graph Coverage Criteria</vt:lpstr>
      <vt:lpstr>Ch. 7 : Graph Coverage</vt:lpstr>
      <vt:lpstr>Covering Graphs  (7.1)</vt:lpstr>
      <vt:lpstr>Definition of a Graph</vt:lpstr>
      <vt:lpstr>Example Graphs</vt:lpstr>
      <vt:lpstr>Paths in Graphs</vt:lpstr>
      <vt:lpstr>Test Paths and SESEs</vt:lpstr>
      <vt:lpstr>Visiting and Touring</vt:lpstr>
      <vt:lpstr>Tests and Test Paths</vt:lpstr>
      <vt:lpstr>Tests and Test Paths</vt:lpstr>
      <vt:lpstr>Testing and Covering Graphs (7.2)</vt:lpstr>
      <vt:lpstr>Node and Edge Coverage</vt:lpstr>
      <vt:lpstr>Node and Edge Coverage</vt:lpstr>
      <vt:lpstr>Paths of Length 1 and 0</vt:lpstr>
      <vt:lpstr>Covering Multiple Edges</vt:lpstr>
      <vt:lpstr>Covering Multiple Edges</vt:lpstr>
      <vt:lpstr>Structural Coverage Example</vt:lpstr>
      <vt:lpstr>Handling Loops in Graphs</vt:lpstr>
      <vt:lpstr>Simple Paths and Prime Paths</vt:lpstr>
      <vt:lpstr>Prime Path Coverage</vt:lpstr>
      <vt:lpstr>PPC Does Not Subsume EPC</vt:lpstr>
      <vt:lpstr>Touring, Sidetrips, and Detours</vt:lpstr>
      <vt:lpstr>Sidetrips and Detours Example</vt:lpstr>
      <vt:lpstr>Infeasible Test Requirements</vt:lpstr>
      <vt:lpstr>Simple &amp; Prime Path Example</vt:lpstr>
      <vt:lpstr>Data Flow Criteria</vt:lpstr>
      <vt:lpstr>DU Pairs and DU Paths</vt:lpstr>
      <vt:lpstr>Touring DU-Paths</vt:lpstr>
      <vt:lpstr>Data Flow Test Criteria</vt:lpstr>
      <vt:lpstr>Data Flow Testing Example</vt:lpstr>
    </vt:vector>
  </TitlesOfParts>
  <Company>George Mason Unviersity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SWE 637: Graph Coverage</dc:title>
  <dc:creator>Jeff Offutt</dc:creator>
  <cp:lastModifiedBy>Gaffar, Ashraf [E CPE]</cp:lastModifiedBy>
  <cp:revision>240</cp:revision>
  <cp:lastPrinted>2013-09-24T13:18:52Z</cp:lastPrinted>
  <dcterms:created xsi:type="dcterms:W3CDTF">1996-06-15T03:21:08Z</dcterms:created>
  <dcterms:modified xsi:type="dcterms:W3CDTF">2023-06-13T17:52:56Z</dcterms:modified>
</cp:coreProperties>
</file>