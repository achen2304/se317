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36" r:id="rId2"/>
    <p:sldId id="552" r:id="rId3"/>
    <p:sldId id="553" r:id="rId4"/>
    <p:sldId id="554" r:id="rId5"/>
    <p:sldId id="555" r:id="rId6"/>
    <p:sldId id="556" r:id="rId7"/>
    <p:sldId id="590" r:id="rId8"/>
    <p:sldId id="594" r:id="rId9"/>
    <p:sldId id="573" r:id="rId10"/>
    <p:sldId id="557" r:id="rId11"/>
    <p:sldId id="558" r:id="rId12"/>
    <p:sldId id="559" r:id="rId13"/>
    <p:sldId id="562" r:id="rId14"/>
    <p:sldId id="563" r:id="rId15"/>
    <p:sldId id="588" r:id="rId16"/>
    <p:sldId id="587" r:id="rId17"/>
    <p:sldId id="566" r:id="rId18"/>
    <p:sldId id="574" r:id="rId19"/>
    <p:sldId id="591" r:id="rId20"/>
    <p:sldId id="592" r:id="rId21"/>
    <p:sldId id="580" r:id="rId22"/>
    <p:sldId id="576" r:id="rId23"/>
    <p:sldId id="581" r:id="rId24"/>
    <p:sldId id="578" r:id="rId25"/>
    <p:sldId id="595" r:id="rId26"/>
    <p:sldId id="579" r:id="rId27"/>
    <p:sldId id="568" r:id="rId28"/>
    <p:sldId id="569" r:id="rId29"/>
    <p:sldId id="570" r:id="rId30"/>
    <p:sldId id="571" r:id="rId31"/>
    <p:sldId id="572" r:id="rId3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00"/>
    <a:srgbClr val="009900"/>
    <a:srgbClr val="000000"/>
    <a:srgbClr val="0000CC"/>
    <a:srgbClr val="00FF00"/>
    <a:srgbClr val="00145A"/>
    <a:srgbClr val="001E5A"/>
    <a:srgbClr val="5F5F5F"/>
    <a:srgbClr val="000050"/>
    <a:srgbClr val="00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12" autoAdjust="0"/>
    <p:restoredTop sz="94344" autoAdjust="0"/>
  </p:normalViewPr>
  <p:slideViewPr>
    <p:cSldViewPr snapToGrid="0">
      <p:cViewPr>
        <p:scale>
          <a:sx n="150" d="100"/>
          <a:sy n="150" d="100"/>
        </p:scale>
        <p:origin x="-368" y="-80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interSettings" Target="printerSettings/printerSettings1.bin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fld id="{1B3B0E3B-E5C4-4251-A7FB-CB33CCB6CE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5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229CEE7-0F02-44C1-8906-EC6CFDC65F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19" tIns="48661" rIns="97319" bIns="486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626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0725"/>
            <a:ext cx="4794250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290888" y="9144000"/>
            <a:ext cx="731837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288" tIns="46983" rIns="92288" bIns="46983">
            <a:spAutoFit/>
          </a:bodyPr>
          <a:lstStyle/>
          <a:p>
            <a:pPr algn="ctr" defTabSz="917575">
              <a:lnSpc>
                <a:spcPct val="90000"/>
              </a:lnSpc>
              <a:defRPr/>
            </a:pPr>
            <a:r>
              <a:rPr lang="en-US" sz="1400" b="0">
                <a:solidFill>
                  <a:schemeClr val="tx1"/>
                </a:solidFill>
              </a:rPr>
              <a:t>Page </a:t>
            </a:r>
            <a:fld id="{55488FE2-1213-4D8B-9D82-EC18FBC6248F}" type="slidenum">
              <a:rPr lang="en-US" sz="1400" b="0">
                <a:solidFill>
                  <a:schemeClr val="tx1"/>
                </a:solidFill>
              </a:rPr>
              <a:pPr algn="ctr" defTabSz="917575">
                <a:lnSpc>
                  <a:spcPct val="90000"/>
                </a:lnSpc>
                <a:defRPr/>
              </a:pPr>
              <a:t>‹#›</a:t>
            </a:fld>
            <a:endParaRPr lang="en-US" sz="14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156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4412327-F9A8-4C82-83D7-AD07442DFF20}" type="slidenum">
              <a:rPr lang="en-US" sz="1100" b="0" smtClean="0">
                <a:solidFill>
                  <a:schemeClr val="tx1"/>
                </a:solidFill>
              </a:rPr>
              <a:pPr/>
              <a:t>1</a:t>
            </a:fld>
            <a:endParaRPr lang="en-US" sz="1100" b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like to stop here and ask students to spend 5 or 10 minutes designing</a:t>
            </a:r>
            <a:r>
              <a:rPr lang="en-US" baseline="0" dirty="0" smtClean="0"/>
              <a:t> tests. Based on either the description or the implementation, what tests would you want to run.</a:t>
            </a:r>
          </a:p>
          <a:p>
            <a:r>
              <a:rPr lang="en-US" baseline="0" dirty="0" smtClean="0"/>
              <a:t>Test values are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29CEE7-0F02-44C1-8906-EC6CFDC65F2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427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621">
              <a:defRPr sz="21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70662" indent="-296408" defTabSz="966621">
              <a:defRPr sz="21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85634" indent="-237127" defTabSz="966621">
              <a:defRPr sz="21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59887" indent="-237127" defTabSz="966621">
              <a:defRPr sz="21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134141" indent="-237127" defTabSz="966621">
              <a:defRPr sz="21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608395" indent="-237127" defTabSz="966621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6pPr>
            <a:lvl7pPr marL="3082648" indent="-237127" defTabSz="966621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556902" indent="-237127" defTabSz="966621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8pPr>
            <a:lvl9pPr marL="4031155" indent="-237127" defTabSz="966621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942E7F2-D702-4D6C-B875-F20700F709FD}" type="slidenum">
              <a:rPr lang="en-US" sz="1100" b="0">
                <a:solidFill>
                  <a:schemeClr val="tx1"/>
                </a:solidFill>
              </a:rPr>
              <a:pPr/>
              <a:t>31</a:t>
            </a:fld>
            <a:endParaRPr 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12E1F-CC9B-4A24-8835-E097471CC5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06507"/>
      </p:ext>
    </p:extLst>
  </p:cSld>
  <p:clrMapOvr>
    <a:masterClrMapping/>
  </p:clrMapOvr>
  <p:transition xmlns:p14="http://schemas.microsoft.com/office/powerpoint/2010/main"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829994"/>
            <a:ext cx="8966200" cy="573122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B1FAA-A740-404F-BBC5-7C153B6662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451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6E679-5245-4D04-9B5E-6F7A762A63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391379"/>
      </p:ext>
    </p:extLst>
  </p:cSld>
  <p:clrMapOvr>
    <a:masterClrMapping/>
  </p:clrMapOvr>
  <p:transition xmlns:p14="http://schemas.microsoft.com/office/powerpoint/2010/main"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113" y="1085850"/>
            <a:ext cx="4357687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357688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56877-A1FA-486C-970B-A787F06937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88219"/>
      </p:ext>
    </p:extLst>
  </p:cSld>
  <p:clrMapOvr>
    <a:masterClrMapping/>
  </p:clrMapOvr>
  <p:transition xmlns:p14="http://schemas.microsoft.com/office/powerpoint/2010/main"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21A5C-439D-4C05-8267-ECDE501361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17122"/>
      </p:ext>
    </p:extLst>
  </p:cSld>
  <p:clrMapOvr>
    <a:masterClrMapping/>
  </p:clrMapOvr>
  <p:transition xmlns:p14="http://schemas.microsoft.com/office/powerpoint/2010/main"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A1E189-A5E4-460C-B525-E80730F3D2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660615"/>
      </p:ext>
    </p:extLst>
  </p:cSld>
  <p:clrMapOvr>
    <a:masterClrMapping/>
  </p:clrMapOvr>
  <p:transition xmlns:p14="http://schemas.microsoft.com/office/powerpoint/2010/main"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A59007-A7D2-484D-B045-20F01AFEB2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681350"/>
      </p:ext>
    </p:extLst>
  </p:cSld>
  <p:clrMapOvr>
    <a:masterClrMapping/>
  </p:clrMapOvr>
  <p:transition xmlns:p14="http://schemas.microsoft.com/office/powerpoint/2010/main"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1680B-D5C9-49AC-83D2-20D4FD564E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88499"/>
      </p:ext>
    </p:extLst>
  </p:cSld>
  <p:clrMapOvr>
    <a:masterClrMapping/>
  </p:clrMapOvr>
  <p:transition xmlns:p14="http://schemas.microsoft.com/office/powerpoint/2010/main"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3C506-278B-4869-9411-0A8C8B40EDB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903512"/>
      </p:ext>
    </p:extLst>
  </p:cSld>
  <p:clrMapOvr>
    <a:masterClrMapping/>
  </p:clrMapOvr>
  <p:transition xmlns:p14="http://schemas.microsoft.com/office/powerpoint/2010/main"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A3BD3-2509-4F01-9114-521231456D6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462672"/>
      </p:ext>
    </p:extLst>
  </p:cSld>
  <p:clrMapOvr>
    <a:masterClrMapping/>
  </p:clrMapOvr>
  <p:transition xmlns:p14="http://schemas.microsoft.com/office/powerpoint/2010/main"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9738" y="96838"/>
            <a:ext cx="2216150" cy="62801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113" y="96838"/>
            <a:ext cx="6499225" cy="62801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CF888-7503-4D3E-BC7A-0F436AE460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24803"/>
      </p:ext>
    </p:extLst>
  </p:cSld>
  <p:clrMapOvr>
    <a:masterClrMapping/>
  </p:clrMapOvr>
  <p:transition xmlns:p14="http://schemas.microsoft.com/office/powerpoint/2010/main" spd="med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391" y="6568158"/>
            <a:ext cx="3844925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05275" y="6560220"/>
            <a:ext cx="28956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94550" y="6552283"/>
            <a:ext cx="19050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0BDDBD9-5CD3-45F3-80AE-704B15C07F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7625" y="96838"/>
            <a:ext cx="90487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" y="1085850"/>
            <a:ext cx="9048750" cy="542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 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 </a:t>
            </a:r>
          </a:p>
          <a:p>
            <a:pPr lvl="4"/>
            <a:r>
              <a:rPr lang="en-US" dirty="0" smtClean="0"/>
              <a:t>Fifth level </a:t>
            </a: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9118833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46" r:id="rId1"/>
    <p:sldLayoutId id="214748405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itchFamily="34" charset="0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75000"/>
        <a:buFont typeface="Monotype Sorts" charset="2"/>
        <a:buChar char="n"/>
        <a:defRPr sz="2800" b="0">
          <a:solidFill>
            <a:schemeClr val="tx1"/>
          </a:solidFill>
          <a:latin typeface="Gill Sans MT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cs.gmu.edu/~offutt/softwaretest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aliluna.de/eclipse-junit-testing-tutorial.html" TargetMode="External"/><Relationship Id="rId4" Type="http://schemas.openxmlformats.org/officeDocument/2006/relationships/hyperlink" Target="http://www.diasparsoftware.com/template.php?content=jUnitStarterGuide" TargetMode="External"/><Relationship Id="rId5" Type="http://schemas.openxmlformats.org/officeDocument/2006/relationships/hyperlink" Target="http://www.clarkware.com/articles/JUnitPrimer.html" TargetMode="External"/><Relationship Id="rId6" Type="http://schemas.openxmlformats.org/officeDocument/2006/relationships/hyperlink" Target="http://www.junit.org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open.ncsu.edu/se/tutorials/junit/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5669" y="0"/>
            <a:ext cx="8229600" cy="3443357"/>
          </a:xfrm>
        </p:spPr>
        <p:txBody>
          <a:bodyPr/>
          <a:lstStyle/>
          <a:p>
            <a:r>
              <a:rPr lang="en-US" dirty="0" smtClean="0"/>
              <a:t>Introduction to Software Testing</a:t>
            </a:r>
            <a:br>
              <a:rPr lang="en-US" dirty="0" smtClean="0"/>
            </a:br>
            <a:r>
              <a:rPr lang="en-US" sz="2800" dirty="0" smtClean="0"/>
              <a:t>(</a:t>
            </a:r>
            <a:r>
              <a:rPr lang="en-US" sz="2800" i="1" dirty="0" smtClean="0"/>
              <a:t>2nd edition</a:t>
            </a:r>
            <a:r>
              <a:rPr lang="en-US" sz="2800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Chapter 3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Test Automation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45479" y="3425825"/>
            <a:ext cx="6647793" cy="252571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sz="3200" dirty="0" smtClean="0"/>
              <a:t>Paul Ammann &amp; Jeff Offutt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sz="2800" dirty="0" smtClean="0"/>
          </a:p>
          <a:p>
            <a:r>
              <a:rPr lang="en-US" b="0" dirty="0" smtClean="0">
                <a:hlinkClick r:id="rId3"/>
              </a:rPr>
              <a:t>http://www.cs.gmu.edu/~offutt/softwaretest/</a:t>
            </a:r>
            <a:endParaRPr lang="en-US" b="0" dirty="0" smtClean="0"/>
          </a:p>
          <a:p>
            <a:endParaRPr lang="en-US" b="0" dirty="0" smtClean="0"/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2857586" y="6321425"/>
            <a:ext cx="34257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600" b="0" i="1" dirty="0" smtClean="0">
                <a:latin typeface="Comic Sans MS" pitchFamily="66" charset="0"/>
              </a:rPr>
              <a:t>Updated October 2018</a:t>
            </a:r>
            <a:endParaRPr lang="en-US" sz="1600" b="0" i="1" dirty="0">
              <a:latin typeface="Comic Sans MS" pitchFamily="66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Test Automation?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3275635"/>
            <a:ext cx="8966200" cy="3285586"/>
          </a:xfrm>
        </p:spPr>
        <p:txBody>
          <a:bodyPr/>
          <a:lstStyle/>
          <a:p>
            <a:r>
              <a:rPr lang="en-US" sz="2800" dirty="0" smtClean="0"/>
              <a:t>Reduces </a:t>
            </a:r>
            <a:r>
              <a:rPr lang="en-US" sz="2800" dirty="0" smtClean="0">
                <a:solidFill>
                  <a:schemeClr val="tx2"/>
                </a:solidFill>
              </a:rPr>
              <a:t>cost</a:t>
            </a:r>
          </a:p>
          <a:p>
            <a:r>
              <a:rPr lang="en-US" sz="2800" dirty="0" smtClean="0"/>
              <a:t>Reduces </a:t>
            </a:r>
            <a:r>
              <a:rPr lang="en-US" sz="2800" dirty="0" smtClean="0">
                <a:solidFill>
                  <a:schemeClr val="tx2"/>
                </a:solidFill>
              </a:rPr>
              <a:t>human error</a:t>
            </a:r>
          </a:p>
          <a:p>
            <a:r>
              <a:rPr lang="en-US" sz="2800" dirty="0" smtClean="0"/>
              <a:t>Reduces </a:t>
            </a:r>
            <a:r>
              <a:rPr lang="en-US" sz="2800" dirty="0" smtClean="0">
                <a:solidFill>
                  <a:schemeClr val="tx2"/>
                </a:solidFill>
              </a:rPr>
              <a:t>variance</a:t>
            </a:r>
            <a:r>
              <a:rPr lang="en-US" sz="2800" dirty="0" smtClean="0"/>
              <a:t> in test quality from different individuals</a:t>
            </a:r>
          </a:p>
          <a:p>
            <a:r>
              <a:rPr lang="en-US" sz="2800" dirty="0" smtClean="0"/>
              <a:t>Significantly reduces the cost of </a:t>
            </a:r>
            <a:r>
              <a:rPr lang="en-US" sz="2800" dirty="0" smtClean="0">
                <a:solidFill>
                  <a:schemeClr val="tx2"/>
                </a:solidFill>
              </a:rPr>
              <a:t>regression</a:t>
            </a:r>
            <a:r>
              <a:rPr lang="en-US" sz="2800" dirty="0" smtClean="0"/>
              <a:t> testing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19918" y="1108295"/>
            <a:ext cx="8727311" cy="1815882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The use of software to control the </a:t>
            </a:r>
            <a:r>
              <a:rPr lang="en-US" altLang="zh-CN" sz="2800" b="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execution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 of tests, the </a:t>
            </a:r>
            <a:r>
              <a:rPr lang="en-US" altLang="zh-CN" sz="2800" b="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comparison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 of actual outcomes to predicted outcomes, the </a:t>
            </a:r>
            <a:r>
              <a:rPr lang="en-US" altLang="zh-CN" sz="2800" b="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setting up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 of test preconditions, and other test </a:t>
            </a:r>
            <a:r>
              <a:rPr lang="en-US" altLang="zh-CN" sz="2800" b="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control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 and test </a:t>
            </a:r>
            <a:r>
              <a:rPr lang="en-US" altLang="zh-CN" sz="2800" b="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reporting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 </a:t>
            </a:r>
            <a:r>
              <a:rPr lang="en-US" altLang="zh-CN" sz="2800" b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functions</a:t>
            </a:r>
            <a:endParaRPr lang="en-US" altLang="zh-CN" sz="2800" b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977448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</a:t>
            </a:r>
            <a:r>
              <a:rPr lang="en-US" dirty="0" smtClean="0"/>
              <a:t>Testability </a:t>
            </a:r>
            <a:r>
              <a:rPr lang="en-US" sz="2800" dirty="0" smtClean="0"/>
              <a:t>(3.1)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2766349"/>
            <a:ext cx="8966200" cy="3794873"/>
          </a:xfrm>
        </p:spPr>
        <p:txBody>
          <a:bodyPr/>
          <a:lstStyle/>
          <a:p>
            <a:r>
              <a:rPr lang="en-US" sz="2800" dirty="0" smtClean="0"/>
              <a:t>Plainly speaking – </a:t>
            </a:r>
            <a:r>
              <a:rPr lang="en-US" sz="2800" dirty="0" smtClean="0">
                <a:solidFill>
                  <a:schemeClr val="tx2"/>
                </a:solidFill>
              </a:rPr>
              <a:t>how hard it is to find faults</a:t>
            </a:r>
            <a:r>
              <a:rPr lang="en-US" sz="2800" dirty="0" smtClean="0"/>
              <a:t> in the software</a:t>
            </a:r>
          </a:p>
          <a:p>
            <a:r>
              <a:rPr lang="en-US" sz="2800" dirty="0" smtClean="0"/>
              <a:t>Testability is dominated by </a:t>
            </a:r>
            <a:r>
              <a:rPr lang="en-US" sz="2800" dirty="0" smtClean="0">
                <a:solidFill>
                  <a:schemeClr val="tx2"/>
                </a:solidFill>
              </a:rPr>
              <a:t>two</a:t>
            </a:r>
            <a:r>
              <a:rPr lang="en-US" sz="2800" dirty="0" smtClean="0"/>
              <a:t> practical problems</a:t>
            </a:r>
          </a:p>
          <a:p>
            <a:pPr lvl="1"/>
            <a:r>
              <a:rPr lang="en-US" sz="2400" dirty="0" smtClean="0"/>
              <a:t>How to </a:t>
            </a:r>
            <a:r>
              <a:rPr lang="en-US" sz="2400" dirty="0" smtClean="0">
                <a:solidFill>
                  <a:schemeClr val="tx2"/>
                </a:solidFill>
              </a:rPr>
              <a:t>provide the test values</a:t>
            </a:r>
            <a:r>
              <a:rPr lang="en-US" sz="2400" dirty="0" smtClean="0"/>
              <a:t> to the software</a:t>
            </a:r>
          </a:p>
          <a:p>
            <a:pPr lvl="1"/>
            <a:r>
              <a:rPr lang="en-US" sz="2400" dirty="0" smtClean="0"/>
              <a:t>How to </a:t>
            </a:r>
            <a:r>
              <a:rPr lang="en-US" sz="2400" dirty="0" smtClean="0">
                <a:solidFill>
                  <a:schemeClr val="tx2"/>
                </a:solidFill>
              </a:rPr>
              <a:t>observe the results</a:t>
            </a:r>
            <a:r>
              <a:rPr lang="en-US" sz="2400" dirty="0" smtClean="0"/>
              <a:t> of test execution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19918" y="1034819"/>
            <a:ext cx="8727311" cy="1384995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The degree to which a system or component facilitates the establishment of test criteria and the performance of tests to determine whether those criteria have been met</a:t>
            </a:r>
          </a:p>
        </p:txBody>
      </p:sp>
    </p:spTree>
    <p:extLst>
      <p:ext uri="{BB962C8B-B14F-4D97-AF65-F5344CB8AC3E}">
        <p14:creationId xmlns:p14="http://schemas.microsoft.com/office/powerpoint/2010/main" val="117676465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Observability</a:t>
            </a:r>
            <a:r>
              <a:rPr lang="en-US" dirty="0" smtClean="0"/>
              <a:t> and Controllability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833377"/>
            <a:ext cx="8966200" cy="5727845"/>
          </a:xfrm>
        </p:spPr>
        <p:txBody>
          <a:bodyPr/>
          <a:lstStyle/>
          <a:p>
            <a:r>
              <a:rPr 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Observability</a:t>
            </a: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itchFamily="34" charset="0"/>
            </a:endParaRP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pPr lvl="1"/>
            <a:r>
              <a:rPr lang="en-US" sz="2400" dirty="0"/>
              <a:t>Software that affects hardware devices, databases, or remote files have low </a:t>
            </a:r>
            <a:r>
              <a:rPr lang="en-US" sz="2400" dirty="0" err="1" smtClean="0"/>
              <a:t>observability</a:t>
            </a:r>
            <a:endParaRPr lang="en-US" sz="2800" dirty="0" smtClean="0"/>
          </a:p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Controllability</a:t>
            </a:r>
          </a:p>
          <a:p>
            <a:endParaRPr lang="en-US" sz="2800" dirty="0"/>
          </a:p>
          <a:p>
            <a:endParaRPr lang="en-US" sz="2800" dirty="0" smtClean="0"/>
          </a:p>
          <a:p>
            <a:pPr lvl="1"/>
            <a:r>
              <a:rPr lang="en-US" sz="2400" dirty="0"/>
              <a:t>Easy to control software with inputs from keyboards</a:t>
            </a:r>
          </a:p>
          <a:p>
            <a:pPr lvl="1"/>
            <a:r>
              <a:rPr lang="en-US" sz="2400" dirty="0"/>
              <a:t>Inputs from hardware sensors or distributed software is </a:t>
            </a:r>
            <a:r>
              <a:rPr lang="en-US" sz="2400" dirty="0" smtClean="0"/>
              <a:t>harder</a:t>
            </a:r>
            <a:endParaRPr lang="en-US" dirty="0" smtClean="0"/>
          </a:p>
          <a:p>
            <a:r>
              <a:rPr lang="en-US" sz="2800" dirty="0" smtClean="0"/>
              <a:t> </a:t>
            </a:r>
            <a:r>
              <a:rPr lang="en-US" sz="2800" dirty="0" smtClean="0">
                <a:solidFill>
                  <a:schemeClr val="tx2"/>
                </a:solidFill>
              </a:rPr>
              <a:t>Data </a:t>
            </a:r>
            <a:r>
              <a:rPr lang="en-US" sz="2800" dirty="0">
                <a:solidFill>
                  <a:schemeClr val="tx2"/>
                </a:solidFill>
              </a:rPr>
              <a:t>abstraction</a:t>
            </a:r>
            <a:r>
              <a:rPr lang="en-US" sz="2800" dirty="0"/>
              <a:t> reduces controllability and </a:t>
            </a:r>
            <a:r>
              <a:rPr lang="en-US" sz="2800" dirty="0" err="1" smtClean="0"/>
              <a:t>observability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19918" y="1363154"/>
            <a:ext cx="8727311" cy="1384995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How easy it is to observe the behavior of a program in terms of its outputs, effects on the environment and other hardware and software components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98692" y="4147328"/>
            <a:ext cx="8727311" cy="954107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How easy it is to provide a program with the needed inputs, in terms of values, operations, and behaviors</a:t>
            </a:r>
          </a:p>
        </p:txBody>
      </p:sp>
    </p:spTree>
    <p:extLst>
      <p:ext uri="{BB962C8B-B14F-4D97-AF65-F5344CB8AC3E}">
        <p14:creationId xmlns:p14="http://schemas.microsoft.com/office/powerpoint/2010/main" val="305575032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Test </a:t>
            </a:r>
            <a:r>
              <a:rPr lang="en-US" dirty="0" smtClean="0"/>
              <a:t>Case </a:t>
            </a:r>
            <a:r>
              <a:rPr lang="en-US" sz="2800" dirty="0" smtClean="0"/>
              <a:t>(3.2)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 test case is a </a:t>
            </a:r>
            <a:r>
              <a:rPr lang="en-US" sz="2800" dirty="0" smtClean="0">
                <a:solidFill>
                  <a:schemeClr val="tx2"/>
                </a:solidFill>
              </a:rPr>
              <a:t>multipart artifact</a:t>
            </a:r>
            <a:r>
              <a:rPr lang="en-US" sz="2800" dirty="0" smtClean="0"/>
              <a:t> with a definite structure</a:t>
            </a:r>
          </a:p>
          <a:p>
            <a:pPr lvl="1"/>
            <a:endParaRPr lang="en-US" dirty="0" smtClean="0"/>
          </a:p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Test case values</a:t>
            </a:r>
          </a:p>
          <a:p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itchFamily="34" charset="0"/>
            </a:endParaRPr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itchFamily="34" charset="0"/>
              </a:rPr>
              <a:t>Expected results</a:t>
            </a:r>
            <a:r>
              <a:rPr lang="en-US" sz="2800" dirty="0" smtClean="0"/>
              <a:t>	</a:t>
            </a:r>
          </a:p>
          <a:p>
            <a:endParaRPr lang="en-US" dirty="0"/>
          </a:p>
          <a:p>
            <a:endParaRPr lang="en-US" sz="2800" dirty="0" smtClean="0"/>
          </a:p>
          <a:p>
            <a:pPr lvl="1"/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chemeClr val="tx2"/>
                </a:solidFill>
              </a:rPr>
              <a:t>test oracle</a:t>
            </a:r>
            <a:r>
              <a:rPr lang="en-US" sz="2400" dirty="0" smtClean="0"/>
              <a:t> uses expected results </a:t>
            </a:r>
            <a:r>
              <a:rPr lang="en-US" dirty="0"/>
              <a:t>to </a:t>
            </a:r>
            <a:r>
              <a:rPr lang="en-US" dirty="0" smtClean="0"/>
              <a:t>decide </a:t>
            </a:r>
            <a:r>
              <a:rPr lang="en-US" dirty="0"/>
              <a:t>whether </a:t>
            </a:r>
            <a:r>
              <a:rPr lang="en-US" sz="2400" dirty="0" smtClean="0"/>
              <a:t>a test passed or failed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98692" y="4292255"/>
            <a:ext cx="8727311" cy="954107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The result that will be produced </a:t>
            </a:r>
            <a:r>
              <a:rPr lang="en-US" altLang="zh-CN" sz="2800" b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by the 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test if the </a:t>
            </a:r>
            <a:r>
              <a:rPr lang="en-US" altLang="zh-CN" sz="2800" b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software behaves as expected</a:t>
            </a:r>
            <a:endParaRPr lang="en-US" altLang="zh-CN" sz="2800" b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ea typeface="宋体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98691" y="2355155"/>
            <a:ext cx="8727311" cy="954107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The </a:t>
            </a:r>
            <a:r>
              <a:rPr lang="en-US" altLang="zh-CN" sz="2800" b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input values needed to complete an execution of the software under test</a:t>
            </a:r>
            <a:endParaRPr lang="en-US" altLang="zh-CN" sz="2800" b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21416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" y="96837"/>
            <a:ext cx="9048750" cy="1412786"/>
          </a:xfrm>
        </p:spPr>
        <p:txBody>
          <a:bodyPr/>
          <a:lstStyle/>
          <a:p>
            <a:r>
              <a:rPr lang="en-US" dirty="0" smtClean="0"/>
              <a:t>Affecting </a:t>
            </a:r>
            <a:r>
              <a:rPr lang="en-US" dirty="0"/>
              <a:t>Controllability and </a:t>
            </a:r>
            <a:r>
              <a:rPr lang="en-US" dirty="0" err="1"/>
              <a:t>Observability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1266978"/>
            <a:ext cx="8966200" cy="4751694"/>
          </a:xfrm>
        </p:spPr>
        <p:txBody>
          <a:bodyPr/>
          <a:lstStyle/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Prefix values</a:t>
            </a:r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Postfix values</a:t>
            </a:r>
          </a:p>
          <a:p>
            <a:endParaRPr lang="en-US" sz="2800" dirty="0"/>
          </a:p>
          <a:p>
            <a:endParaRPr lang="en-US" sz="2800" dirty="0" smtClean="0"/>
          </a:p>
          <a:p>
            <a:pPr marL="800100" lvl="1" indent="-342900">
              <a:buFontTx/>
              <a:buAutoNum type="arabicPeriod"/>
            </a:pPr>
            <a:r>
              <a:rPr lang="en-US" i="1" dirty="0">
                <a:solidFill>
                  <a:schemeClr val="tx2"/>
                </a:solidFill>
              </a:rPr>
              <a:t>Verification Values</a:t>
            </a:r>
            <a:r>
              <a:rPr lang="en-US" dirty="0"/>
              <a:t> : Values </a:t>
            </a:r>
            <a:r>
              <a:rPr lang="en-US" dirty="0" smtClean="0"/>
              <a:t>needed to </a:t>
            </a:r>
            <a:r>
              <a:rPr lang="en-US" dirty="0"/>
              <a:t>see the results of the test case values</a:t>
            </a:r>
          </a:p>
          <a:p>
            <a:pPr marL="800100" lvl="1" indent="-342900">
              <a:buFontTx/>
              <a:buAutoNum type="arabicPeriod"/>
            </a:pPr>
            <a:r>
              <a:rPr lang="en-US" i="1" dirty="0">
                <a:solidFill>
                  <a:schemeClr val="tx2"/>
                </a:solidFill>
              </a:rPr>
              <a:t>Exit </a:t>
            </a:r>
            <a:r>
              <a:rPr lang="en-US" i="1" dirty="0" smtClean="0">
                <a:solidFill>
                  <a:schemeClr val="tx2"/>
                </a:solidFill>
              </a:rPr>
              <a:t>Values</a:t>
            </a:r>
            <a:r>
              <a:rPr lang="en-US" dirty="0" smtClean="0"/>
              <a:t> : </a:t>
            </a:r>
            <a:r>
              <a:rPr lang="en-US" dirty="0"/>
              <a:t>Values </a:t>
            </a:r>
            <a:r>
              <a:rPr lang="en-US" dirty="0" smtClean="0"/>
              <a:t>or commands needed </a:t>
            </a:r>
            <a:r>
              <a:rPr lang="en-US" dirty="0"/>
              <a:t>to terminate the program or otherwise return it to a stable </a:t>
            </a:r>
            <a:r>
              <a:rPr lang="en-US" dirty="0" smtClean="0"/>
              <a:t>state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98692" y="3326039"/>
            <a:ext cx="8727311" cy="954107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0" dirty="0">
                <a:latin typeface="Gill Sans MT" pitchFamily="34" charset="0"/>
              </a:rPr>
              <a:t>Any inputs that need to be sent to the software after the test case </a:t>
            </a:r>
            <a:r>
              <a:rPr lang="en-US" sz="2800" b="0" dirty="0" smtClean="0">
                <a:latin typeface="Gill Sans MT" pitchFamily="34" charset="0"/>
              </a:rPr>
              <a:t>values are sent</a:t>
            </a:r>
            <a:endParaRPr lang="en-US" altLang="zh-CN" sz="2800" b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ea typeface="宋体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98691" y="1812459"/>
            <a:ext cx="8727311" cy="954107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2800" b="0" dirty="0" smtClean="0">
                <a:latin typeface="Gill Sans MT" pitchFamily="34" charset="0"/>
              </a:rPr>
              <a:t>Inputs </a:t>
            </a:r>
            <a:r>
              <a:rPr lang="en-US" sz="2800" b="0" dirty="0">
                <a:latin typeface="Gill Sans MT" pitchFamily="34" charset="0"/>
              </a:rPr>
              <a:t>necessary to put the software into the appropriate state to receive the test case values</a:t>
            </a:r>
          </a:p>
        </p:txBody>
      </p:sp>
    </p:spTree>
    <p:extLst>
      <p:ext uri="{BB962C8B-B14F-4D97-AF65-F5344CB8AC3E}">
        <p14:creationId xmlns:p14="http://schemas.microsoft.com/office/powerpoint/2010/main" val="336030452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Putting Tests Together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Test case</a:t>
            </a:r>
          </a:p>
          <a:p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Test set</a:t>
            </a:r>
          </a:p>
          <a:p>
            <a:pPr lvl="1"/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Executable test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script 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(Vs. inline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t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esting for stand alone SW)</a:t>
            </a: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09728" y="1334779"/>
            <a:ext cx="8912351" cy="1384995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182880" algn="ctr"/>
            <a:r>
              <a:rPr lang="en-US" sz="2800" b="0" dirty="0" smtClean="0">
                <a:latin typeface="Gill Sans MT" pitchFamily="34" charset="0"/>
              </a:rPr>
              <a:t>The test case values, prefix values, postfix values, and expected results necessary for a complete execution and evaluation of the software under test</a:t>
            </a:r>
            <a:endParaRPr lang="en-US" sz="2800" b="0" dirty="0">
              <a:latin typeface="Gill Sans MT" pitchFamily="34" charset="0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03632" y="3502891"/>
            <a:ext cx="8912351" cy="523220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182880" algn="ctr"/>
            <a:r>
              <a:rPr lang="en-US" sz="2800" b="0" dirty="0" smtClean="0">
                <a:latin typeface="Gill Sans MT" pitchFamily="34" charset="0"/>
              </a:rPr>
              <a:t>A set of test cases</a:t>
            </a:r>
            <a:endParaRPr lang="en-US" sz="2800" b="0" dirty="0">
              <a:latin typeface="Gill Sans MT" pitchFamily="34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03632" y="4830487"/>
            <a:ext cx="8912351" cy="954107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182880" algn="ctr"/>
            <a:r>
              <a:rPr lang="en-US" sz="2800" b="0" dirty="0">
                <a:latin typeface="Gill Sans MT" pitchFamily="34" charset="0"/>
              </a:rPr>
              <a:t>A test case that is prepared in a form to be executed automatically on the test software and produce a report</a:t>
            </a:r>
          </a:p>
        </p:txBody>
      </p:sp>
    </p:spTree>
    <p:extLst>
      <p:ext uri="{BB962C8B-B14F-4D97-AF65-F5344CB8AC3E}">
        <p14:creationId xmlns:p14="http://schemas.microsoft.com/office/powerpoint/2010/main" val="390864098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Test </a:t>
            </a:r>
            <a:r>
              <a:rPr lang="en-US" b="1" dirty="0" smtClean="0">
                <a:solidFill>
                  <a:schemeClr val="tx2"/>
                </a:solidFill>
              </a:rPr>
              <a:t>Design</a:t>
            </a:r>
          </a:p>
          <a:p>
            <a:pPr marL="1371600" lvl="2" indent="-457200">
              <a:lnSpc>
                <a:spcPct val="8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b="1" dirty="0" smtClean="0">
                <a:solidFill>
                  <a:schemeClr val="tx2"/>
                </a:solidFill>
              </a:rPr>
              <a:t>Criteria-Based</a:t>
            </a:r>
          </a:p>
          <a:p>
            <a:pPr marL="1371600" lvl="2" indent="-457200">
              <a:lnSpc>
                <a:spcPct val="8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b="1" dirty="0" smtClean="0">
                <a:solidFill>
                  <a:schemeClr val="tx2"/>
                </a:solidFill>
              </a:rPr>
              <a:t>Human-Based</a:t>
            </a:r>
            <a:endParaRPr lang="en-US" b="1" dirty="0">
              <a:solidFill>
                <a:schemeClr val="tx2"/>
              </a:solidFill>
            </a:endParaRPr>
          </a:p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Test Automation</a:t>
            </a:r>
          </a:p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Test Execution</a:t>
            </a:r>
          </a:p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Test Evaluation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5606506" y="994335"/>
            <a:ext cx="3283695" cy="2448243"/>
            <a:chOff x="4913004" y="952556"/>
            <a:chExt cx="3283695" cy="2448243"/>
          </a:xfrm>
        </p:grpSpPr>
        <p:sp>
          <p:nvSpPr>
            <p:cNvPr id="7" name="TextBox 6"/>
            <p:cNvSpPr txBox="1"/>
            <p:nvPr/>
          </p:nvSpPr>
          <p:spPr>
            <a:xfrm>
              <a:off x="5205448" y="1253366"/>
              <a:ext cx="276565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Find</a:t>
              </a:r>
            </a:p>
            <a:p>
              <a:r>
                <a:rPr lang="en-US" dirty="0"/>
                <a:t>	</a:t>
              </a:r>
              <a:r>
                <a:rPr lang="en-US" dirty="0" smtClean="0"/>
                <a:t>Recreate</a:t>
              </a:r>
            </a:p>
            <a:p>
              <a:r>
                <a:rPr lang="en-US" dirty="0"/>
                <a:t>	</a:t>
              </a:r>
              <a:r>
                <a:rPr lang="en-US" dirty="0" smtClean="0"/>
                <a:t>Root cause</a:t>
              </a:r>
            </a:p>
            <a:p>
              <a:r>
                <a:rPr lang="en-US" dirty="0" smtClean="0"/>
                <a:t> Fix</a:t>
              </a:r>
            </a:p>
            <a:p>
              <a:r>
                <a:rPr lang="en-US" dirty="0"/>
                <a:t>	</a:t>
              </a:r>
              <a:r>
                <a:rPr lang="en-US" dirty="0" smtClean="0"/>
                <a:t>Dependencies</a:t>
              </a:r>
            </a:p>
            <a:p>
              <a:r>
                <a:rPr lang="en-US" dirty="0"/>
                <a:t>	</a:t>
              </a:r>
              <a:r>
                <a:rPr lang="en-US" dirty="0" smtClean="0"/>
                <a:t>Regression</a:t>
              </a:r>
              <a:endParaRPr lang="en-US" dirty="0"/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4913004" y="952556"/>
              <a:ext cx="3283695" cy="2448243"/>
            </a:xfrm>
            <a:prstGeom prst="ellipse">
              <a:avLst/>
            </a:prstGeom>
            <a:solidFill>
              <a:schemeClr val="accent1">
                <a:alpha val="62000"/>
              </a:schemeClr>
            </a:solidFill>
            <a:ln w="12700" cap="flat" cmpd="sng" algn="ctr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12" name="Freeform 11"/>
          <p:cNvSpPr/>
          <p:nvPr/>
        </p:nvSpPr>
        <p:spPr>
          <a:xfrm>
            <a:off x="2155707" y="2164145"/>
            <a:ext cx="3484224" cy="1495683"/>
          </a:xfrm>
          <a:custGeom>
            <a:avLst/>
            <a:gdLst>
              <a:gd name="connsiteX0" fmla="*/ 0 w 3225205"/>
              <a:gd name="connsiteY0" fmla="*/ 1102962 h 2156211"/>
              <a:gd name="connsiteX1" fmla="*/ 1219896 w 3225205"/>
              <a:gd name="connsiteY1" fmla="*/ 2147433 h 2156211"/>
              <a:gd name="connsiteX2" fmla="*/ 1905044 w 3225205"/>
              <a:gd name="connsiteY2" fmla="*/ 584904 h 2156211"/>
              <a:gd name="connsiteX3" fmla="*/ 3225205 w 3225205"/>
              <a:gd name="connsiteY3" fmla="*/ 0 h 215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5205" h="2156211">
                <a:moveTo>
                  <a:pt x="0" y="1102962"/>
                </a:moveTo>
                <a:cubicBezTo>
                  <a:pt x="451194" y="1668369"/>
                  <a:pt x="902389" y="2233776"/>
                  <a:pt x="1219896" y="2147433"/>
                </a:cubicBezTo>
                <a:cubicBezTo>
                  <a:pt x="1537403" y="2061090"/>
                  <a:pt x="1570826" y="942809"/>
                  <a:pt x="1905044" y="584904"/>
                </a:cubicBezTo>
                <a:cubicBezTo>
                  <a:pt x="2239262" y="226999"/>
                  <a:pt x="3225205" y="0"/>
                  <a:pt x="3225205" y="0"/>
                </a:cubicBezTo>
              </a:path>
            </a:pathLst>
          </a:custGeom>
          <a:ln w="38100" cmpd="sng">
            <a:solidFill>
              <a:srgbClr val="FFFF00"/>
            </a:solidFill>
            <a:prstDash val="dash"/>
            <a:headEnd type="none"/>
            <a:tailEnd type="arrow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rgbClr val="FAFD00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902388" y="5255782"/>
            <a:ext cx="1654381" cy="400110"/>
            <a:chOff x="6533964" y="5698637"/>
            <a:chExt cx="1654381" cy="400110"/>
          </a:xfrm>
        </p:grpSpPr>
        <p:sp>
          <p:nvSpPr>
            <p:cNvPr id="13" name="Rounded Rectangle 12"/>
            <p:cNvSpPr/>
            <p:nvPr/>
          </p:nvSpPr>
          <p:spPr bwMode="auto">
            <a:xfrm>
              <a:off x="6533964" y="5782195"/>
              <a:ext cx="1654381" cy="29245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59031" y="5698637"/>
              <a:ext cx="1612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Postfix</a:t>
              </a:r>
              <a:endParaRPr lang="en-US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04391" y="4923548"/>
            <a:ext cx="1654381" cy="400110"/>
            <a:chOff x="6533964" y="5698637"/>
            <a:chExt cx="1654381" cy="400110"/>
          </a:xfrm>
        </p:grpSpPr>
        <p:sp>
          <p:nvSpPr>
            <p:cNvPr id="17" name="Rounded Rectangle 16"/>
            <p:cNvSpPr/>
            <p:nvPr/>
          </p:nvSpPr>
          <p:spPr bwMode="auto">
            <a:xfrm>
              <a:off x="6533964" y="5782195"/>
              <a:ext cx="1654381" cy="29245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59031" y="5698637"/>
              <a:ext cx="1612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Assertion</a:t>
              </a:r>
              <a:endParaRPr lang="en-US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04312" y="4597672"/>
            <a:ext cx="1727655" cy="400110"/>
            <a:chOff x="6535888" y="5040527"/>
            <a:chExt cx="1727655" cy="400110"/>
          </a:xfrm>
        </p:grpSpPr>
        <p:sp>
          <p:nvSpPr>
            <p:cNvPr id="20" name="Rounded Rectangle 19"/>
            <p:cNvSpPr/>
            <p:nvPr/>
          </p:nvSpPr>
          <p:spPr bwMode="auto">
            <a:xfrm>
              <a:off x="6542322" y="5124085"/>
              <a:ext cx="1654378" cy="29245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535888" y="5040527"/>
              <a:ext cx="1727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Expected O/P</a:t>
              </a:r>
              <a:endParaRPr lang="en-US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04390" y="4296865"/>
            <a:ext cx="1654381" cy="400110"/>
            <a:chOff x="6533964" y="5698637"/>
            <a:chExt cx="1654381" cy="400110"/>
          </a:xfrm>
        </p:grpSpPr>
        <p:sp>
          <p:nvSpPr>
            <p:cNvPr id="23" name="Rounded Rectangle 22"/>
            <p:cNvSpPr/>
            <p:nvPr/>
          </p:nvSpPr>
          <p:spPr bwMode="auto">
            <a:xfrm>
              <a:off x="6533964" y="5782195"/>
              <a:ext cx="1654381" cy="29245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59031" y="5698637"/>
              <a:ext cx="1612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Input</a:t>
              </a:r>
              <a:endParaRPr lang="en-US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98036" y="3989698"/>
            <a:ext cx="1654381" cy="400110"/>
            <a:chOff x="6533964" y="5698637"/>
            <a:chExt cx="1654381" cy="400110"/>
          </a:xfrm>
        </p:grpSpPr>
        <p:sp>
          <p:nvSpPr>
            <p:cNvPr id="27" name="Rounded Rectangle 26"/>
            <p:cNvSpPr/>
            <p:nvPr/>
          </p:nvSpPr>
          <p:spPr bwMode="auto">
            <a:xfrm>
              <a:off x="6533964" y="5782195"/>
              <a:ext cx="1654381" cy="29245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559031" y="5698637"/>
              <a:ext cx="1612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Prefix</a:t>
              </a:r>
              <a:endParaRPr lang="en-US" dirty="0"/>
            </a:p>
          </p:txBody>
        </p:sp>
      </p:grpSp>
      <p:sp>
        <p:nvSpPr>
          <p:cNvPr id="33" name="Vertical Scroll 32"/>
          <p:cNvSpPr/>
          <p:nvPr/>
        </p:nvSpPr>
        <p:spPr bwMode="auto">
          <a:xfrm>
            <a:off x="543104" y="3718319"/>
            <a:ext cx="2339531" cy="2122366"/>
          </a:xfrm>
          <a:prstGeom prst="verticalScroll">
            <a:avLst/>
          </a:prstGeom>
          <a:solidFill>
            <a:srgbClr val="7070FF">
              <a:alpha val="47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69237" y="3626406"/>
            <a:ext cx="1671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Test Case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6" name="Vertical Scroll 35"/>
          <p:cNvSpPr/>
          <p:nvPr/>
        </p:nvSpPr>
        <p:spPr bwMode="auto">
          <a:xfrm>
            <a:off x="4537011" y="3852012"/>
            <a:ext cx="1286740" cy="1236654"/>
          </a:xfrm>
          <a:prstGeom prst="verticalScroll">
            <a:avLst/>
          </a:prstGeom>
          <a:solidFill>
            <a:srgbClr val="7070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rgbClr val="FAFD00"/>
              </a:solidFill>
              <a:effectLst/>
              <a:latin typeface="Times New Roman" pitchFamily="18" charset="0"/>
            </a:endParaRPr>
          </a:p>
        </p:txBody>
      </p:sp>
      <p:sp>
        <p:nvSpPr>
          <p:cNvPr id="37" name="Vertical Scroll 36"/>
          <p:cNvSpPr/>
          <p:nvPr/>
        </p:nvSpPr>
        <p:spPr bwMode="auto">
          <a:xfrm>
            <a:off x="4689411" y="4004412"/>
            <a:ext cx="1286740" cy="1236654"/>
          </a:xfrm>
          <a:prstGeom prst="verticalScroll">
            <a:avLst/>
          </a:prstGeom>
          <a:solidFill>
            <a:srgbClr val="7070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rgbClr val="FAFD00"/>
              </a:solidFill>
              <a:effectLst/>
              <a:latin typeface="Times New Roman" pitchFamily="18" charset="0"/>
            </a:endParaRPr>
          </a:p>
        </p:txBody>
      </p:sp>
      <p:sp>
        <p:nvSpPr>
          <p:cNvPr id="38" name="Vertical Scroll 37"/>
          <p:cNvSpPr/>
          <p:nvPr/>
        </p:nvSpPr>
        <p:spPr bwMode="auto">
          <a:xfrm>
            <a:off x="4841811" y="4156812"/>
            <a:ext cx="1286740" cy="1236654"/>
          </a:xfrm>
          <a:prstGeom prst="verticalScroll">
            <a:avLst/>
          </a:prstGeom>
          <a:solidFill>
            <a:srgbClr val="7070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rgbClr val="FAFD00"/>
              </a:solidFill>
              <a:effectLst/>
              <a:latin typeface="Times New Roman" pitchFamily="18" charset="0"/>
            </a:endParaRPr>
          </a:p>
        </p:txBody>
      </p:sp>
      <p:sp>
        <p:nvSpPr>
          <p:cNvPr id="39" name="Vertical Scroll 38"/>
          <p:cNvSpPr/>
          <p:nvPr/>
        </p:nvSpPr>
        <p:spPr bwMode="auto">
          <a:xfrm>
            <a:off x="4994211" y="4309212"/>
            <a:ext cx="1286740" cy="1236654"/>
          </a:xfrm>
          <a:prstGeom prst="verticalScroll">
            <a:avLst/>
          </a:prstGeom>
          <a:solidFill>
            <a:srgbClr val="7070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rgbClr val="FAFD00"/>
              </a:solidFill>
              <a:effectLst/>
              <a:latin typeface="Times New Roman" pitchFamily="18" charset="0"/>
            </a:endParaRPr>
          </a:p>
        </p:txBody>
      </p:sp>
      <p:sp>
        <p:nvSpPr>
          <p:cNvPr id="40" name="Vertical Scroll 39"/>
          <p:cNvSpPr/>
          <p:nvPr/>
        </p:nvSpPr>
        <p:spPr bwMode="auto">
          <a:xfrm>
            <a:off x="5146611" y="4461612"/>
            <a:ext cx="1286740" cy="1236654"/>
          </a:xfrm>
          <a:prstGeom prst="verticalScroll">
            <a:avLst/>
          </a:prstGeom>
          <a:solidFill>
            <a:srgbClr val="7070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rgbClr val="FAFD00"/>
              </a:solidFill>
              <a:effectLst/>
              <a:latin typeface="Times New Roman" pitchFamily="18" charset="0"/>
            </a:endParaRPr>
          </a:p>
        </p:txBody>
      </p:sp>
      <p:sp>
        <p:nvSpPr>
          <p:cNvPr id="41" name="Vertical Scroll 40"/>
          <p:cNvSpPr/>
          <p:nvPr/>
        </p:nvSpPr>
        <p:spPr bwMode="auto">
          <a:xfrm>
            <a:off x="5299011" y="4614012"/>
            <a:ext cx="1286740" cy="1236654"/>
          </a:xfrm>
          <a:prstGeom prst="verticalScroll">
            <a:avLst/>
          </a:prstGeom>
          <a:solidFill>
            <a:srgbClr val="7070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rgbClr val="FAFD00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Vertical Scroll 41"/>
          <p:cNvSpPr/>
          <p:nvPr/>
        </p:nvSpPr>
        <p:spPr bwMode="auto">
          <a:xfrm>
            <a:off x="5451411" y="4766412"/>
            <a:ext cx="1286740" cy="1236654"/>
          </a:xfrm>
          <a:prstGeom prst="verticalScroll">
            <a:avLst/>
          </a:prstGeom>
          <a:solidFill>
            <a:srgbClr val="7070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rgbClr val="FAFD00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745897" y="5999445"/>
            <a:ext cx="2063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Test Set</a:t>
            </a:r>
            <a:endParaRPr lang="en-US" dirty="0"/>
          </a:p>
        </p:txBody>
      </p:sp>
      <p:sp>
        <p:nvSpPr>
          <p:cNvPr id="44" name="Left Arrow 43"/>
          <p:cNvSpPr/>
          <p:nvPr/>
        </p:nvSpPr>
        <p:spPr bwMode="auto">
          <a:xfrm rot="2889957">
            <a:off x="5635713" y="4015392"/>
            <a:ext cx="1696714" cy="442856"/>
          </a:xfrm>
          <a:prstGeom prst="lef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rgbClr val="FAFD00"/>
              </a:solidFill>
              <a:effectLst/>
              <a:latin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870184" y="4012767"/>
            <a:ext cx="18027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Executable Test Script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7476067" y="4995335"/>
            <a:ext cx="609600" cy="1168399"/>
            <a:chOff x="7476067" y="4995335"/>
            <a:chExt cx="609600" cy="1168399"/>
          </a:xfrm>
        </p:grpSpPr>
        <p:sp>
          <p:nvSpPr>
            <p:cNvPr id="48" name="Oval 47"/>
            <p:cNvSpPr/>
            <p:nvPr/>
          </p:nvSpPr>
          <p:spPr bwMode="auto">
            <a:xfrm>
              <a:off x="7611533" y="5037667"/>
              <a:ext cx="321734" cy="338667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50" name="Straight Connector 49"/>
            <p:cNvCxnSpPr>
              <a:stCxn id="48" idx="4"/>
            </p:cNvCxnSpPr>
            <p:nvPr/>
          </p:nvCxnSpPr>
          <p:spPr bwMode="auto">
            <a:xfrm>
              <a:off x="7772400" y="5376334"/>
              <a:ext cx="0" cy="44873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2" name="Straight Connector 51"/>
            <p:cNvCxnSpPr/>
            <p:nvPr/>
          </p:nvCxnSpPr>
          <p:spPr bwMode="auto">
            <a:xfrm flipH="1">
              <a:off x="7535333" y="5816601"/>
              <a:ext cx="228600" cy="34713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4" name="Straight Connector 53"/>
            <p:cNvCxnSpPr/>
            <p:nvPr/>
          </p:nvCxnSpPr>
          <p:spPr bwMode="auto">
            <a:xfrm>
              <a:off x="7780867" y="5833534"/>
              <a:ext cx="186266" cy="3302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6" name="Straight Connector 55"/>
            <p:cNvCxnSpPr/>
            <p:nvPr/>
          </p:nvCxnSpPr>
          <p:spPr bwMode="auto">
            <a:xfrm>
              <a:off x="7476067" y="5503334"/>
              <a:ext cx="609600" cy="846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60" name="TextBox 59"/>
            <p:cNvSpPr txBox="1"/>
            <p:nvPr/>
          </p:nvSpPr>
          <p:spPr>
            <a:xfrm>
              <a:off x="7620001" y="4995335"/>
              <a:ext cx="4487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?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6087392" y="1202267"/>
            <a:ext cx="2209941" cy="1947335"/>
            <a:chOff x="6087392" y="1202267"/>
            <a:chExt cx="2209941" cy="1947335"/>
          </a:xfrm>
        </p:grpSpPr>
        <p:cxnSp>
          <p:nvCxnSpPr>
            <p:cNvPr id="63" name="Straight Connector 62"/>
            <p:cNvCxnSpPr/>
            <p:nvPr/>
          </p:nvCxnSpPr>
          <p:spPr bwMode="auto">
            <a:xfrm>
              <a:off x="6223000" y="1270000"/>
              <a:ext cx="2074333" cy="1879602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5" name="Straight Connector 64"/>
            <p:cNvCxnSpPr>
              <a:endCxn id="8" idx="3"/>
            </p:cNvCxnSpPr>
            <p:nvPr/>
          </p:nvCxnSpPr>
          <p:spPr bwMode="auto">
            <a:xfrm flipH="1">
              <a:off x="6087392" y="1202267"/>
              <a:ext cx="2091408" cy="1881774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52331110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1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1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3" grpId="0" animBg="1"/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/>
      <p:bldP spid="44" grpId="0" animBg="1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Automation Framework</a:t>
            </a:r>
            <a:r>
              <a:rPr lang="en-US" sz="2800" dirty="0" smtClean="0"/>
              <a:t> (3.3)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906236" y="2062402"/>
            <a:ext cx="7339693" cy="1077218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A set of assumptions, concepts, and tools that support test automation</a:t>
            </a:r>
            <a:endParaRPr lang="en-US" altLang="zh-CN" sz="3200" b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04033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6234D50-F2C9-4B80-95EF-64B7C8DD65BF}" type="slidenum">
              <a:rPr lang="en-US" sz="900" b="0" smtClean="0">
                <a:solidFill>
                  <a:schemeClr val="tx1"/>
                </a:solidFill>
              </a:rPr>
              <a:pPr/>
              <a:t>10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11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JUnit?</a:t>
            </a:r>
          </a:p>
        </p:txBody>
      </p:sp>
      <p:sp>
        <p:nvSpPr>
          <p:cNvPr id="11270" name="Content Placeholder 2"/>
          <p:cNvSpPr>
            <a:spLocks noGrp="1"/>
          </p:cNvSpPr>
          <p:nvPr>
            <p:ph idx="1"/>
          </p:nvPr>
        </p:nvSpPr>
        <p:spPr>
          <a:xfrm>
            <a:off x="88900" y="898525"/>
            <a:ext cx="8966200" cy="5478463"/>
          </a:xfrm>
        </p:spPr>
        <p:txBody>
          <a:bodyPr/>
          <a:lstStyle/>
          <a:p>
            <a:r>
              <a:rPr lang="en-US" dirty="0" smtClean="0"/>
              <a:t>Open source Java testing framework used to write and run repeatable </a:t>
            </a:r>
            <a:r>
              <a:rPr lang="en-US" dirty="0" smtClean="0">
                <a:solidFill>
                  <a:schemeClr val="tx2"/>
                </a:solidFill>
              </a:rPr>
              <a:t>automated tests</a:t>
            </a:r>
            <a:endParaRPr lang="en-US" dirty="0" smtClean="0"/>
          </a:p>
          <a:p>
            <a:r>
              <a:rPr lang="en-US" dirty="0" err="1" smtClean="0"/>
              <a:t>JUnit</a:t>
            </a:r>
            <a:r>
              <a:rPr lang="en-US" dirty="0" smtClean="0"/>
              <a:t> is open source (</a:t>
            </a:r>
            <a:r>
              <a:rPr lang="en-US" dirty="0" smtClean="0">
                <a:solidFill>
                  <a:schemeClr val="tx2"/>
                </a:solidFill>
                <a:latin typeface="Arial" charset="0"/>
                <a:cs typeface="Arial" charset="0"/>
              </a:rPr>
              <a:t>junit.org</a:t>
            </a:r>
            <a:r>
              <a:rPr lang="en-US" dirty="0" smtClean="0"/>
              <a:t>)</a:t>
            </a:r>
          </a:p>
          <a:p>
            <a:r>
              <a:rPr lang="en-US" dirty="0" smtClean="0"/>
              <a:t>A structure for writing </a:t>
            </a:r>
            <a:r>
              <a:rPr lang="en-US" dirty="0" smtClean="0">
                <a:solidFill>
                  <a:schemeClr val="tx2"/>
                </a:solidFill>
              </a:rPr>
              <a:t>test drivers</a:t>
            </a:r>
            <a:endParaRPr lang="en-US" dirty="0" smtClean="0"/>
          </a:p>
          <a:p>
            <a:r>
              <a:rPr lang="en-US" dirty="0" err="1" smtClean="0"/>
              <a:t>JUnit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/>
                </a:solidFill>
              </a:rPr>
              <a:t>features</a:t>
            </a:r>
            <a:r>
              <a:rPr lang="en-US" dirty="0" smtClean="0"/>
              <a:t> include:</a:t>
            </a:r>
          </a:p>
          <a:p>
            <a:pPr marL="742950" lvl="1" indent="-285750"/>
            <a:r>
              <a:rPr lang="en-US" dirty="0" smtClean="0">
                <a:solidFill>
                  <a:schemeClr val="tx2"/>
                </a:solidFill>
              </a:rPr>
              <a:t>Assertions</a:t>
            </a:r>
            <a:r>
              <a:rPr lang="en-US" dirty="0" smtClean="0"/>
              <a:t> for testing expected results</a:t>
            </a:r>
          </a:p>
          <a:p>
            <a:pPr marL="742950" lvl="1" indent="-285750"/>
            <a:r>
              <a:rPr lang="en-US" dirty="0" smtClean="0"/>
              <a:t>Test features for sharing </a:t>
            </a:r>
            <a:r>
              <a:rPr lang="en-US" dirty="0" smtClean="0">
                <a:solidFill>
                  <a:schemeClr val="tx2"/>
                </a:solidFill>
              </a:rPr>
              <a:t>common test data</a:t>
            </a:r>
          </a:p>
          <a:p>
            <a:pPr marL="742950" lvl="1" indent="-285750"/>
            <a:r>
              <a:rPr lang="en-US" dirty="0" smtClean="0"/>
              <a:t>Test </a:t>
            </a:r>
            <a:r>
              <a:rPr lang="en-US" dirty="0" smtClean="0">
                <a:solidFill>
                  <a:schemeClr val="tx2"/>
                </a:solidFill>
              </a:rPr>
              <a:t>suites</a:t>
            </a:r>
            <a:r>
              <a:rPr lang="en-US" dirty="0" smtClean="0"/>
              <a:t> for easily organizing and running tests</a:t>
            </a:r>
          </a:p>
          <a:p>
            <a:pPr marL="742950" lvl="1" indent="-285750"/>
            <a:r>
              <a:rPr lang="en-US" dirty="0" smtClean="0"/>
              <a:t>Graphical and textual </a:t>
            </a:r>
            <a:r>
              <a:rPr lang="en-US" dirty="0" smtClean="0">
                <a:solidFill>
                  <a:schemeClr val="tx2"/>
                </a:solidFill>
              </a:rPr>
              <a:t>test runners</a:t>
            </a:r>
            <a:endParaRPr lang="en-US" dirty="0" smtClean="0"/>
          </a:p>
          <a:p>
            <a:r>
              <a:rPr lang="en-US" dirty="0" err="1" smtClean="0"/>
              <a:t>JUnit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chemeClr val="tx2"/>
                </a:solidFill>
              </a:rPr>
              <a:t>widely used</a:t>
            </a:r>
            <a:r>
              <a:rPr lang="en-US" dirty="0" smtClean="0"/>
              <a:t> in industry</a:t>
            </a:r>
          </a:p>
          <a:p>
            <a:r>
              <a:rPr lang="en-US" dirty="0" err="1" smtClean="0"/>
              <a:t>JUnit</a:t>
            </a:r>
            <a:r>
              <a:rPr lang="en-US" dirty="0" smtClean="0"/>
              <a:t> can be used as </a:t>
            </a:r>
            <a:r>
              <a:rPr lang="en-US" dirty="0" smtClean="0">
                <a:solidFill>
                  <a:schemeClr val="tx2"/>
                </a:solidFill>
              </a:rPr>
              <a:t>stand alone</a:t>
            </a:r>
            <a:r>
              <a:rPr lang="en-US" dirty="0" smtClean="0"/>
              <a:t> Java programs (from the command line) or </a:t>
            </a:r>
            <a:r>
              <a:rPr lang="en-US" dirty="0" smtClean="0">
                <a:solidFill>
                  <a:schemeClr val="tx2"/>
                </a:solidFill>
              </a:rPr>
              <a:t>within an IDE</a:t>
            </a:r>
            <a:r>
              <a:rPr lang="en-US" dirty="0" smtClean="0"/>
              <a:t> such as Eclipse</a:t>
            </a:r>
          </a:p>
        </p:txBody>
      </p:sp>
    </p:spTree>
    <p:extLst>
      <p:ext uri="{BB962C8B-B14F-4D97-AF65-F5344CB8AC3E}">
        <p14:creationId xmlns:p14="http://schemas.microsoft.com/office/powerpoint/2010/main" val="386091711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9709338-030A-4186-A66C-DB7F032762EE}" type="slidenum">
              <a:rPr lang="en-US" sz="900" b="0" smtClean="0">
                <a:solidFill>
                  <a:schemeClr val="tx1"/>
                </a:solidFill>
              </a:rPr>
              <a:pPr/>
              <a:t>11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122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JUnit Tests</a:t>
            </a:r>
          </a:p>
        </p:txBody>
      </p:sp>
      <p:sp>
        <p:nvSpPr>
          <p:cNvPr id="12294" name="Content Placeholder 2"/>
          <p:cNvSpPr>
            <a:spLocks noGrp="1"/>
          </p:cNvSpPr>
          <p:nvPr>
            <p:ph idx="1"/>
          </p:nvPr>
        </p:nvSpPr>
        <p:spPr>
          <a:xfrm>
            <a:off x="88900" y="898525"/>
            <a:ext cx="8966200" cy="5478463"/>
          </a:xfrm>
        </p:spPr>
        <p:txBody>
          <a:bodyPr/>
          <a:lstStyle/>
          <a:p>
            <a:r>
              <a:rPr lang="en-US" dirty="0" err="1" smtClean="0"/>
              <a:t>JUnit</a:t>
            </a:r>
            <a:r>
              <a:rPr lang="en-US" dirty="0" smtClean="0"/>
              <a:t> can be u</a:t>
            </a:r>
            <a:r>
              <a:rPr lang="tr-TR" dirty="0" smtClean="0"/>
              <a:t>sed </a:t>
            </a:r>
            <a:r>
              <a:rPr lang="tr-TR" dirty="0" smtClean="0">
                <a:solidFill>
                  <a:schemeClr val="tx2"/>
                </a:solidFill>
              </a:rPr>
              <a:t>to test</a:t>
            </a:r>
            <a:r>
              <a:rPr lang="en-US" dirty="0" smtClean="0"/>
              <a:t> …</a:t>
            </a:r>
            <a:endParaRPr lang="tr-TR" dirty="0" smtClean="0"/>
          </a:p>
          <a:p>
            <a:pPr marL="742950" lvl="1" indent="-285750">
              <a:lnSpc>
                <a:spcPct val="80000"/>
              </a:lnSpc>
            </a:pPr>
            <a:r>
              <a:rPr lang="en-US" dirty="0" smtClean="0"/>
              <a:t>… an entire </a:t>
            </a:r>
            <a:r>
              <a:rPr lang="tr-TR" dirty="0" smtClean="0"/>
              <a:t>object</a:t>
            </a:r>
          </a:p>
          <a:p>
            <a:pPr marL="742950" lvl="1" indent="-285750">
              <a:lnSpc>
                <a:spcPct val="80000"/>
              </a:lnSpc>
            </a:pPr>
            <a:r>
              <a:rPr lang="en-US" dirty="0" smtClean="0"/>
              <a:t>… p</a:t>
            </a:r>
            <a:r>
              <a:rPr lang="tr-TR" dirty="0" smtClean="0"/>
              <a:t>art of an object </a:t>
            </a:r>
            <a:r>
              <a:rPr lang="en-US" dirty="0" smtClean="0"/>
              <a:t>– </a:t>
            </a:r>
            <a:r>
              <a:rPr lang="tr-TR" dirty="0" smtClean="0"/>
              <a:t>a method or some interacting methods</a:t>
            </a:r>
          </a:p>
          <a:p>
            <a:pPr marL="742950" lvl="1" indent="-285750">
              <a:lnSpc>
                <a:spcPct val="80000"/>
              </a:lnSpc>
            </a:pPr>
            <a:r>
              <a:rPr lang="en-US" dirty="0" smtClean="0"/>
              <a:t>… </a:t>
            </a:r>
            <a:r>
              <a:rPr lang="en-US" dirty="0" err="1" smtClean="0"/>
              <a:t>i</a:t>
            </a:r>
            <a:r>
              <a:rPr lang="tr-TR" dirty="0" smtClean="0"/>
              <a:t>nteraction between several objects</a:t>
            </a:r>
          </a:p>
          <a:p>
            <a:r>
              <a:rPr lang="en-US" dirty="0" smtClean="0"/>
              <a:t>It is primarily intended for </a:t>
            </a:r>
            <a:r>
              <a:rPr lang="en-US" dirty="0" smtClean="0">
                <a:solidFill>
                  <a:srgbClr val="FF0000"/>
                </a:solidFill>
              </a:rPr>
              <a:t>unit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integration</a:t>
            </a:r>
            <a:r>
              <a:rPr lang="en-US" dirty="0" smtClean="0"/>
              <a:t> testing, not system testing</a:t>
            </a:r>
          </a:p>
          <a:p>
            <a:r>
              <a:rPr lang="en-US" dirty="0" smtClean="0"/>
              <a:t>Each test is embedded into </a:t>
            </a:r>
            <a:r>
              <a:rPr lang="en-US" dirty="0" smtClean="0">
                <a:solidFill>
                  <a:srgbClr val="FF0000"/>
                </a:solidFill>
              </a:rPr>
              <a:t>one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/>
                </a:solidFill>
              </a:rPr>
              <a:t>test method</a:t>
            </a:r>
          </a:p>
          <a:p>
            <a:r>
              <a:rPr lang="tr-TR" dirty="0" smtClean="0"/>
              <a:t>A </a:t>
            </a:r>
            <a:r>
              <a:rPr lang="tr-TR" dirty="0" smtClean="0">
                <a:solidFill>
                  <a:schemeClr val="tx2"/>
                </a:solidFill>
              </a:rPr>
              <a:t>test class</a:t>
            </a:r>
            <a:r>
              <a:rPr lang="tr-TR" dirty="0" smtClean="0"/>
              <a:t> contains </a:t>
            </a:r>
            <a:r>
              <a:rPr lang="en-US" dirty="0" smtClean="0"/>
              <a:t>one or </a:t>
            </a:r>
            <a:r>
              <a:rPr lang="tr-TR" dirty="0" smtClean="0"/>
              <a:t>more </a:t>
            </a:r>
            <a:r>
              <a:rPr lang="en-US" dirty="0" smtClean="0"/>
              <a:t>test </a:t>
            </a:r>
            <a:r>
              <a:rPr lang="en-US" dirty="0" smtClean="0"/>
              <a:t>methods (</a:t>
            </a:r>
            <a:r>
              <a:rPr lang="en-US" dirty="0" smtClean="0">
                <a:sym typeface="Wingdings"/>
              </a:rPr>
              <a:t> cases)</a:t>
            </a:r>
            <a:endParaRPr lang="en-US" dirty="0" smtClean="0">
              <a:solidFill>
                <a:schemeClr val="tx2"/>
              </a:solidFill>
            </a:endParaRPr>
          </a:p>
          <a:p>
            <a:pPr>
              <a:lnSpc>
                <a:spcPct val="70000"/>
              </a:lnSpc>
            </a:pPr>
            <a:r>
              <a:rPr lang="en-US" dirty="0" smtClean="0"/>
              <a:t>Test classes </a:t>
            </a:r>
            <a:r>
              <a:rPr lang="en-US" dirty="0" smtClean="0">
                <a:solidFill>
                  <a:schemeClr val="tx2"/>
                </a:solidFill>
              </a:rPr>
              <a:t>include</a:t>
            </a:r>
            <a:r>
              <a:rPr lang="en-US" dirty="0" smtClean="0"/>
              <a:t> :</a:t>
            </a:r>
          </a:p>
          <a:p>
            <a:pPr marL="742950" lvl="1" indent="-285750">
              <a:lnSpc>
                <a:spcPct val="70000"/>
              </a:lnSpc>
            </a:pPr>
            <a:r>
              <a:rPr lang="en-US" dirty="0" smtClean="0"/>
              <a:t>A collection of </a:t>
            </a:r>
            <a:r>
              <a:rPr lang="en-US" dirty="0" smtClean="0">
                <a:solidFill>
                  <a:schemeClr val="tx2"/>
                </a:solidFill>
              </a:rPr>
              <a:t>test methods</a:t>
            </a:r>
          </a:p>
          <a:p>
            <a:pPr marL="742950" lvl="1" indent="-285750">
              <a:lnSpc>
                <a:spcPct val="70000"/>
              </a:lnSpc>
            </a:pPr>
            <a:r>
              <a:rPr lang="en-US" dirty="0" smtClean="0"/>
              <a:t>Methods to </a:t>
            </a:r>
            <a:r>
              <a:rPr lang="en-US" dirty="0" smtClean="0">
                <a:solidFill>
                  <a:schemeClr val="tx2"/>
                </a:solidFill>
              </a:rPr>
              <a:t>set up</a:t>
            </a:r>
            <a:r>
              <a:rPr lang="en-US" dirty="0" smtClean="0"/>
              <a:t> the state before and </a:t>
            </a:r>
            <a:r>
              <a:rPr lang="en-US" dirty="0" smtClean="0">
                <a:solidFill>
                  <a:schemeClr val="tx2"/>
                </a:solidFill>
              </a:rPr>
              <a:t>update</a:t>
            </a:r>
            <a:r>
              <a:rPr lang="en-US" dirty="0" smtClean="0"/>
              <a:t> the state after each test and before and after all tests</a:t>
            </a:r>
          </a:p>
          <a:p>
            <a:r>
              <a:rPr lang="en-US" dirty="0" smtClean="0"/>
              <a:t>Get started at </a:t>
            </a:r>
            <a:r>
              <a:rPr lang="en-US" dirty="0" smtClean="0">
                <a:solidFill>
                  <a:schemeClr val="tx2"/>
                </a:solidFill>
              </a:rPr>
              <a:t>junit.org</a:t>
            </a:r>
          </a:p>
        </p:txBody>
      </p:sp>
    </p:spTree>
    <p:extLst>
      <p:ext uri="{BB962C8B-B14F-4D97-AF65-F5344CB8AC3E}">
        <p14:creationId xmlns:p14="http://schemas.microsoft.com/office/powerpoint/2010/main" val="229848131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9ACC902-BAEF-4245-AD03-4F1A3B81C5C1}" type="slidenum">
              <a:rPr lang="en-US" sz="900" b="0" smtClean="0">
                <a:solidFill>
                  <a:schemeClr val="tx1"/>
                </a:solidFill>
              </a:rPr>
              <a:pPr/>
              <a:t>12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133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Writing Tests for JUnit</a:t>
            </a:r>
          </a:p>
        </p:txBody>
      </p:sp>
      <p:sp>
        <p:nvSpPr>
          <p:cNvPr id="13318" name="Content Placeholder 2"/>
          <p:cNvSpPr>
            <a:spLocks noGrp="1"/>
          </p:cNvSpPr>
          <p:nvPr>
            <p:ph idx="1"/>
          </p:nvPr>
        </p:nvSpPr>
        <p:spPr>
          <a:xfrm>
            <a:off x="88900" y="898525"/>
            <a:ext cx="8966200" cy="5478463"/>
          </a:xfrm>
        </p:spPr>
        <p:txBody>
          <a:bodyPr/>
          <a:lstStyle/>
          <a:p>
            <a:r>
              <a:rPr lang="en-US" dirty="0" smtClean="0"/>
              <a:t>Need to use the methods of the </a:t>
            </a:r>
            <a:r>
              <a:rPr lang="en-US" dirty="0" err="1" smtClean="0">
                <a:solidFill>
                  <a:schemeClr val="tx2"/>
                </a:solidFill>
              </a:rPr>
              <a:t>junit.framework.assert</a:t>
            </a:r>
            <a:r>
              <a:rPr lang="en-US" dirty="0" smtClean="0"/>
              <a:t> class</a:t>
            </a:r>
          </a:p>
          <a:p>
            <a:pPr lvl="1"/>
            <a:r>
              <a:rPr lang="en-US" dirty="0" err="1" smtClean="0"/>
              <a:t>javadoc</a:t>
            </a:r>
            <a:r>
              <a:rPr lang="en-US" dirty="0" smtClean="0"/>
              <a:t> gives a complete description of its capabilities</a:t>
            </a:r>
          </a:p>
          <a:p>
            <a:r>
              <a:rPr lang="en-US" dirty="0" smtClean="0"/>
              <a:t>Each test method checks a condition (</a:t>
            </a:r>
            <a:r>
              <a:rPr lang="en-US" dirty="0" smtClean="0">
                <a:solidFill>
                  <a:schemeClr val="tx2"/>
                </a:solidFill>
              </a:rPr>
              <a:t>assertion</a:t>
            </a:r>
            <a:r>
              <a:rPr lang="en-US" dirty="0" smtClean="0"/>
              <a:t>) and reports to the test </a:t>
            </a:r>
            <a:r>
              <a:rPr lang="en-US" dirty="0" smtClean="0">
                <a:solidFill>
                  <a:srgbClr val="FFFF00"/>
                </a:solidFill>
              </a:rPr>
              <a:t>runner</a:t>
            </a:r>
            <a:r>
              <a:rPr lang="en-US" dirty="0" smtClean="0"/>
              <a:t> whether the test failed or succeeded</a:t>
            </a:r>
          </a:p>
          <a:p>
            <a:r>
              <a:rPr lang="en-US" dirty="0" smtClean="0"/>
              <a:t>The test runner uses the result to </a:t>
            </a:r>
            <a:r>
              <a:rPr lang="en-US" dirty="0" smtClean="0">
                <a:solidFill>
                  <a:schemeClr val="tx2"/>
                </a:solidFill>
              </a:rPr>
              <a:t>report </a:t>
            </a:r>
            <a:r>
              <a:rPr lang="en-US" dirty="0" smtClean="0"/>
              <a:t>to the user (in command line mode) or update the display (in an IDE)</a:t>
            </a:r>
          </a:p>
          <a:p>
            <a:r>
              <a:rPr lang="en-US" dirty="0" smtClean="0"/>
              <a:t>All of the methods </a:t>
            </a:r>
            <a:r>
              <a:rPr lang="en-US" dirty="0" smtClean="0">
                <a:solidFill>
                  <a:schemeClr val="tx2"/>
                </a:solidFill>
              </a:rPr>
              <a:t>return void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A few representative methods of </a:t>
            </a:r>
            <a:r>
              <a:rPr lang="en-US" dirty="0" err="1" smtClean="0">
                <a:solidFill>
                  <a:schemeClr val="tx2"/>
                </a:solidFill>
              </a:rPr>
              <a:t>junit.framework.assert</a:t>
            </a:r>
            <a:r>
              <a:rPr lang="en-US" dirty="0" smtClean="0"/>
              <a:t> </a:t>
            </a:r>
          </a:p>
          <a:p>
            <a:pPr lvl="1">
              <a:spcBef>
                <a:spcPts val="600"/>
              </a:spcBef>
            </a:pPr>
            <a:r>
              <a:rPr lang="en-US" i="1" dirty="0" err="1" smtClean="0"/>
              <a:t>assertTrue</a:t>
            </a:r>
            <a:r>
              <a:rPr lang="en-US" i="1" dirty="0" smtClean="0"/>
              <a:t> (</a:t>
            </a:r>
            <a:r>
              <a:rPr lang="en-US" i="1" dirty="0" err="1" smtClean="0"/>
              <a:t>boolean</a:t>
            </a:r>
            <a:r>
              <a:rPr lang="en-US" i="1" dirty="0" smtClean="0"/>
              <a:t>)</a:t>
            </a:r>
          </a:p>
          <a:p>
            <a:pPr lvl="1">
              <a:spcBef>
                <a:spcPts val="600"/>
              </a:spcBef>
            </a:pPr>
            <a:r>
              <a:rPr lang="en-US" i="1" dirty="0" err="1" smtClean="0"/>
              <a:t>assertTrue</a:t>
            </a:r>
            <a:r>
              <a:rPr lang="en-US" i="1" dirty="0" smtClean="0"/>
              <a:t> (String, </a:t>
            </a:r>
            <a:r>
              <a:rPr lang="en-US" i="1" dirty="0" err="1" smtClean="0"/>
              <a:t>boolean</a:t>
            </a:r>
            <a:r>
              <a:rPr lang="en-US" i="1" dirty="0" smtClean="0"/>
              <a:t>)</a:t>
            </a:r>
          </a:p>
          <a:p>
            <a:pPr lvl="1">
              <a:spcBef>
                <a:spcPts val="600"/>
              </a:spcBef>
            </a:pPr>
            <a:r>
              <a:rPr lang="en-US" i="1" dirty="0" smtClean="0">
                <a:solidFill>
                  <a:srgbClr val="FF0000"/>
                </a:solidFill>
              </a:rPr>
              <a:t>fail (String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407715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1009E22-5E3F-4558-B753-74EFB237A67A}" type="slidenum">
              <a:rPr lang="en-US" sz="900" b="0" smtClean="0">
                <a:solidFill>
                  <a:schemeClr val="tx1"/>
                </a:solidFill>
              </a:rPr>
              <a:pPr/>
              <a:t>13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JUnit Test Fixtures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" y="968375"/>
            <a:ext cx="8966200" cy="5408613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chemeClr val="tx2"/>
                </a:solidFill>
              </a:rPr>
              <a:t>test fixture</a:t>
            </a:r>
            <a:r>
              <a:rPr lang="en-US" dirty="0" smtClean="0"/>
              <a:t> is the </a:t>
            </a:r>
            <a:r>
              <a:rPr lang="en-US" u="sng" dirty="0" smtClean="0">
                <a:solidFill>
                  <a:schemeClr val="tx2"/>
                </a:solidFill>
              </a:rPr>
              <a:t>state</a:t>
            </a:r>
            <a:r>
              <a:rPr lang="en-US" dirty="0" smtClean="0"/>
              <a:t> </a:t>
            </a:r>
            <a:r>
              <a:rPr lang="en-US" u="sng" dirty="0" smtClean="0">
                <a:solidFill>
                  <a:schemeClr val="tx2"/>
                </a:solidFill>
              </a:rPr>
              <a:t>(setup)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smtClean="0"/>
              <a:t>of </a:t>
            </a:r>
            <a:r>
              <a:rPr lang="en-US" dirty="0" smtClean="0"/>
              <a:t>the test</a:t>
            </a:r>
          </a:p>
          <a:p>
            <a:pPr lvl="1"/>
            <a:r>
              <a:rPr lang="en-US" dirty="0" smtClean="0"/>
              <a:t>Objects and variables that are used by more than one test</a:t>
            </a:r>
          </a:p>
          <a:p>
            <a:pPr lvl="1"/>
            <a:r>
              <a:rPr lang="en-US" dirty="0" smtClean="0"/>
              <a:t>Initializations (</a:t>
            </a:r>
            <a:r>
              <a:rPr lang="en-US" i="1" dirty="0" smtClean="0"/>
              <a:t>prefix</a:t>
            </a:r>
            <a:r>
              <a:rPr lang="en-US" dirty="0" smtClean="0"/>
              <a:t> values)</a:t>
            </a:r>
          </a:p>
          <a:p>
            <a:pPr lvl="1"/>
            <a:r>
              <a:rPr lang="en-US" dirty="0" smtClean="0"/>
              <a:t>Reset values (</a:t>
            </a:r>
            <a:r>
              <a:rPr lang="en-US" i="1" dirty="0" smtClean="0"/>
              <a:t>postfix</a:t>
            </a:r>
            <a:r>
              <a:rPr lang="en-US" dirty="0" smtClean="0"/>
              <a:t> values)</a:t>
            </a:r>
          </a:p>
          <a:p>
            <a:r>
              <a:rPr lang="en-US" dirty="0" smtClean="0"/>
              <a:t>Different tests can </a:t>
            </a:r>
            <a:r>
              <a:rPr lang="en-US" dirty="0" smtClean="0">
                <a:solidFill>
                  <a:schemeClr val="tx2"/>
                </a:solidFill>
              </a:rPr>
              <a:t>use</a:t>
            </a:r>
            <a:r>
              <a:rPr lang="en-US" dirty="0" smtClean="0"/>
              <a:t> the objects without sharing the </a:t>
            </a:r>
            <a:r>
              <a:rPr lang="en-US" dirty="0" smtClean="0"/>
              <a:t>state (or </a:t>
            </a:r>
            <a:r>
              <a:rPr lang="en-US" dirty="0" smtClean="0">
                <a:solidFill>
                  <a:srgbClr val="FF0000"/>
                </a:solidFill>
              </a:rPr>
              <a:t>WITH</a:t>
            </a:r>
            <a:r>
              <a:rPr lang="en-US" dirty="0" smtClean="0"/>
              <a:t> sharing if desired)</a:t>
            </a:r>
            <a:endParaRPr lang="en-US" dirty="0" smtClean="0"/>
          </a:p>
          <a:p>
            <a:r>
              <a:rPr lang="en-US" dirty="0" smtClean="0"/>
              <a:t>Objects used in test fixtures should be declared as </a:t>
            </a:r>
            <a:r>
              <a:rPr lang="en-US" dirty="0" smtClean="0">
                <a:solidFill>
                  <a:schemeClr val="tx2"/>
                </a:solidFill>
              </a:rPr>
              <a:t>instance variables</a:t>
            </a:r>
          </a:p>
          <a:p>
            <a:r>
              <a:rPr lang="en-US" dirty="0" smtClean="0"/>
              <a:t>They should be initialized in a </a:t>
            </a:r>
            <a:r>
              <a:rPr lang="en-US" dirty="0" smtClean="0">
                <a:solidFill>
                  <a:schemeClr val="tx2"/>
                </a:solidFill>
              </a:rPr>
              <a:t>@Before</a:t>
            </a:r>
            <a:r>
              <a:rPr lang="en-US" dirty="0" smtClean="0"/>
              <a:t> method</a:t>
            </a:r>
          </a:p>
          <a:p>
            <a:r>
              <a:rPr lang="en-US" dirty="0" smtClean="0"/>
              <a:t>Can be </a:t>
            </a:r>
            <a:r>
              <a:rPr lang="en-US" dirty="0" err="1" smtClean="0"/>
              <a:t>deallocated</a:t>
            </a:r>
            <a:r>
              <a:rPr lang="en-US" dirty="0" smtClean="0"/>
              <a:t> or reset in an </a:t>
            </a:r>
            <a:r>
              <a:rPr lang="en-US" dirty="0" smtClean="0">
                <a:solidFill>
                  <a:schemeClr val="tx2"/>
                </a:solidFill>
              </a:rPr>
              <a:t>@After</a:t>
            </a:r>
            <a:r>
              <a:rPr lang="en-US" dirty="0" smtClean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70379637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AF89207-6858-41FB-9EF0-7E0AAC8FCFC6}" type="slidenum">
              <a:rPr lang="en-US" sz="900" b="0" smtClean="0">
                <a:solidFill>
                  <a:schemeClr val="tx1"/>
                </a:solidFill>
              </a:rPr>
              <a:pPr/>
              <a:t>14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174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</a:t>
            </a:r>
            <a:r>
              <a:rPr lang="en-US" dirty="0" err="1" smtClean="0"/>
              <a:t>JUnit</a:t>
            </a:r>
            <a:r>
              <a:rPr lang="en-US" dirty="0" smtClean="0"/>
              <a:t> Example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0638" y="817563"/>
            <a:ext cx="4682692" cy="2677656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class Calc</a:t>
            </a: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static public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add (</a:t>
            </a:r>
            <a:r>
              <a:rPr lang="en-US" sz="24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a, </a:t>
            </a:r>
            <a:r>
              <a:rPr lang="en-US" sz="24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b)</a:t>
            </a: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{</a:t>
            </a: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return a + b;</a:t>
            </a: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}</a:t>
            </a: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260651" y="2458707"/>
            <a:ext cx="5363969" cy="4154984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org.junit.Test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  <a:endParaRPr lang="en-US" sz="24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static </a:t>
            </a:r>
            <a:r>
              <a:rPr lang="en-US" sz="24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org.junit.Assert</a:t>
            </a: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.*; </a:t>
            </a:r>
            <a:endParaRPr lang="en-US" sz="24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lang="en-US" sz="24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class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CalcTest</a:t>
            </a:r>
            <a:endParaRPr lang="en-US" sz="24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  <a:endParaRPr lang="en-US" sz="24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@Test public void </a:t>
            </a:r>
            <a:r>
              <a:rPr lang="en-US" sz="24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testAdd</a:t>
            </a: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</a:t>
            </a: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  <a:endParaRPr lang="en-US" sz="24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assertTrue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(“Calc sum incorrect”, </a:t>
            </a:r>
          </a:p>
          <a:p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  5 ==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Calc.add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(2, 3));</a:t>
            </a: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}</a:t>
            </a:r>
          </a:p>
          <a:p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7282203" y="1040860"/>
            <a:ext cx="1342417" cy="749030"/>
          </a:xfrm>
          <a:prstGeom prst="ellipse">
            <a:avLst/>
          </a:prstGeom>
          <a:solidFill>
            <a:srgbClr val="336600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Test values</a:t>
            </a:r>
          </a:p>
        </p:txBody>
      </p:sp>
      <p:cxnSp>
        <p:nvCxnSpPr>
          <p:cNvPr id="4" name="Straight Arrow Connector 3"/>
          <p:cNvCxnSpPr>
            <a:stCxn id="2" idx="4"/>
          </p:cNvCxnSpPr>
          <p:nvPr/>
        </p:nvCxnSpPr>
        <p:spPr bwMode="auto">
          <a:xfrm flipH="1">
            <a:off x="6828817" y="1789890"/>
            <a:ext cx="1124595" cy="366732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1" name="Oval 10"/>
          <p:cNvSpPr/>
          <p:nvPr/>
        </p:nvSpPr>
        <p:spPr bwMode="auto">
          <a:xfrm>
            <a:off x="243191" y="5262664"/>
            <a:ext cx="1887166" cy="823609"/>
          </a:xfrm>
          <a:prstGeom prst="ellipse">
            <a:avLst/>
          </a:prstGeom>
          <a:solidFill>
            <a:srgbClr val="336600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Expected output</a:t>
            </a:r>
          </a:p>
        </p:txBody>
      </p:sp>
      <p:cxnSp>
        <p:nvCxnSpPr>
          <p:cNvPr id="12" name="Straight Arrow Connector 11"/>
          <p:cNvCxnSpPr>
            <a:stCxn id="11" idx="6"/>
          </p:cNvCxnSpPr>
          <p:nvPr/>
        </p:nvCxnSpPr>
        <p:spPr bwMode="auto">
          <a:xfrm flipV="1">
            <a:off x="2130357" y="5603132"/>
            <a:ext cx="2169269" cy="7133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7" name="Oval 16"/>
          <p:cNvSpPr/>
          <p:nvPr/>
        </p:nvSpPr>
        <p:spPr bwMode="auto">
          <a:xfrm>
            <a:off x="171855" y="3848911"/>
            <a:ext cx="2075234" cy="823609"/>
          </a:xfrm>
          <a:prstGeom prst="ellipse">
            <a:avLst/>
          </a:prstGeom>
          <a:solidFill>
            <a:srgbClr val="336600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Printed if assert fails</a:t>
            </a:r>
          </a:p>
        </p:txBody>
      </p:sp>
      <p:cxnSp>
        <p:nvCxnSpPr>
          <p:cNvPr id="18" name="Straight Arrow Connector 17"/>
          <p:cNvCxnSpPr>
            <a:stCxn id="17" idx="6"/>
          </p:cNvCxnSpPr>
          <p:nvPr/>
        </p:nvCxnSpPr>
        <p:spPr bwMode="auto">
          <a:xfrm>
            <a:off x="2247089" y="4260716"/>
            <a:ext cx="3385226" cy="8365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" name="TextBox 2"/>
          <p:cNvSpPr txBox="1"/>
          <p:nvPr/>
        </p:nvSpPr>
        <p:spPr>
          <a:xfrm>
            <a:off x="5581915" y="682620"/>
            <a:ext cx="1911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1" dirty="0" smtClean="0">
                <a:latin typeface="Gill Sans MT" panose="020B0502020104020203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Note: JUnit 4 syntax</a:t>
            </a:r>
            <a:endParaRPr lang="en-US" sz="1800" b="0" i="1" dirty="0">
              <a:latin typeface="Gill Sans MT" panose="020B0502020104020203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52877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" grpId="0" animBg="1"/>
      <p:bldP spid="11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2187599-6790-49A5-A98D-A5149EC78A1B}" type="slidenum">
              <a:rPr lang="en-US" sz="900" b="0" smtClean="0">
                <a:solidFill>
                  <a:schemeClr val="tx1"/>
                </a:solidFill>
              </a:rPr>
              <a:pPr/>
              <a:t>15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184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the</a:t>
            </a:r>
            <a:r>
              <a:rPr lang="tr-TR" dirty="0" smtClean="0"/>
              <a:t> </a:t>
            </a:r>
            <a:r>
              <a:rPr lang="en-US" dirty="0" smtClean="0"/>
              <a:t>Min</a:t>
            </a:r>
            <a:r>
              <a:rPr lang="tr-TR" dirty="0" smtClean="0"/>
              <a:t> </a:t>
            </a:r>
            <a:r>
              <a:rPr lang="en-US" dirty="0" smtClean="0"/>
              <a:t>C</a:t>
            </a:r>
            <a:r>
              <a:rPr lang="tr-TR" dirty="0" smtClean="0"/>
              <a:t>lass</a:t>
            </a:r>
            <a:endParaRPr lang="en-US" dirty="0" smtClean="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06477" y="870514"/>
            <a:ext cx="8121445" cy="4247317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java.util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.*;</a:t>
            </a:r>
          </a:p>
          <a:p>
            <a:endParaRPr lang="en-US" sz="18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class Min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/**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* Returns the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mininum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element in a list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* @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param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list Comparable list of elements to search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* @return the minimum element in the list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* @throws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NullPointerException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if list is null or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*         if any list elements are null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* @throws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ClassCastException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if list elements are not mutually comparable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* @throws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IllegalArgumentException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if list is empty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*/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…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  <a:endParaRPr lang="en-US" sz="18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50607" y="874680"/>
            <a:ext cx="8367252" cy="5632311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static &lt;T extends Comparable&lt;? super T&gt;&gt; T min (List&lt;? extends T&gt; list)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{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if (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list.size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 == 0)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{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throw new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IllegalArgumentException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("Min.min");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}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Iterator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&lt;? extends T&gt;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itr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=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list.iterator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T result =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itr.next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();</a:t>
            </a:r>
          </a:p>
          <a:p>
            <a:endParaRPr lang="en-US" sz="18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if (result == null) throw new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NullPointerException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("Min.min");</a:t>
            </a:r>
          </a:p>
          <a:p>
            <a:endParaRPr lang="en-US" sz="18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while (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itr.hasNext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())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{   // throws NPE, CCE as needed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T comp =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itr.next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if (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comp.compareTo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(result) &lt; 0)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{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    result = comp;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}   }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return result;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83556327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</a:t>
            </a:r>
            <a:r>
              <a:rPr lang="tr-TR" dirty="0" smtClean="0"/>
              <a:t>Test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40" y="829994"/>
            <a:ext cx="3835985" cy="1083212"/>
          </a:xfrm>
        </p:spPr>
        <p:txBody>
          <a:bodyPr/>
          <a:lstStyle/>
          <a:p>
            <a:r>
              <a:rPr lang="en-US" dirty="0" smtClean="0"/>
              <a:t>Standard imports for all </a:t>
            </a:r>
            <a:r>
              <a:rPr lang="en-US" dirty="0" err="1" smtClean="0"/>
              <a:t>JUnit</a:t>
            </a:r>
            <a:r>
              <a:rPr lang="en-US" dirty="0" smtClean="0"/>
              <a:t> classes :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868503" y="844550"/>
            <a:ext cx="5091145" cy="923330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static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org.junit.Assert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.*;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.*;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java.util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.*;</a:t>
            </a:r>
            <a:endParaRPr lang="en-US" sz="18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70140" y="2107809"/>
            <a:ext cx="3835985" cy="108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75000"/>
              <a:buFont typeface="Monotype Sorts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itchFamily="34" charset="0"/>
                <a:ea typeface="+mn-ea"/>
                <a:cs typeface="+mn-cs"/>
              </a:rPr>
              <a:t>Test fixture and pre-test setup method (prefix) :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pitchFamily="34" charset="0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70140" y="4679851"/>
            <a:ext cx="3835985" cy="108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75000"/>
              <a:buFont typeface="Monotype Sorts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itchFamily="34" charset="0"/>
                <a:ea typeface="+mn-ea"/>
                <a:cs typeface="+mn-cs"/>
              </a:rPr>
              <a:t>Post test teardown method (postfix) :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pitchFamily="34" charset="0"/>
              <a:ea typeface="+mn-ea"/>
              <a:cs typeface="+mn-cs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858878" y="2094564"/>
            <a:ext cx="5100771" cy="2308324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private List&lt;String&gt; list;   // Test fixture</a:t>
            </a:r>
          </a:p>
          <a:p>
            <a:endParaRPr lang="en-US" sz="18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// Set up - Called before every test method.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@Before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public void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setUp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 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{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list = new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ArrayList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&lt;String&gt;();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}</a:t>
            </a:r>
            <a:endParaRPr lang="en-US" sz="18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3868503" y="4683125"/>
            <a:ext cx="5052644" cy="1754326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// Tear down - Called after every test method.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@After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void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tearDown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 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     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list = null;   // redundant in this example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  <a:endParaRPr lang="en-US" sz="18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AA58007-99AA-4F16-9F66-446E0F5B9383}" type="slidenum">
              <a:rPr lang="en-US" sz="900" b="0" smtClean="0">
                <a:solidFill>
                  <a:schemeClr val="tx1"/>
                </a:solidFill>
              </a:rPr>
              <a:pPr/>
              <a:t>17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Min </a:t>
            </a:r>
            <a:r>
              <a:rPr lang="tr-TR" sz="3200" dirty="0" smtClean="0"/>
              <a:t>Test</a:t>
            </a:r>
            <a:r>
              <a:rPr lang="en-US" sz="3200" dirty="0" smtClean="0"/>
              <a:t> </a:t>
            </a:r>
            <a:r>
              <a:rPr lang="tr-TR" sz="3200" dirty="0" smtClean="0"/>
              <a:t>Case</a:t>
            </a:r>
            <a:r>
              <a:rPr lang="en-US" sz="3200" dirty="0" smtClean="0"/>
              <a:t>s: </a:t>
            </a:r>
            <a:r>
              <a:rPr lang="en-US" sz="3200" dirty="0" err="1" smtClean="0"/>
              <a:t>NullPointerException</a:t>
            </a:r>
            <a:endParaRPr lang="en-US" sz="3200" dirty="0" smtClean="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54005" y="916289"/>
            <a:ext cx="4759325" cy="2862322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 smtClean="0">
                <a:latin typeface="Arial Unicode MS" pitchFamily="34" charset="-128"/>
              </a:rPr>
              <a:t>@Test public void </a:t>
            </a:r>
            <a:r>
              <a:rPr lang="en-US" sz="1800" dirty="0" err="1" smtClean="0">
                <a:latin typeface="Arial Unicode MS" pitchFamily="34" charset="-128"/>
              </a:rPr>
              <a:t>testForNullList</a:t>
            </a:r>
            <a:r>
              <a:rPr lang="en-US" sz="1800" dirty="0" smtClean="0">
                <a:latin typeface="Arial Unicode MS" pitchFamily="34" charset="-128"/>
              </a:rPr>
              <a:t>()</a:t>
            </a:r>
          </a:p>
          <a:p>
            <a:r>
              <a:rPr lang="en-US" sz="1800" dirty="0" smtClean="0">
                <a:latin typeface="Arial Unicode MS" pitchFamily="34" charset="-128"/>
              </a:rPr>
              <a:t>{</a:t>
            </a:r>
          </a:p>
          <a:p>
            <a:r>
              <a:rPr lang="en-US" sz="1800" dirty="0" smtClean="0">
                <a:latin typeface="Arial Unicode MS" pitchFamily="34" charset="-128"/>
              </a:rPr>
              <a:t>   list = null;</a:t>
            </a:r>
          </a:p>
          <a:p>
            <a:r>
              <a:rPr lang="en-US" sz="1800" dirty="0" smtClean="0">
                <a:latin typeface="Arial Unicode MS" pitchFamily="34" charset="-128"/>
              </a:rPr>
              <a:t>   try {</a:t>
            </a:r>
          </a:p>
          <a:p>
            <a:r>
              <a:rPr lang="en-US" sz="1800" dirty="0" smtClean="0">
                <a:latin typeface="Arial Unicode MS" pitchFamily="34" charset="-128"/>
              </a:rPr>
              <a:t>       </a:t>
            </a:r>
            <a:r>
              <a:rPr lang="en-US" sz="1800" dirty="0" err="1" smtClean="0">
                <a:latin typeface="Arial Unicode MS" pitchFamily="34" charset="-128"/>
              </a:rPr>
              <a:t>Min.min</a:t>
            </a:r>
            <a:r>
              <a:rPr lang="en-US" sz="1800" dirty="0" smtClean="0">
                <a:latin typeface="Arial Unicode MS" pitchFamily="34" charset="-128"/>
              </a:rPr>
              <a:t> (list);</a:t>
            </a:r>
          </a:p>
          <a:p>
            <a:r>
              <a:rPr lang="en-US" sz="1800" dirty="0" smtClean="0">
                <a:latin typeface="Arial Unicode MS" pitchFamily="34" charset="-128"/>
              </a:rPr>
              <a:t>   } catch (</a:t>
            </a:r>
            <a:r>
              <a:rPr lang="en-US" sz="1800" dirty="0" err="1" smtClean="0">
                <a:latin typeface="Arial Unicode MS" pitchFamily="34" charset="-128"/>
              </a:rPr>
              <a:t>NullPointerException</a:t>
            </a:r>
            <a:r>
              <a:rPr lang="en-US" sz="1800" dirty="0" smtClean="0">
                <a:latin typeface="Arial Unicode MS" pitchFamily="34" charset="-128"/>
              </a:rPr>
              <a:t> e) {</a:t>
            </a:r>
          </a:p>
          <a:p>
            <a:r>
              <a:rPr lang="en-US" sz="1800" dirty="0" smtClean="0">
                <a:latin typeface="Arial Unicode MS" pitchFamily="34" charset="-128"/>
              </a:rPr>
              <a:t>        return;</a:t>
            </a:r>
          </a:p>
          <a:p>
            <a:r>
              <a:rPr lang="en-US" sz="1800" dirty="0" smtClean="0">
                <a:latin typeface="Arial Unicode MS" pitchFamily="34" charset="-128"/>
              </a:rPr>
              <a:t>   }</a:t>
            </a:r>
          </a:p>
          <a:p>
            <a:r>
              <a:rPr lang="en-US" sz="1800" dirty="0" smtClean="0">
                <a:latin typeface="Arial Unicode MS" pitchFamily="34" charset="-128"/>
              </a:rPr>
              <a:t>   fail (“</a:t>
            </a:r>
            <a:r>
              <a:rPr lang="en-US" sz="1800" dirty="0" err="1" smtClean="0">
                <a:latin typeface="Arial Unicode MS" pitchFamily="34" charset="-128"/>
              </a:rPr>
              <a:t>NullPointerException</a:t>
            </a:r>
            <a:r>
              <a:rPr lang="en-US" sz="1800" dirty="0" smtClean="0">
                <a:latin typeface="Arial Unicode MS" pitchFamily="34" charset="-128"/>
              </a:rPr>
              <a:t> expected”);</a:t>
            </a:r>
          </a:p>
          <a:p>
            <a:r>
              <a:rPr lang="en-US" sz="1800" dirty="0" smtClean="0">
                <a:latin typeface="Arial Unicode MS" pitchFamily="34" charset="-128"/>
              </a:rPr>
              <a:t>}</a:t>
            </a:r>
            <a:endParaRPr lang="en-US" sz="1800" dirty="0">
              <a:latin typeface="Arial Unicode MS" pitchFamily="34" charset="-128"/>
            </a:endParaRPr>
          </a:p>
        </p:txBody>
      </p:sp>
      <p:sp>
        <p:nvSpPr>
          <p:cNvPr id="2" name="TextBox 6"/>
          <p:cNvSpPr txBox="1">
            <a:spLocks noChangeArrowheads="1"/>
          </p:cNvSpPr>
          <p:nvPr/>
        </p:nvSpPr>
        <p:spPr bwMode="auto">
          <a:xfrm>
            <a:off x="3969369" y="2262078"/>
            <a:ext cx="5001377" cy="2031325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@Test (expected =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NullPointerException.class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void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testForNullElement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list.add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(null);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list.add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("cat");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Min.min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(list);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  <a:endParaRPr lang="en-US" sz="18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257325" y="3940375"/>
            <a:ext cx="3506153" cy="707886"/>
          </a:xfrm>
          <a:prstGeom prst="rect">
            <a:avLst/>
          </a:prstGeom>
          <a:solidFill>
            <a:srgbClr val="333399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chemeClr val="tx1"/>
                </a:solidFill>
                <a:latin typeface="Gill Sans MT" pitchFamily="34" charset="0"/>
              </a:rPr>
              <a:t>This </a:t>
            </a:r>
            <a:r>
              <a:rPr lang="en-US" dirty="0" err="1" smtClean="0">
                <a:solidFill>
                  <a:schemeClr val="tx1"/>
                </a:solidFill>
                <a:latin typeface="Gill Sans MT" pitchFamily="34" charset="0"/>
              </a:rPr>
              <a:t>NullPointerException</a:t>
            </a:r>
            <a:r>
              <a:rPr lang="en-US" dirty="0" smtClean="0">
                <a:solidFill>
                  <a:schemeClr val="tx1"/>
                </a:solidFill>
                <a:latin typeface="Gill Sans MT" pitchFamily="34" charset="0"/>
              </a:rPr>
              <a:t> test uses the </a:t>
            </a:r>
            <a:r>
              <a:rPr lang="en-US" dirty="0" smtClean="0">
                <a:solidFill>
                  <a:schemeClr val="tx2"/>
                </a:solidFill>
                <a:latin typeface="Gill Sans MT" pitchFamily="34" charset="0"/>
              </a:rPr>
              <a:t>fail </a:t>
            </a:r>
            <a:r>
              <a:rPr lang="en-US" dirty="0" smtClean="0">
                <a:solidFill>
                  <a:schemeClr val="tx1"/>
                </a:solidFill>
                <a:latin typeface="Gill Sans MT" pitchFamily="34" charset="0"/>
              </a:rPr>
              <a:t>assertion 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53255" name="Text Box 7"/>
          <p:cNvSpPr txBox="1">
            <a:spLocks noChangeArrowheads="1"/>
          </p:cNvSpPr>
          <p:nvPr/>
        </p:nvSpPr>
        <p:spPr bwMode="auto">
          <a:xfrm>
            <a:off x="5050705" y="831256"/>
            <a:ext cx="3946150" cy="1323439"/>
          </a:xfrm>
          <a:prstGeom prst="rect">
            <a:avLst/>
          </a:prstGeom>
          <a:solidFill>
            <a:srgbClr val="333399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chemeClr val="tx1"/>
                </a:solidFill>
                <a:latin typeface="Gill Sans MT" pitchFamily="34" charset="0"/>
              </a:rPr>
              <a:t>This </a:t>
            </a:r>
            <a:r>
              <a:rPr lang="en-US" dirty="0" err="1" smtClean="0">
                <a:solidFill>
                  <a:schemeClr val="tx1"/>
                </a:solidFill>
                <a:latin typeface="Gill Sans MT" pitchFamily="34" charset="0"/>
              </a:rPr>
              <a:t>NullPointerException</a:t>
            </a:r>
            <a:r>
              <a:rPr lang="en-US" dirty="0" smtClean="0">
                <a:solidFill>
                  <a:schemeClr val="tx1"/>
                </a:solidFill>
                <a:latin typeface="Gill Sans MT" pitchFamily="34" charset="0"/>
              </a:rPr>
              <a:t> test decorates the </a:t>
            </a:r>
            <a:r>
              <a:rPr lang="en-US" dirty="0" smtClean="0">
                <a:solidFill>
                  <a:schemeClr val="tx2"/>
                </a:solidFill>
                <a:latin typeface="Gill Sans MT" pitchFamily="34" charset="0"/>
              </a:rPr>
              <a:t>@Test</a:t>
            </a:r>
            <a:r>
              <a:rPr lang="en-US" dirty="0" smtClean="0">
                <a:solidFill>
                  <a:schemeClr val="tx1"/>
                </a:solidFill>
                <a:latin typeface="Gill Sans MT" pitchFamily="34" charset="0"/>
              </a:rPr>
              <a:t> annotation with the class of the exception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411330" y="5362860"/>
            <a:ext cx="3409899" cy="1015663"/>
          </a:xfrm>
          <a:prstGeom prst="rect">
            <a:avLst/>
          </a:prstGeom>
          <a:solidFill>
            <a:srgbClr val="333399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chemeClr val="tx1"/>
                </a:solidFill>
                <a:latin typeface="Gill Sans MT" pitchFamily="34" charset="0"/>
              </a:rPr>
              <a:t>This </a:t>
            </a:r>
            <a:r>
              <a:rPr lang="en-US" dirty="0" err="1" smtClean="0">
                <a:solidFill>
                  <a:schemeClr val="tx1"/>
                </a:solidFill>
                <a:latin typeface="Gill Sans MT" pitchFamily="34" charset="0"/>
              </a:rPr>
              <a:t>NullPointerException</a:t>
            </a:r>
            <a:r>
              <a:rPr lang="en-US" dirty="0" smtClean="0">
                <a:solidFill>
                  <a:schemeClr val="tx1"/>
                </a:solidFill>
                <a:latin typeface="Gill Sans MT" pitchFamily="34" charset="0"/>
              </a:rPr>
              <a:t> test catches an easily overlooked special case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3978994" y="4657942"/>
            <a:ext cx="5001377" cy="1754326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@Test (expected =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NullPointerException.class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void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testForSoloNullElement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 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list.add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(null);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Min.min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(list);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  <a:endParaRPr lang="en-US" sz="18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60846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53254" grpId="0" animBg="1"/>
      <p:bldP spid="53255" grpId="0" animBg="1"/>
      <p:bldP spid="53256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AA58007-99AA-4F16-9F66-446E0F5B9383}" type="slidenum">
              <a:rPr lang="en-US" sz="900" b="0" smtClean="0">
                <a:solidFill>
                  <a:schemeClr val="tx1"/>
                </a:solidFill>
              </a:rPr>
              <a:pPr/>
              <a:t>18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Exception </a:t>
            </a:r>
            <a:r>
              <a:rPr lang="tr-TR" dirty="0" smtClean="0"/>
              <a:t>Test</a:t>
            </a:r>
            <a:r>
              <a:rPr lang="en-US" dirty="0" smtClean="0"/>
              <a:t> </a:t>
            </a:r>
            <a:r>
              <a:rPr lang="tr-TR" dirty="0" smtClean="0"/>
              <a:t>Case</a:t>
            </a:r>
            <a:r>
              <a:rPr lang="en-US" dirty="0" smtClean="0"/>
              <a:t>s for Min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54004" y="926799"/>
            <a:ext cx="4996333" cy="2862322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 smtClean="0">
                <a:latin typeface="Arial Unicode MS" pitchFamily="34" charset="-128"/>
              </a:rPr>
              <a:t>@Test (expected = </a:t>
            </a:r>
            <a:r>
              <a:rPr lang="en-US" sz="1800" dirty="0" err="1" smtClean="0">
                <a:latin typeface="Arial Unicode MS" pitchFamily="34" charset="-128"/>
              </a:rPr>
              <a:t>ClassCastException.class</a:t>
            </a:r>
            <a:r>
              <a:rPr lang="en-US" sz="1800" dirty="0" smtClean="0">
                <a:latin typeface="Arial Unicode MS" pitchFamily="34" charset="-128"/>
              </a:rPr>
              <a:t>)</a:t>
            </a:r>
          </a:p>
          <a:p>
            <a:r>
              <a:rPr lang="en-US" sz="1800" dirty="0" smtClean="0">
                <a:latin typeface="Arial Unicode MS" pitchFamily="34" charset="-128"/>
              </a:rPr>
              <a:t>@</a:t>
            </a:r>
            <a:r>
              <a:rPr lang="en-US" sz="1800" dirty="0" err="1" smtClean="0">
                <a:latin typeface="Arial Unicode MS" pitchFamily="34" charset="-128"/>
              </a:rPr>
              <a:t>SuppressWarnings</a:t>
            </a:r>
            <a:r>
              <a:rPr lang="en-US" sz="1800" dirty="0" smtClean="0">
                <a:latin typeface="Arial Unicode MS" pitchFamily="34" charset="-128"/>
              </a:rPr>
              <a:t> ("unchecked")</a:t>
            </a:r>
          </a:p>
          <a:p>
            <a:r>
              <a:rPr lang="en-US" sz="1800" dirty="0" smtClean="0">
                <a:latin typeface="Arial Unicode MS" pitchFamily="34" charset="-128"/>
              </a:rPr>
              <a:t>public void </a:t>
            </a:r>
            <a:r>
              <a:rPr lang="en-US" sz="1800" dirty="0" err="1" smtClean="0">
                <a:latin typeface="Arial Unicode MS" pitchFamily="34" charset="-128"/>
              </a:rPr>
              <a:t>testMutuallyIncomparable</a:t>
            </a:r>
            <a:r>
              <a:rPr lang="en-US" sz="1800" dirty="0" smtClean="0">
                <a:latin typeface="Arial Unicode MS" pitchFamily="34" charset="-128"/>
              </a:rPr>
              <a:t>() </a:t>
            </a:r>
          </a:p>
          <a:p>
            <a:r>
              <a:rPr lang="en-US" sz="1800" dirty="0" smtClean="0">
                <a:latin typeface="Arial Unicode MS" pitchFamily="34" charset="-128"/>
              </a:rPr>
              <a:t>{</a:t>
            </a:r>
          </a:p>
          <a:p>
            <a:r>
              <a:rPr lang="en-US" sz="1800" dirty="0" smtClean="0">
                <a:latin typeface="Arial Unicode MS" pitchFamily="34" charset="-128"/>
              </a:rPr>
              <a:t>   List </a:t>
            </a:r>
            <a:r>
              <a:rPr lang="en-US" sz="1800" dirty="0" err="1" smtClean="0">
                <a:latin typeface="Arial Unicode MS" pitchFamily="34" charset="-128"/>
              </a:rPr>
              <a:t>list</a:t>
            </a:r>
            <a:r>
              <a:rPr lang="en-US" sz="1800" dirty="0" smtClean="0">
                <a:latin typeface="Arial Unicode MS" pitchFamily="34" charset="-128"/>
              </a:rPr>
              <a:t> = new </a:t>
            </a:r>
            <a:r>
              <a:rPr lang="en-US" sz="1800" dirty="0" err="1" smtClean="0">
                <a:latin typeface="Arial Unicode MS" pitchFamily="34" charset="-128"/>
              </a:rPr>
              <a:t>ArrayList</a:t>
            </a:r>
            <a:r>
              <a:rPr lang="en-US" sz="1800" dirty="0" smtClean="0">
                <a:latin typeface="Arial Unicode MS" pitchFamily="34" charset="-128"/>
              </a:rPr>
              <a:t>();</a:t>
            </a:r>
          </a:p>
          <a:p>
            <a:r>
              <a:rPr lang="en-US" sz="1800" dirty="0" smtClean="0">
                <a:latin typeface="Arial Unicode MS" pitchFamily="34" charset="-128"/>
              </a:rPr>
              <a:t>   </a:t>
            </a:r>
            <a:r>
              <a:rPr lang="en-US" sz="1800" dirty="0" err="1" smtClean="0">
                <a:latin typeface="Arial Unicode MS" pitchFamily="34" charset="-128"/>
              </a:rPr>
              <a:t>list.add</a:t>
            </a:r>
            <a:r>
              <a:rPr lang="en-US" sz="1800" dirty="0" smtClean="0">
                <a:latin typeface="Arial Unicode MS" pitchFamily="34" charset="-128"/>
              </a:rPr>
              <a:t> ("cat");</a:t>
            </a:r>
          </a:p>
          <a:p>
            <a:r>
              <a:rPr lang="en-US" sz="1800" dirty="0" smtClean="0">
                <a:latin typeface="Arial Unicode MS" pitchFamily="34" charset="-128"/>
              </a:rPr>
              <a:t>   </a:t>
            </a:r>
            <a:r>
              <a:rPr lang="en-US" sz="1800" dirty="0" err="1" smtClean="0">
                <a:latin typeface="Arial Unicode MS" pitchFamily="34" charset="-128"/>
              </a:rPr>
              <a:t>list.add</a:t>
            </a:r>
            <a:r>
              <a:rPr lang="en-US" sz="1800" dirty="0" smtClean="0">
                <a:latin typeface="Arial Unicode MS" pitchFamily="34" charset="-128"/>
              </a:rPr>
              <a:t> ("dog");</a:t>
            </a:r>
          </a:p>
          <a:p>
            <a:r>
              <a:rPr lang="en-US" sz="1800" dirty="0" smtClean="0">
                <a:latin typeface="Arial Unicode MS" pitchFamily="34" charset="-128"/>
              </a:rPr>
              <a:t>   </a:t>
            </a:r>
            <a:r>
              <a:rPr lang="en-US" sz="1800" dirty="0" err="1" smtClean="0">
                <a:latin typeface="Arial Unicode MS" pitchFamily="34" charset="-128"/>
              </a:rPr>
              <a:t>list.add</a:t>
            </a:r>
            <a:r>
              <a:rPr lang="en-US" sz="1800" dirty="0" smtClean="0">
                <a:latin typeface="Arial Unicode MS" pitchFamily="34" charset="-128"/>
              </a:rPr>
              <a:t> (1);</a:t>
            </a:r>
          </a:p>
          <a:p>
            <a:r>
              <a:rPr lang="en-US" sz="1800" dirty="0" smtClean="0">
                <a:latin typeface="Arial Unicode MS" pitchFamily="34" charset="-128"/>
              </a:rPr>
              <a:t>   </a:t>
            </a:r>
            <a:r>
              <a:rPr lang="en-US" sz="1800" dirty="0" err="1" smtClean="0">
                <a:latin typeface="Arial Unicode MS" pitchFamily="34" charset="-128"/>
              </a:rPr>
              <a:t>Min.min</a:t>
            </a:r>
            <a:r>
              <a:rPr lang="en-US" sz="1800" dirty="0" smtClean="0">
                <a:latin typeface="Arial Unicode MS" pitchFamily="34" charset="-128"/>
              </a:rPr>
              <a:t> (list);</a:t>
            </a:r>
          </a:p>
          <a:p>
            <a:r>
              <a:rPr lang="en-US" sz="1800" dirty="0" smtClean="0">
                <a:latin typeface="Arial Unicode MS" pitchFamily="34" charset="-128"/>
              </a:rPr>
              <a:t>}</a:t>
            </a:r>
            <a:endParaRPr lang="en-US" sz="1800" dirty="0">
              <a:latin typeface="Arial Unicode MS" pitchFamily="34" charset="-128"/>
            </a:endParaRPr>
          </a:p>
        </p:txBody>
      </p:sp>
      <p:sp>
        <p:nvSpPr>
          <p:cNvPr id="2" name="TextBox 6"/>
          <p:cNvSpPr txBox="1">
            <a:spLocks noChangeArrowheads="1"/>
          </p:cNvSpPr>
          <p:nvPr/>
        </p:nvSpPr>
        <p:spPr bwMode="auto">
          <a:xfrm>
            <a:off x="3060834" y="4154221"/>
            <a:ext cx="5909913" cy="1477328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@Test (expected =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IllegalArgumentException.class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void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testEmptyList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 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Min.min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(list);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5234562" y="1015739"/>
            <a:ext cx="2726507" cy="1323439"/>
          </a:xfrm>
          <a:prstGeom prst="rect">
            <a:avLst/>
          </a:prstGeom>
          <a:solidFill>
            <a:srgbClr val="333399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chemeClr val="tx1"/>
                </a:solidFill>
                <a:latin typeface="Gill Sans MT" pitchFamily="34" charset="0"/>
              </a:rPr>
              <a:t>Note that Java generics don’t prevent clients from using raw types!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53255" name="Text Box 7"/>
          <p:cNvSpPr txBox="1">
            <a:spLocks noChangeArrowheads="1"/>
          </p:cNvSpPr>
          <p:nvPr/>
        </p:nvSpPr>
        <p:spPr bwMode="auto">
          <a:xfrm>
            <a:off x="5050705" y="5739190"/>
            <a:ext cx="3871913" cy="707886"/>
          </a:xfrm>
          <a:prstGeom prst="rect">
            <a:avLst/>
          </a:prstGeom>
          <a:solidFill>
            <a:srgbClr val="333399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chemeClr val="tx1"/>
                </a:solidFill>
                <a:latin typeface="Gill Sans MT" pitchFamily="34" charset="0"/>
              </a:rPr>
              <a:t>Special case: Testing for the empty list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0846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53254" grpId="0" animBg="1"/>
      <p:bldP spid="5325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AA58007-99AA-4F16-9F66-446E0F5B9383}" type="slidenum">
              <a:rPr lang="en-US" sz="900" b="0" smtClean="0">
                <a:solidFill>
                  <a:schemeClr val="tx1"/>
                </a:solidFill>
              </a:rPr>
              <a:pPr/>
              <a:t>19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Remaining </a:t>
            </a:r>
            <a:r>
              <a:rPr lang="tr-TR" dirty="0" smtClean="0"/>
              <a:t>Test</a:t>
            </a:r>
            <a:r>
              <a:rPr lang="en-US" dirty="0" smtClean="0"/>
              <a:t> </a:t>
            </a:r>
            <a:r>
              <a:rPr lang="tr-TR" dirty="0" smtClean="0"/>
              <a:t>Case</a:t>
            </a:r>
            <a:r>
              <a:rPr lang="en-US" dirty="0" smtClean="0"/>
              <a:t>s for Min</a:t>
            </a: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4889634" y="5532141"/>
            <a:ext cx="2714324" cy="707886"/>
          </a:xfrm>
          <a:prstGeom prst="rect">
            <a:avLst/>
          </a:prstGeom>
          <a:solidFill>
            <a:srgbClr val="333399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chemeClr val="tx1"/>
                </a:solidFill>
                <a:latin typeface="Gill Sans MT" pitchFamily="34" charset="0"/>
              </a:rPr>
              <a:t>Finally! A couple of “Happy Path” tests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259883" y="891095"/>
            <a:ext cx="5986913" cy="4524315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@Test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void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testSingleElement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 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list.add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("cat");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Object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obj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=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Min.min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(list);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assertTrue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("Single Element List",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obj.equals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("cat"));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</a:p>
          <a:p>
            <a:endParaRPr lang="en-US" sz="18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@Test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public void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testDoubleElement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 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{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list.add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("dog");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list.add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("cat");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Object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obj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=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Min.min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(list);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assertTrue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("Double Element List", </a:t>
            </a:r>
            <a:r>
              <a:rPr lang="en-US" sz="1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obj.equals</a:t>
            </a:r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("cat"));</a:t>
            </a:r>
          </a:p>
          <a:p>
            <a:r>
              <a:rPr lang="en-US" sz="1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}</a:t>
            </a:r>
            <a:endParaRPr lang="en-US" sz="18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09780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6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Summary: Seven Tests for Min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0622" y="1248748"/>
            <a:ext cx="6269171" cy="4468399"/>
          </a:xfrm>
        </p:spPr>
        <p:txBody>
          <a:bodyPr/>
          <a:lstStyle/>
          <a:p>
            <a:r>
              <a:rPr lang="en-US" dirty="0" smtClean="0"/>
              <a:t>Five tests with exceptions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null </a:t>
            </a:r>
            <a:r>
              <a:rPr lang="en-US" dirty="0"/>
              <a:t>list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null element with multiple elements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null single element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incomparable types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empty elements</a:t>
            </a:r>
          </a:p>
          <a:p>
            <a:r>
              <a:rPr lang="en-US" dirty="0" smtClean="0"/>
              <a:t>Two </a:t>
            </a:r>
            <a:r>
              <a:rPr lang="en-US" dirty="0"/>
              <a:t>without exceptions</a:t>
            </a:r>
          </a:p>
          <a:p>
            <a:pPr marL="914400" lvl="1" indent="-457200">
              <a:buFont typeface="+mj-lt"/>
              <a:buAutoNum type="arabicPeriod" startAt="6"/>
            </a:pPr>
            <a:r>
              <a:rPr lang="en-US" dirty="0"/>
              <a:t>single element</a:t>
            </a:r>
          </a:p>
          <a:p>
            <a:pPr marL="914400" lvl="1" indent="-457200">
              <a:buFont typeface="+mj-lt"/>
              <a:buAutoNum type="arabicPeriod" startAt="6"/>
            </a:pPr>
            <a:r>
              <a:rPr lang="en-US" dirty="0"/>
              <a:t>two elements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5881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Data-Driven </a:t>
            </a:r>
            <a:r>
              <a:rPr lang="en-US" dirty="0" smtClean="0"/>
              <a:t>Tests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chemeClr val="tx2"/>
                </a:solidFill>
              </a:rPr>
              <a:t>Problem</a:t>
            </a:r>
            <a:r>
              <a:rPr lang="en-US" sz="2800" dirty="0" smtClean="0"/>
              <a:t> :  </a:t>
            </a:r>
            <a:r>
              <a:rPr lang="en-US" sz="2800" dirty="0"/>
              <a:t>Testing a function multiple times with similar values</a:t>
            </a:r>
          </a:p>
          <a:p>
            <a:pPr lvl="1"/>
            <a:r>
              <a:rPr lang="en-US" sz="2400" dirty="0"/>
              <a:t>How to avoid test code bloat?</a:t>
            </a:r>
          </a:p>
          <a:p>
            <a:r>
              <a:rPr lang="en-US" sz="2800" dirty="0">
                <a:solidFill>
                  <a:schemeClr val="tx2"/>
                </a:solidFill>
              </a:rPr>
              <a:t>Simple </a:t>
            </a:r>
            <a:r>
              <a:rPr lang="en-US" sz="2800" dirty="0" smtClean="0">
                <a:solidFill>
                  <a:schemeClr val="tx2"/>
                </a:solidFill>
              </a:rPr>
              <a:t>example</a:t>
            </a:r>
            <a:r>
              <a:rPr lang="en-US" sz="2800" dirty="0" smtClean="0"/>
              <a:t> : </a:t>
            </a:r>
            <a:r>
              <a:rPr lang="en-US" sz="2800" dirty="0"/>
              <a:t>Adding </a:t>
            </a:r>
            <a:r>
              <a:rPr lang="en-US" sz="2800" dirty="0" smtClean="0"/>
              <a:t>two numbers</a:t>
            </a:r>
            <a:endParaRPr lang="en-US" sz="2800" dirty="0"/>
          </a:p>
          <a:p>
            <a:pPr lvl="1"/>
            <a:r>
              <a:rPr lang="en-US" sz="2400" dirty="0"/>
              <a:t>Adding a given pair of numbers is just like adding any other pair</a:t>
            </a:r>
          </a:p>
          <a:p>
            <a:pPr lvl="1"/>
            <a:r>
              <a:rPr lang="en-US" sz="2400" dirty="0"/>
              <a:t>You really only want to write one test</a:t>
            </a:r>
          </a:p>
          <a:p>
            <a:r>
              <a:rPr lang="en-US" sz="2800" dirty="0">
                <a:solidFill>
                  <a:schemeClr val="tx2"/>
                </a:solidFill>
              </a:rPr>
              <a:t>Data-driven</a:t>
            </a:r>
            <a:r>
              <a:rPr lang="en-US" sz="2800" dirty="0"/>
              <a:t> unit tests call </a:t>
            </a:r>
            <a:r>
              <a:rPr lang="en-US" sz="2800" dirty="0" smtClean="0"/>
              <a:t>a constructor </a:t>
            </a:r>
            <a:r>
              <a:rPr lang="en-US" sz="2800" dirty="0"/>
              <a:t>for each </a:t>
            </a:r>
            <a:r>
              <a:rPr lang="en-US" sz="2800" dirty="0" smtClean="0"/>
              <a:t>collection of test values</a:t>
            </a:r>
            <a:endParaRPr lang="en-US" sz="2800" dirty="0"/>
          </a:p>
          <a:p>
            <a:pPr lvl="1"/>
            <a:r>
              <a:rPr lang="en-US" sz="2400" dirty="0" smtClean="0"/>
              <a:t>Same </a:t>
            </a:r>
            <a:r>
              <a:rPr lang="en-US" sz="2400" dirty="0"/>
              <a:t>tests are then run on each set of data values</a:t>
            </a:r>
          </a:p>
          <a:p>
            <a:pPr lvl="1"/>
            <a:r>
              <a:rPr lang="en-US" sz="2400" dirty="0"/>
              <a:t>Collection of data values defined by method tagged with @Parameters </a:t>
            </a:r>
            <a:r>
              <a:rPr lang="en-US" sz="2400" dirty="0" smtClean="0"/>
              <a:t>annotation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1026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Introduction to Software Testing, Edition 2  (Ch 3)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© Ammann &amp; Offutt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5170128-8402-45B6-8E88-66AC68E17A5A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Example </a:t>
            </a:r>
            <a:r>
              <a:rPr lang="en-US" sz="3200" dirty="0" err="1" smtClean="0"/>
              <a:t>JUnit</a:t>
            </a:r>
            <a:r>
              <a:rPr lang="en-US" sz="3200" dirty="0" smtClean="0"/>
              <a:t> </a:t>
            </a:r>
            <a:r>
              <a:rPr lang="en-US" dirty="0" smtClean="0"/>
              <a:t>D</a:t>
            </a:r>
            <a:r>
              <a:rPr lang="en-US" sz="3200" dirty="0" smtClean="0"/>
              <a:t>ata</a:t>
            </a:r>
            <a:r>
              <a:rPr lang="en-US" dirty="0" smtClean="0"/>
              <a:t>-D</a:t>
            </a:r>
            <a:r>
              <a:rPr lang="en-US" sz="3200" dirty="0" smtClean="0"/>
              <a:t>riven </a:t>
            </a:r>
            <a:r>
              <a:rPr lang="en-US" dirty="0" smtClean="0"/>
              <a:t>Unit Test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02712" y="856648"/>
            <a:ext cx="8462962" cy="5632311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org.junit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.*;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org.junit.runner.RunWith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org.junit.runners.Parameterized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org.junit.runners.Parameterized.Parameters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import static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org.junit.Assert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.*;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java.util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.*;</a:t>
            </a:r>
          </a:p>
          <a:p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RunWith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Parameterized.class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public class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DataDrivenCalcTest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{  public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a, b, sum;</a:t>
            </a:r>
          </a:p>
          <a:p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 public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DataDrivenCalcTest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v1,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v2,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expected)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 {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this.a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= v1;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this.b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= v2; this.sum = expected; }</a:t>
            </a:r>
          </a:p>
          <a:p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@Parameters public static Collection&lt;Object[]&gt; parameters()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{ return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Arrays.asList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(new Object [][] {{1, 1, 2}, {2, 3, 5}}); }</a:t>
            </a:r>
          </a:p>
          <a:p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@Test public void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additionTest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{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assertTrue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("Addition Test", sum ==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Calc.add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(a, b)); }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1800" dirty="0">
              <a:latin typeface="Arial" panose="020B0604020202020204" pitchFamily="34" charset="0"/>
              <a:ea typeface="Arial Unicode MS" pitchFamily="34" charset="-128"/>
              <a:cs typeface="Arial" panose="020B060402020202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 bwMode="auto">
          <a:xfrm>
            <a:off x="5915326" y="2455287"/>
            <a:ext cx="2233548" cy="1089498"/>
          </a:xfrm>
          <a:prstGeom prst="roundRect">
            <a:avLst/>
          </a:prstGeom>
          <a:solidFill>
            <a:srgbClr val="336600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Test 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 smtClean="0">
                <a:solidFill>
                  <a:schemeClr val="tx1"/>
                </a:solidFill>
                <a:latin typeface="Gill Sans MT" panose="020B0502020104020203" pitchFamily="34" charset="0"/>
              </a:rPr>
              <a:t>Test values: 1, 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Expected: 2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5153114" y="3544785"/>
            <a:ext cx="893235" cy="14941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2" name="Rounded Rectangle 11"/>
          <p:cNvSpPr/>
          <p:nvPr/>
        </p:nvSpPr>
        <p:spPr bwMode="auto">
          <a:xfrm>
            <a:off x="6499538" y="3636012"/>
            <a:ext cx="2233548" cy="1089498"/>
          </a:xfrm>
          <a:prstGeom prst="roundRect">
            <a:avLst/>
          </a:prstGeom>
          <a:solidFill>
            <a:srgbClr val="336600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Test 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 smtClean="0">
                <a:solidFill>
                  <a:schemeClr val="tx1"/>
                </a:solidFill>
                <a:latin typeface="Gill Sans MT" panose="020B0502020104020203" pitchFamily="34" charset="0"/>
              </a:rPr>
              <a:t>Test values: 2, 3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Expected: 5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>
            <a:off x="6046350" y="4492160"/>
            <a:ext cx="453188" cy="54676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5" name="Rounded Rectangle 14"/>
          <p:cNvSpPr/>
          <p:nvPr/>
        </p:nvSpPr>
        <p:spPr bwMode="auto">
          <a:xfrm>
            <a:off x="3965248" y="2691925"/>
            <a:ext cx="1862984" cy="980878"/>
          </a:xfrm>
          <a:prstGeom prst="roundRect">
            <a:avLst/>
          </a:prstGeom>
          <a:solidFill>
            <a:srgbClr val="336600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Constructor</a:t>
            </a:r>
            <a:r>
              <a:rPr kumimoji="0" 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 is called for each triple of values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</a:endParaRP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 bwMode="auto">
          <a:xfrm flipH="1">
            <a:off x="2980506" y="3182364"/>
            <a:ext cx="984742" cy="72703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8" name="Rounded Rectangle 17"/>
          <p:cNvSpPr/>
          <p:nvPr/>
        </p:nvSpPr>
        <p:spPr bwMode="auto">
          <a:xfrm>
            <a:off x="6867907" y="5400941"/>
            <a:ext cx="1579547" cy="398339"/>
          </a:xfrm>
          <a:prstGeom prst="roundRect">
            <a:avLst/>
          </a:prstGeom>
          <a:solidFill>
            <a:srgbClr val="336600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Test method</a:t>
            </a:r>
          </a:p>
        </p:txBody>
      </p:sp>
      <p:cxnSp>
        <p:nvCxnSpPr>
          <p:cNvPr id="19" name="Straight Arrow Connector 18"/>
          <p:cNvCxnSpPr>
            <a:stCxn id="18" idx="1"/>
          </p:cNvCxnSpPr>
          <p:nvPr/>
        </p:nvCxnSpPr>
        <p:spPr bwMode="auto">
          <a:xfrm flipH="1">
            <a:off x="4289989" y="5600111"/>
            <a:ext cx="2577918" cy="19916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5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Tests with Parameters</a:t>
            </a:r>
            <a:r>
              <a:rPr lang="en-US" sz="2800" dirty="0"/>
              <a:t>: </a:t>
            </a:r>
            <a:r>
              <a:rPr lang="en-US" sz="3200" dirty="0" err="1"/>
              <a:t>JUnit</a:t>
            </a:r>
            <a:r>
              <a:rPr lang="en-US" sz="3200" dirty="0"/>
              <a:t> Theories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829994"/>
            <a:ext cx="8966200" cy="2761345"/>
          </a:xfrm>
        </p:spPr>
        <p:txBody>
          <a:bodyPr/>
          <a:lstStyle/>
          <a:p>
            <a:r>
              <a:rPr lang="en-US" sz="2800" dirty="0"/>
              <a:t>Unit tests can have actual parameters</a:t>
            </a:r>
          </a:p>
          <a:p>
            <a:pPr lvl="1"/>
            <a:r>
              <a:rPr lang="en-US" dirty="0"/>
              <a:t>So far, we’ve only seen </a:t>
            </a:r>
            <a:r>
              <a:rPr lang="en-US" dirty="0" err="1"/>
              <a:t>parameterless</a:t>
            </a:r>
            <a:r>
              <a:rPr lang="en-US" dirty="0"/>
              <a:t> test methods</a:t>
            </a:r>
          </a:p>
          <a:p>
            <a:r>
              <a:rPr lang="en-US" sz="2800" dirty="0"/>
              <a:t>Contract model: Assume, </a:t>
            </a:r>
            <a:r>
              <a:rPr lang="en-US" sz="2800" dirty="0" smtClean="0"/>
              <a:t>Act</a:t>
            </a:r>
            <a:r>
              <a:rPr lang="en-US" sz="2800" dirty="0"/>
              <a:t>, Assert</a:t>
            </a:r>
          </a:p>
          <a:p>
            <a:pPr lvl="1"/>
            <a:r>
              <a:rPr lang="en-US" i="1" dirty="0">
                <a:solidFill>
                  <a:schemeClr val="tx2"/>
                </a:solidFill>
              </a:rPr>
              <a:t>Assumptions</a:t>
            </a:r>
            <a:r>
              <a:rPr lang="en-US" dirty="0"/>
              <a:t> (preconditions) limit values appropriately</a:t>
            </a:r>
          </a:p>
          <a:p>
            <a:pPr lvl="1"/>
            <a:r>
              <a:rPr lang="en-US" i="1" dirty="0">
                <a:solidFill>
                  <a:schemeClr val="tx2"/>
                </a:solidFill>
              </a:rPr>
              <a:t>Action</a:t>
            </a:r>
            <a:r>
              <a:rPr lang="en-US" dirty="0"/>
              <a:t> performs activity under scrutiny</a:t>
            </a:r>
          </a:p>
          <a:p>
            <a:pPr lvl="1"/>
            <a:r>
              <a:rPr lang="en-US" i="1" dirty="0">
                <a:solidFill>
                  <a:schemeClr val="tx2"/>
                </a:solidFill>
              </a:rPr>
              <a:t>Assertions</a:t>
            </a:r>
            <a:r>
              <a:rPr lang="en-US" dirty="0"/>
              <a:t> (</a:t>
            </a:r>
            <a:r>
              <a:rPr lang="en-US" dirty="0" err="1"/>
              <a:t>postconditions</a:t>
            </a:r>
            <a:r>
              <a:rPr lang="en-US" dirty="0"/>
              <a:t>) check result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71475" y="3686175"/>
            <a:ext cx="8475663" cy="2862322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@Theory public void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removeThenAddDoesNotChangeSet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    Set&lt;String&gt;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someSet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String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str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 {                       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// Parameters!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assumeTrue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someSet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!= null)                                     // Assume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assumeTrue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someSet.contains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str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)) ;        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     //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Assume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Set&lt;String&gt; copy = new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HashSet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&lt;String&gt;(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someSet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);  //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Act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copy.remove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str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);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copy.add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str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);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assertTrue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someSet.equals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copy));                          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// Assert 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799506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Introduction to Software Testing, Edition 2  (Ch 3)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© Ammann &amp; Offutt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506968-A15A-4C4C-9D41-C363DD435C8C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47625" y="96838"/>
            <a:ext cx="9048750" cy="1386905"/>
          </a:xfrm>
        </p:spPr>
        <p:txBody>
          <a:bodyPr/>
          <a:lstStyle/>
          <a:p>
            <a:r>
              <a:rPr lang="en-US" dirty="0" smtClean="0"/>
              <a:t>Question: Where Do The Data Values Come From?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379" y="854075"/>
            <a:ext cx="8821821" cy="5503863"/>
          </a:xfrm>
        </p:spPr>
        <p:txBody>
          <a:bodyPr/>
          <a:lstStyle/>
          <a:p>
            <a:r>
              <a:rPr lang="en-US" sz="2800" dirty="0" smtClean="0"/>
              <a:t>Answer:</a:t>
            </a:r>
          </a:p>
          <a:p>
            <a:pPr lvl="1"/>
            <a:r>
              <a:rPr lang="en-US" dirty="0" smtClean="0"/>
              <a:t>All combinations of values from @</a:t>
            </a:r>
            <a:r>
              <a:rPr lang="en-US" dirty="0" err="1" smtClean="0"/>
              <a:t>DataPoints</a:t>
            </a:r>
            <a:r>
              <a:rPr lang="en-US" dirty="0" smtClean="0"/>
              <a:t> annotations where assume clause is </a:t>
            </a:r>
            <a:r>
              <a:rPr lang="en-US" dirty="0"/>
              <a:t>t</a:t>
            </a:r>
            <a:r>
              <a:rPr lang="en-US" dirty="0" smtClean="0"/>
              <a:t>rue</a:t>
            </a:r>
          </a:p>
          <a:p>
            <a:pPr lvl="1"/>
            <a:r>
              <a:rPr lang="en-US" dirty="0" smtClean="0"/>
              <a:t>Four (of nine) combinations in this particular </a:t>
            </a:r>
            <a:r>
              <a:rPr lang="en-US" dirty="0"/>
              <a:t>c</a:t>
            </a:r>
            <a:r>
              <a:rPr lang="en-US" dirty="0" smtClean="0"/>
              <a:t>ase</a:t>
            </a:r>
          </a:p>
          <a:p>
            <a:pPr lvl="1"/>
            <a:r>
              <a:rPr lang="en-US" dirty="0" smtClean="0"/>
              <a:t>Note:  @</a:t>
            </a:r>
            <a:r>
              <a:rPr lang="en-US" dirty="0" err="1" smtClean="0"/>
              <a:t>DataPoints</a:t>
            </a:r>
            <a:r>
              <a:rPr lang="en-US" dirty="0" smtClean="0"/>
              <a:t> format is an array</a:t>
            </a:r>
          </a:p>
          <a:p>
            <a:pPr lvl="1">
              <a:buFontTx/>
              <a:buNone/>
            </a:pPr>
            <a:endParaRPr lang="en-US" sz="2400" dirty="0" smtClean="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9435" y="3087955"/>
            <a:ext cx="8475663" cy="3416320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16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16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@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DataPoints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public static String[]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animals =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{"ant", "bat", "cat"};</a:t>
            </a:r>
          </a:p>
          <a:p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@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DataPoints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public static Set[]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animalSets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=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new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HashSet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Arrays.asList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("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ant", "bat")),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new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HashSet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Arrays.asList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(“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bat", “cat", “dog“, “elk”)),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new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HashSet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Arrays.asList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(“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Snap”, “Crackle”, “Pop"))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};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5330208" y="4014820"/>
            <a:ext cx="3745150" cy="1089498"/>
          </a:xfrm>
          <a:prstGeom prst="roundRect">
            <a:avLst/>
          </a:prstGeom>
          <a:solidFill>
            <a:srgbClr val="336600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Nine combinations of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animalSets</a:t>
            </a:r>
            <a:r>
              <a:rPr lang="en-US" sz="1800" b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800" b="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800" b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].contains (animals[j])</a:t>
            </a:r>
            <a:r>
              <a:rPr lang="en-US" b="0" dirty="0" smtClean="0">
                <a:solidFill>
                  <a:schemeClr val="tx1"/>
                </a:solidFill>
                <a:latin typeface="Gill Sans MT" panose="020B0502020104020203" pitchFamily="34" charset="0"/>
              </a:rPr>
              <a:t> is false for five combinations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</a:endParaRPr>
          </a:p>
        </p:txBody>
      </p:sp>
      <p:cxnSp>
        <p:nvCxnSpPr>
          <p:cNvPr id="9" name="Straight Arrow Connector 8"/>
          <p:cNvCxnSpPr>
            <a:stCxn id="8" idx="2"/>
          </p:cNvCxnSpPr>
          <p:nvPr/>
        </p:nvCxnSpPr>
        <p:spPr bwMode="auto">
          <a:xfrm flipH="1">
            <a:off x="5939327" y="5104318"/>
            <a:ext cx="1263456" cy="34789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7" name="Straight Arrow Connector 16"/>
          <p:cNvCxnSpPr>
            <a:stCxn id="8" idx="1"/>
          </p:cNvCxnSpPr>
          <p:nvPr/>
        </p:nvCxnSpPr>
        <p:spPr bwMode="auto">
          <a:xfrm flipH="1" flipV="1">
            <a:off x="4871103" y="4084890"/>
            <a:ext cx="459105" cy="47467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048750" cy="91598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3)</a:t>
            </a:r>
            <a:endParaRPr lang="en-US" u="s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208" name="Group 207"/>
          <p:cNvGrpSpPr/>
          <p:nvPr/>
        </p:nvGrpSpPr>
        <p:grpSpPr>
          <a:xfrm>
            <a:off x="465666" y="1358900"/>
            <a:ext cx="1972734" cy="4500033"/>
            <a:chOff x="465666" y="1358900"/>
            <a:chExt cx="1972734" cy="4500033"/>
          </a:xfrm>
        </p:grpSpPr>
        <p:sp>
          <p:nvSpPr>
            <p:cNvPr id="18" name="Down Arrow 17"/>
            <p:cNvSpPr/>
            <p:nvPr/>
          </p:nvSpPr>
          <p:spPr bwMode="auto">
            <a:xfrm>
              <a:off x="2032000" y="4487334"/>
              <a:ext cx="211667" cy="872066"/>
            </a:xfrm>
            <a:prstGeom prst="down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9" name="Bent Arrow 18"/>
            <p:cNvSpPr/>
            <p:nvPr/>
          </p:nvSpPr>
          <p:spPr bwMode="auto">
            <a:xfrm rot="5400000" flipV="1">
              <a:off x="-1157814" y="3117851"/>
              <a:ext cx="4017436" cy="499534"/>
            </a:xfrm>
            <a:prstGeom prst="bentArrow">
              <a:avLst>
                <a:gd name="adj1" fmla="val 25000"/>
                <a:gd name="adj2" fmla="val 23319"/>
                <a:gd name="adj3" fmla="val 25000"/>
                <a:gd name="adj4" fmla="val 58036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 bwMode="auto">
            <a:xfrm>
              <a:off x="465666" y="5367866"/>
              <a:ext cx="1972734" cy="491067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6533" y="5410200"/>
              <a:ext cx="170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336600"/>
                  </a:solidFill>
                </a:rPr>
                <a:t>Assert</a:t>
              </a:r>
              <a:endParaRPr lang="en-US" dirty="0">
                <a:solidFill>
                  <a:srgbClr val="336600"/>
                </a:solidFill>
              </a:endParaRPr>
            </a:p>
          </p:txBody>
        </p:sp>
      </p:grpSp>
      <p:grpSp>
        <p:nvGrpSpPr>
          <p:cNvPr id="209" name="Group 208"/>
          <p:cNvGrpSpPr/>
          <p:nvPr/>
        </p:nvGrpSpPr>
        <p:grpSpPr>
          <a:xfrm>
            <a:off x="2446866" y="5147735"/>
            <a:ext cx="1981201" cy="948267"/>
            <a:chOff x="2446866" y="5147735"/>
            <a:chExt cx="1981201" cy="948267"/>
          </a:xfrm>
        </p:grpSpPr>
        <p:sp>
          <p:nvSpPr>
            <p:cNvPr id="22" name="Striped Right Arrow 21"/>
            <p:cNvSpPr/>
            <p:nvPr/>
          </p:nvSpPr>
          <p:spPr bwMode="auto">
            <a:xfrm>
              <a:off x="2446866" y="5469467"/>
              <a:ext cx="905934" cy="304800"/>
            </a:xfrm>
            <a:prstGeom prst="stripedRightArrow">
              <a:avLst>
                <a:gd name="adj1" fmla="val 33333"/>
                <a:gd name="adj2" fmla="val 50000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3369734" y="5147735"/>
              <a:ext cx="1058333" cy="948267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462868" y="5257802"/>
              <a:ext cx="88053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336600"/>
                  </a:solidFill>
                </a:rPr>
                <a:t>Pass</a:t>
              </a:r>
              <a:br>
                <a:rPr lang="en-US" dirty="0" smtClean="0">
                  <a:solidFill>
                    <a:srgbClr val="336600"/>
                  </a:solidFill>
                </a:rPr>
              </a:br>
              <a:r>
                <a:rPr lang="en-US" dirty="0" smtClean="0">
                  <a:solidFill>
                    <a:srgbClr val="FF0000"/>
                  </a:solidFill>
                </a:rPr>
                <a:t>Fail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Connector 26"/>
            <p:cNvCxnSpPr>
              <a:stCxn id="24" idx="2"/>
              <a:endCxn id="24" idx="6"/>
            </p:cNvCxnSpPr>
            <p:nvPr/>
          </p:nvCxnSpPr>
          <p:spPr bwMode="auto">
            <a:xfrm>
              <a:off x="3369734" y="5621869"/>
              <a:ext cx="105833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07" name="Group 206"/>
          <p:cNvGrpSpPr/>
          <p:nvPr/>
        </p:nvGrpSpPr>
        <p:grpSpPr>
          <a:xfrm>
            <a:off x="1109133" y="1202269"/>
            <a:ext cx="2116667" cy="3259665"/>
            <a:chOff x="1109133" y="1202269"/>
            <a:chExt cx="2116667" cy="3259665"/>
          </a:xfrm>
        </p:grpSpPr>
        <p:sp>
          <p:nvSpPr>
            <p:cNvPr id="7" name="Rounded Rectangle 6"/>
            <p:cNvSpPr/>
            <p:nvPr/>
          </p:nvSpPr>
          <p:spPr bwMode="auto">
            <a:xfrm>
              <a:off x="1109133" y="1210733"/>
              <a:ext cx="1972734" cy="491067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 bwMode="auto">
            <a:xfrm>
              <a:off x="1159933" y="2133600"/>
              <a:ext cx="1972734" cy="491067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 bwMode="auto">
            <a:xfrm>
              <a:off x="1134533" y="3048000"/>
              <a:ext cx="1972734" cy="491067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" name="Rounded Rectangle 12"/>
            <p:cNvSpPr/>
            <p:nvPr/>
          </p:nvSpPr>
          <p:spPr bwMode="auto">
            <a:xfrm>
              <a:off x="1185333" y="3970867"/>
              <a:ext cx="1972734" cy="491067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5" name="Down Arrow 14"/>
            <p:cNvSpPr/>
            <p:nvPr/>
          </p:nvSpPr>
          <p:spPr bwMode="auto">
            <a:xfrm>
              <a:off x="2032000" y="1718733"/>
              <a:ext cx="211667" cy="406400"/>
            </a:xfrm>
            <a:prstGeom prst="down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6" name="Down Arrow 15"/>
            <p:cNvSpPr/>
            <p:nvPr/>
          </p:nvSpPr>
          <p:spPr bwMode="auto">
            <a:xfrm>
              <a:off x="2015067" y="2641600"/>
              <a:ext cx="211667" cy="406400"/>
            </a:xfrm>
            <a:prstGeom prst="down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7" name="Down Arrow 16"/>
            <p:cNvSpPr/>
            <p:nvPr/>
          </p:nvSpPr>
          <p:spPr bwMode="auto">
            <a:xfrm>
              <a:off x="2023533" y="3564466"/>
              <a:ext cx="211667" cy="406400"/>
            </a:xfrm>
            <a:prstGeom prst="down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1346200" y="3953933"/>
              <a:ext cx="1557867" cy="491067"/>
              <a:chOff x="5308600" y="2616200"/>
              <a:chExt cx="1557867" cy="491067"/>
            </a:xfrm>
          </p:grpSpPr>
          <p:cxnSp>
            <p:nvCxnSpPr>
              <p:cNvPr id="84" name="Straight Connector 83"/>
              <p:cNvCxnSpPr/>
              <p:nvPr/>
            </p:nvCxnSpPr>
            <p:spPr bwMode="auto">
              <a:xfrm flipH="1">
                <a:off x="5308600" y="2633133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5" name="Straight Connector 84"/>
              <p:cNvCxnSpPr/>
              <p:nvPr/>
            </p:nvCxnSpPr>
            <p:spPr bwMode="auto">
              <a:xfrm flipH="1">
                <a:off x="5511800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6" name="Straight Connector 85"/>
              <p:cNvCxnSpPr/>
              <p:nvPr/>
            </p:nvCxnSpPr>
            <p:spPr bwMode="auto">
              <a:xfrm flipH="1">
                <a:off x="6189131" y="2616200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7" name="Straight Connector 86"/>
              <p:cNvCxnSpPr/>
              <p:nvPr/>
            </p:nvCxnSpPr>
            <p:spPr bwMode="auto">
              <a:xfrm flipH="1">
                <a:off x="6409266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8" name="Straight Connector 87"/>
              <p:cNvCxnSpPr/>
              <p:nvPr/>
            </p:nvCxnSpPr>
            <p:spPr bwMode="auto">
              <a:xfrm flipH="1">
                <a:off x="6629400" y="2633134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9" name="Straight Connector 88"/>
              <p:cNvCxnSpPr/>
              <p:nvPr/>
            </p:nvCxnSpPr>
            <p:spPr bwMode="auto">
              <a:xfrm flipH="1">
                <a:off x="6858000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0" name="Straight Connector 89"/>
              <p:cNvCxnSpPr/>
              <p:nvPr/>
            </p:nvCxnSpPr>
            <p:spPr bwMode="auto">
              <a:xfrm flipH="1">
                <a:off x="5943600" y="2624667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1" name="Straight Connector 90"/>
              <p:cNvCxnSpPr/>
              <p:nvPr/>
            </p:nvCxnSpPr>
            <p:spPr bwMode="auto">
              <a:xfrm flipH="1">
                <a:off x="5731933" y="2624667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92" name="Group 91"/>
            <p:cNvGrpSpPr/>
            <p:nvPr/>
          </p:nvGrpSpPr>
          <p:grpSpPr>
            <a:xfrm>
              <a:off x="1286935" y="3039534"/>
              <a:ext cx="1557867" cy="491067"/>
              <a:chOff x="5308600" y="2616200"/>
              <a:chExt cx="1557867" cy="491067"/>
            </a:xfrm>
          </p:grpSpPr>
          <p:cxnSp>
            <p:nvCxnSpPr>
              <p:cNvPr id="93" name="Straight Connector 92"/>
              <p:cNvCxnSpPr/>
              <p:nvPr/>
            </p:nvCxnSpPr>
            <p:spPr bwMode="auto">
              <a:xfrm flipH="1">
                <a:off x="5308600" y="2633133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4" name="Straight Connector 93"/>
              <p:cNvCxnSpPr/>
              <p:nvPr/>
            </p:nvCxnSpPr>
            <p:spPr bwMode="auto">
              <a:xfrm flipH="1">
                <a:off x="5511800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5" name="Straight Connector 94"/>
              <p:cNvCxnSpPr/>
              <p:nvPr/>
            </p:nvCxnSpPr>
            <p:spPr bwMode="auto">
              <a:xfrm flipH="1">
                <a:off x="6189131" y="2616200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6" name="Straight Connector 95"/>
              <p:cNvCxnSpPr/>
              <p:nvPr/>
            </p:nvCxnSpPr>
            <p:spPr bwMode="auto">
              <a:xfrm flipH="1">
                <a:off x="6409266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7" name="Straight Connector 96"/>
              <p:cNvCxnSpPr/>
              <p:nvPr/>
            </p:nvCxnSpPr>
            <p:spPr bwMode="auto">
              <a:xfrm flipH="1">
                <a:off x="6629400" y="2633134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8" name="Straight Connector 97"/>
              <p:cNvCxnSpPr/>
              <p:nvPr/>
            </p:nvCxnSpPr>
            <p:spPr bwMode="auto">
              <a:xfrm flipH="1">
                <a:off x="6858000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9" name="Straight Connector 98"/>
              <p:cNvCxnSpPr/>
              <p:nvPr/>
            </p:nvCxnSpPr>
            <p:spPr bwMode="auto">
              <a:xfrm flipH="1">
                <a:off x="5943600" y="2624667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0" name="Straight Connector 99"/>
              <p:cNvCxnSpPr/>
              <p:nvPr/>
            </p:nvCxnSpPr>
            <p:spPr bwMode="auto">
              <a:xfrm flipH="1">
                <a:off x="5731933" y="2624667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101" name="Group 100"/>
            <p:cNvGrpSpPr/>
            <p:nvPr/>
          </p:nvGrpSpPr>
          <p:grpSpPr>
            <a:xfrm>
              <a:off x="1346200" y="2125133"/>
              <a:ext cx="1557867" cy="491067"/>
              <a:chOff x="5308600" y="2616200"/>
              <a:chExt cx="1557867" cy="491067"/>
            </a:xfrm>
          </p:grpSpPr>
          <p:cxnSp>
            <p:nvCxnSpPr>
              <p:cNvPr id="102" name="Straight Connector 101"/>
              <p:cNvCxnSpPr/>
              <p:nvPr/>
            </p:nvCxnSpPr>
            <p:spPr bwMode="auto">
              <a:xfrm flipH="1">
                <a:off x="5308600" y="2633133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3" name="Straight Connector 102"/>
              <p:cNvCxnSpPr/>
              <p:nvPr/>
            </p:nvCxnSpPr>
            <p:spPr bwMode="auto">
              <a:xfrm flipH="1">
                <a:off x="5511800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4" name="Straight Connector 103"/>
              <p:cNvCxnSpPr/>
              <p:nvPr/>
            </p:nvCxnSpPr>
            <p:spPr bwMode="auto">
              <a:xfrm flipH="1">
                <a:off x="6189131" y="2616200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5" name="Straight Connector 104"/>
              <p:cNvCxnSpPr/>
              <p:nvPr/>
            </p:nvCxnSpPr>
            <p:spPr bwMode="auto">
              <a:xfrm flipH="1">
                <a:off x="6409266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6" name="Straight Connector 105"/>
              <p:cNvCxnSpPr/>
              <p:nvPr/>
            </p:nvCxnSpPr>
            <p:spPr bwMode="auto">
              <a:xfrm flipH="1">
                <a:off x="6629400" y="2633134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7" name="Straight Connector 106"/>
              <p:cNvCxnSpPr/>
              <p:nvPr/>
            </p:nvCxnSpPr>
            <p:spPr bwMode="auto">
              <a:xfrm flipH="1">
                <a:off x="6858000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8" name="Straight Connector 107"/>
              <p:cNvCxnSpPr/>
              <p:nvPr/>
            </p:nvCxnSpPr>
            <p:spPr bwMode="auto">
              <a:xfrm flipH="1">
                <a:off x="5943600" y="2624667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9" name="Straight Connector 108"/>
              <p:cNvCxnSpPr/>
              <p:nvPr/>
            </p:nvCxnSpPr>
            <p:spPr bwMode="auto">
              <a:xfrm flipH="1">
                <a:off x="5731933" y="2624667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110" name="Group 109"/>
            <p:cNvGrpSpPr/>
            <p:nvPr/>
          </p:nvGrpSpPr>
          <p:grpSpPr>
            <a:xfrm>
              <a:off x="1303866" y="1202269"/>
              <a:ext cx="1557867" cy="491067"/>
              <a:chOff x="5308600" y="2616200"/>
              <a:chExt cx="1557867" cy="491067"/>
            </a:xfrm>
          </p:grpSpPr>
          <p:cxnSp>
            <p:nvCxnSpPr>
              <p:cNvPr id="111" name="Straight Connector 110"/>
              <p:cNvCxnSpPr/>
              <p:nvPr/>
            </p:nvCxnSpPr>
            <p:spPr bwMode="auto">
              <a:xfrm flipH="1">
                <a:off x="5308600" y="2633133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2" name="Straight Connector 111"/>
              <p:cNvCxnSpPr/>
              <p:nvPr/>
            </p:nvCxnSpPr>
            <p:spPr bwMode="auto">
              <a:xfrm flipH="1">
                <a:off x="5511800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3" name="Straight Connector 112"/>
              <p:cNvCxnSpPr/>
              <p:nvPr/>
            </p:nvCxnSpPr>
            <p:spPr bwMode="auto">
              <a:xfrm flipH="1">
                <a:off x="6189131" y="2616200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4" name="Straight Connector 113"/>
              <p:cNvCxnSpPr/>
              <p:nvPr/>
            </p:nvCxnSpPr>
            <p:spPr bwMode="auto">
              <a:xfrm flipH="1">
                <a:off x="6409266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5" name="Straight Connector 114"/>
              <p:cNvCxnSpPr/>
              <p:nvPr/>
            </p:nvCxnSpPr>
            <p:spPr bwMode="auto">
              <a:xfrm flipH="1">
                <a:off x="6629400" y="2633134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6" name="Straight Connector 115"/>
              <p:cNvCxnSpPr/>
              <p:nvPr/>
            </p:nvCxnSpPr>
            <p:spPr bwMode="auto">
              <a:xfrm flipH="1">
                <a:off x="6858000" y="2624666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7" name="Straight Connector 116"/>
              <p:cNvCxnSpPr/>
              <p:nvPr/>
            </p:nvCxnSpPr>
            <p:spPr bwMode="auto">
              <a:xfrm flipH="1">
                <a:off x="5943600" y="2624667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8" name="Straight Connector 117"/>
              <p:cNvCxnSpPr/>
              <p:nvPr/>
            </p:nvCxnSpPr>
            <p:spPr bwMode="auto">
              <a:xfrm flipH="1">
                <a:off x="5731933" y="2624667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19" name="TextBox 118"/>
            <p:cNvSpPr txBox="1"/>
            <p:nvPr/>
          </p:nvSpPr>
          <p:spPr>
            <a:xfrm>
              <a:off x="1295400" y="3090334"/>
              <a:ext cx="170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bg1">
                      <a:lumMod val="60000"/>
                      <a:lumOff val="40000"/>
                    </a:schemeClr>
                  </a:solidFill>
                </a:rPr>
                <a:t>Copy Set </a:t>
              </a:r>
              <a:r>
                <a:rPr lang="en-US" dirty="0" smtClean="0">
                  <a:solidFill>
                    <a:srgbClr val="FF0000"/>
                  </a:solidFill>
                </a:rPr>
                <a:t>- </a:t>
              </a:r>
              <a:r>
                <a:rPr lang="en-US" dirty="0" err="1" smtClean="0">
                  <a:solidFill>
                    <a:srgbClr val="FF0000"/>
                  </a:solidFill>
                </a:rPr>
                <a:t>str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20800" y="2175934"/>
              <a:ext cx="170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336600"/>
                  </a:solidFill>
                </a:rPr>
                <a:t>Copy Set</a:t>
              </a:r>
              <a:endParaRPr lang="en-US" dirty="0">
                <a:solidFill>
                  <a:srgbClr val="336600"/>
                </a:solidFill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109133" y="4013201"/>
              <a:ext cx="21166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>
                  <a:solidFill>
                    <a:srgbClr val="2929FF"/>
                  </a:solidFill>
                </a:rPr>
                <a:t>Copy Set </a:t>
              </a:r>
              <a:r>
                <a:rPr lang="mr-IN" sz="1800" dirty="0" smtClean="0">
                  <a:solidFill>
                    <a:srgbClr val="FF0000"/>
                  </a:solidFill>
                </a:rPr>
                <a:t>–</a:t>
              </a:r>
              <a:r>
                <a:rPr lang="en-US" sz="1800" dirty="0" err="1" smtClean="0">
                  <a:solidFill>
                    <a:srgbClr val="FF0000"/>
                  </a:solidFill>
                </a:rPr>
                <a:t>str</a:t>
              </a:r>
              <a:r>
                <a:rPr lang="en-US" sz="1800" dirty="0" smtClean="0">
                  <a:solidFill>
                    <a:srgbClr val="FF0000"/>
                  </a:solidFill>
                </a:rPr>
                <a:t> + </a:t>
              </a:r>
              <a:r>
                <a:rPr lang="en-US" sz="1800" dirty="0" err="1" smtClean="0">
                  <a:solidFill>
                    <a:srgbClr val="FF0000"/>
                  </a:solidFill>
                </a:rPr>
                <a:t>str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70000" y="1253067"/>
              <a:ext cx="170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336600"/>
                  </a:solidFill>
                </a:rPr>
                <a:t>Original Set</a:t>
              </a:r>
              <a:endParaRPr lang="en-US" dirty="0">
                <a:solidFill>
                  <a:srgbClr val="336600"/>
                </a:solidFill>
              </a:endParaRPr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3081867" y="1202269"/>
            <a:ext cx="4682071" cy="2146639"/>
            <a:chOff x="3081867" y="1202269"/>
            <a:chExt cx="4682071" cy="2146639"/>
          </a:xfrm>
        </p:grpSpPr>
        <p:sp>
          <p:nvSpPr>
            <p:cNvPr id="28" name="Rounded Rectangle 27"/>
            <p:cNvSpPr/>
            <p:nvPr/>
          </p:nvSpPr>
          <p:spPr bwMode="auto">
            <a:xfrm>
              <a:off x="4732866" y="1210732"/>
              <a:ext cx="1972734" cy="491067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0" name="Rounded Rectangle 29"/>
            <p:cNvSpPr/>
            <p:nvPr/>
          </p:nvSpPr>
          <p:spPr bwMode="auto">
            <a:xfrm>
              <a:off x="7289806" y="1219202"/>
              <a:ext cx="448733" cy="491067"/>
            </a:xfrm>
            <a:prstGeom prst="roundRect">
              <a:avLst/>
            </a:prstGeom>
            <a:solidFill>
              <a:srgbClr val="BFB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64406" y="1227668"/>
              <a:ext cx="4995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FF0000"/>
                  </a:solidFill>
                </a:rPr>
                <a:t>s</a:t>
              </a:r>
              <a:r>
                <a:rPr lang="en-US" dirty="0" err="1" smtClean="0">
                  <a:solidFill>
                    <a:srgbClr val="FF0000"/>
                  </a:solidFill>
                </a:rPr>
                <a:t>tr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4893732" y="1202269"/>
              <a:ext cx="1761067" cy="491067"/>
              <a:chOff x="4893732" y="1151467"/>
              <a:chExt cx="1761067" cy="491067"/>
            </a:xfrm>
          </p:grpSpPr>
          <p:cxnSp>
            <p:nvCxnSpPr>
              <p:cNvPr id="33" name="Straight Connector 32"/>
              <p:cNvCxnSpPr/>
              <p:nvPr/>
            </p:nvCxnSpPr>
            <p:spPr bwMode="auto">
              <a:xfrm flipH="1">
                <a:off x="4919133" y="1168400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4" name="Straight Connector 33"/>
              <p:cNvCxnSpPr/>
              <p:nvPr/>
            </p:nvCxnSpPr>
            <p:spPr bwMode="auto">
              <a:xfrm flipH="1">
                <a:off x="5122333" y="1159933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5" name="Straight Connector 34"/>
              <p:cNvCxnSpPr/>
              <p:nvPr/>
            </p:nvCxnSpPr>
            <p:spPr bwMode="auto">
              <a:xfrm flipH="1">
                <a:off x="5799664" y="1151467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6" name="Straight Connector 35"/>
              <p:cNvCxnSpPr/>
              <p:nvPr/>
            </p:nvCxnSpPr>
            <p:spPr bwMode="auto">
              <a:xfrm flipH="1">
                <a:off x="6019799" y="1159933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7" name="Straight Connector 36"/>
              <p:cNvCxnSpPr/>
              <p:nvPr/>
            </p:nvCxnSpPr>
            <p:spPr bwMode="auto">
              <a:xfrm flipH="1">
                <a:off x="6239933" y="1168401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8" name="Straight Connector 37"/>
              <p:cNvCxnSpPr/>
              <p:nvPr/>
            </p:nvCxnSpPr>
            <p:spPr bwMode="auto">
              <a:xfrm flipH="1">
                <a:off x="6468533" y="1159933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0" name="Straight Connector 39"/>
              <p:cNvCxnSpPr/>
              <p:nvPr/>
            </p:nvCxnSpPr>
            <p:spPr bwMode="auto">
              <a:xfrm flipH="1">
                <a:off x="5554133" y="1159934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1" name="Straight Connector 40"/>
              <p:cNvCxnSpPr/>
              <p:nvPr/>
            </p:nvCxnSpPr>
            <p:spPr bwMode="auto">
              <a:xfrm flipH="1">
                <a:off x="5342466" y="1159934"/>
                <a:ext cx="8467" cy="4741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29" name="TextBox 28"/>
              <p:cNvSpPr txBox="1"/>
              <p:nvPr/>
            </p:nvSpPr>
            <p:spPr>
              <a:xfrm>
                <a:off x="4893732" y="1202264"/>
                <a:ext cx="17610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336600"/>
                    </a:solidFill>
                  </a:rPr>
                  <a:t>Set</a:t>
                </a:r>
                <a:endParaRPr lang="en-US" dirty="0">
                  <a:solidFill>
                    <a:srgbClr val="336600"/>
                  </a:solidFill>
                </a:endParaRPr>
              </a:p>
            </p:txBody>
          </p:sp>
        </p:grpSp>
        <p:cxnSp>
          <p:nvCxnSpPr>
            <p:cNvPr id="124" name="Straight Arrow Connector 123"/>
            <p:cNvCxnSpPr>
              <a:stCxn id="28" idx="1"/>
              <a:endCxn id="7" idx="3"/>
            </p:cNvCxnSpPr>
            <p:nvPr/>
          </p:nvCxnSpPr>
          <p:spPr bwMode="auto">
            <a:xfrm flipH="1">
              <a:off x="3081867" y="1456266"/>
              <a:ext cx="1650999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  <a:headEnd type="none" w="sm" len="sm"/>
              <a:tailEnd type="arrow"/>
            </a:ln>
            <a:effectLst/>
          </p:spPr>
        </p:cxnSp>
        <p:sp>
          <p:nvSpPr>
            <p:cNvPr id="126" name="TextBox 125"/>
            <p:cNvSpPr txBox="1"/>
            <p:nvPr/>
          </p:nvSpPr>
          <p:spPr>
            <a:xfrm>
              <a:off x="6781799" y="1210733"/>
              <a:ext cx="347133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>
                  <a:latin typeface="Arial Black"/>
                  <a:cs typeface="Arial Black"/>
                </a:rPr>
                <a:t>+</a:t>
              </a:r>
              <a:endParaRPr lang="en-US" sz="3200" dirty="0">
                <a:latin typeface="Arial Black"/>
                <a:cs typeface="Arial Black"/>
              </a:endParaRPr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3124200" y="1710267"/>
              <a:ext cx="4388925" cy="1638641"/>
            </a:xfrm>
            <a:custGeom>
              <a:avLst/>
              <a:gdLst>
                <a:gd name="connsiteX0" fmla="*/ 4377267 w 4388925"/>
                <a:gd name="connsiteY0" fmla="*/ 0 h 1638641"/>
                <a:gd name="connsiteX1" fmla="*/ 4106333 w 4388925"/>
                <a:gd name="connsiteY1" fmla="*/ 448733 h 1638641"/>
                <a:gd name="connsiteX2" fmla="*/ 2480733 w 4388925"/>
                <a:gd name="connsiteY2" fmla="*/ 423333 h 1638641"/>
                <a:gd name="connsiteX3" fmla="*/ 1811867 w 4388925"/>
                <a:gd name="connsiteY3" fmla="*/ 1244600 h 1638641"/>
                <a:gd name="connsiteX4" fmla="*/ 821267 w 4388925"/>
                <a:gd name="connsiteY4" fmla="*/ 1608666 h 1638641"/>
                <a:gd name="connsiteX5" fmla="*/ 0 w 4388925"/>
                <a:gd name="connsiteY5" fmla="*/ 1617133 h 1638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88925" h="1638641">
                  <a:moveTo>
                    <a:pt x="4377267" y="0"/>
                  </a:moveTo>
                  <a:cubicBezTo>
                    <a:pt x="4399844" y="189089"/>
                    <a:pt x="4422422" y="378178"/>
                    <a:pt x="4106333" y="448733"/>
                  </a:cubicBezTo>
                  <a:cubicBezTo>
                    <a:pt x="3790244" y="519288"/>
                    <a:pt x="2863144" y="290689"/>
                    <a:pt x="2480733" y="423333"/>
                  </a:cubicBezTo>
                  <a:cubicBezTo>
                    <a:pt x="2098322" y="555978"/>
                    <a:pt x="2088445" y="1047045"/>
                    <a:pt x="1811867" y="1244600"/>
                  </a:cubicBezTo>
                  <a:cubicBezTo>
                    <a:pt x="1535289" y="1442155"/>
                    <a:pt x="1123245" y="1546577"/>
                    <a:pt x="821267" y="1608666"/>
                  </a:cubicBezTo>
                  <a:cubicBezTo>
                    <a:pt x="519289" y="1670755"/>
                    <a:pt x="0" y="1617133"/>
                    <a:pt x="0" y="1617133"/>
                  </a:cubicBezTo>
                </a:path>
              </a:pathLst>
            </a:custGeom>
            <a:noFill/>
            <a:ln w="38100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  <a:headEnd type="none" w="sm" len="sm"/>
              <a:tailEnd type="arrow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211" name="Group 210"/>
          <p:cNvGrpSpPr/>
          <p:nvPr/>
        </p:nvGrpSpPr>
        <p:grpSpPr>
          <a:xfrm>
            <a:off x="5528734" y="2607735"/>
            <a:ext cx="3064938" cy="2913107"/>
            <a:chOff x="5528734" y="2607735"/>
            <a:chExt cx="3064938" cy="2913107"/>
          </a:xfrm>
        </p:grpSpPr>
        <p:grpSp>
          <p:nvGrpSpPr>
            <p:cNvPr id="143" name="Group 142"/>
            <p:cNvGrpSpPr/>
            <p:nvPr/>
          </p:nvGrpSpPr>
          <p:grpSpPr>
            <a:xfrm>
              <a:off x="5562600" y="2607735"/>
              <a:ext cx="3031072" cy="593240"/>
              <a:chOff x="5274733" y="3251202"/>
              <a:chExt cx="3031072" cy="593240"/>
            </a:xfrm>
          </p:grpSpPr>
          <p:sp>
            <p:nvSpPr>
              <p:cNvPr id="129" name="Rounded Rectangle 128"/>
              <p:cNvSpPr/>
              <p:nvPr/>
            </p:nvSpPr>
            <p:spPr bwMode="auto">
              <a:xfrm>
                <a:off x="5274733" y="3259665"/>
                <a:ext cx="1972734" cy="491067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rgbClr val="FAFD00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30" name="Rounded Rectangle 129"/>
              <p:cNvSpPr/>
              <p:nvPr/>
            </p:nvSpPr>
            <p:spPr bwMode="auto">
              <a:xfrm>
                <a:off x="7831673" y="3268135"/>
                <a:ext cx="448733" cy="491067"/>
              </a:xfrm>
              <a:prstGeom prst="roundRect">
                <a:avLst/>
              </a:prstGeom>
              <a:solidFill>
                <a:srgbClr val="BFBF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rgbClr val="FAFD00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7806273" y="3276601"/>
                <a:ext cx="4995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rgbClr val="FF0000"/>
                    </a:solidFill>
                  </a:rPr>
                  <a:t>s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tr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32" name="Group 131"/>
              <p:cNvGrpSpPr/>
              <p:nvPr/>
            </p:nvGrpSpPr>
            <p:grpSpPr>
              <a:xfrm>
                <a:off x="5435599" y="3251202"/>
                <a:ext cx="1761067" cy="491067"/>
                <a:chOff x="4893732" y="1151467"/>
                <a:chExt cx="1761067" cy="491067"/>
              </a:xfrm>
            </p:grpSpPr>
            <p:cxnSp>
              <p:nvCxnSpPr>
                <p:cNvPr id="133" name="Straight Connector 132"/>
                <p:cNvCxnSpPr/>
                <p:nvPr/>
              </p:nvCxnSpPr>
              <p:spPr bwMode="auto">
                <a:xfrm flipH="1">
                  <a:off x="4919133" y="1168400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4" name="Straight Connector 133"/>
                <p:cNvCxnSpPr/>
                <p:nvPr/>
              </p:nvCxnSpPr>
              <p:spPr bwMode="auto">
                <a:xfrm flipH="1">
                  <a:off x="5122333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5" name="Straight Connector 134"/>
                <p:cNvCxnSpPr/>
                <p:nvPr/>
              </p:nvCxnSpPr>
              <p:spPr bwMode="auto">
                <a:xfrm flipH="1">
                  <a:off x="5799664" y="1151467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6" name="Straight Connector 135"/>
                <p:cNvCxnSpPr/>
                <p:nvPr/>
              </p:nvCxnSpPr>
              <p:spPr bwMode="auto">
                <a:xfrm flipH="1">
                  <a:off x="6019799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7" name="Straight Connector 136"/>
                <p:cNvCxnSpPr/>
                <p:nvPr/>
              </p:nvCxnSpPr>
              <p:spPr bwMode="auto">
                <a:xfrm flipH="1">
                  <a:off x="6239933" y="1168401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8" name="Straight Connector 137"/>
                <p:cNvCxnSpPr/>
                <p:nvPr/>
              </p:nvCxnSpPr>
              <p:spPr bwMode="auto">
                <a:xfrm flipH="1">
                  <a:off x="6468533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9" name="Straight Connector 138"/>
                <p:cNvCxnSpPr/>
                <p:nvPr/>
              </p:nvCxnSpPr>
              <p:spPr bwMode="auto">
                <a:xfrm flipH="1">
                  <a:off x="5554133" y="1159934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40" name="Straight Connector 139"/>
                <p:cNvCxnSpPr/>
                <p:nvPr/>
              </p:nvCxnSpPr>
              <p:spPr bwMode="auto">
                <a:xfrm flipH="1">
                  <a:off x="5342466" y="1159934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41" name="TextBox 140"/>
                <p:cNvSpPr txBox="1"/>
                <p:nvPr/>
              </p:nvSpPr>
              <p:spPr>
                <a:xfrm>
                  <a:off x="4893732" y="1202264"/>
                  <a:ext cx="176106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solidFill>
                        <a:srgbClr val="336600"/>
                      </a:solidFill>
                    </a:rPr>
                    <a:t>Set</a:t>
                  </a:r>
                  <a:endParaRPr lang="en-US" dirty="0">
                    <a:solidFill>
                      <a:srgbClr val="336600"/>
                    </a:solidFill>
                  </a:endParaRPr>
                </a:p>
              </p:txBody>
            </p:sp>
          </p:grpSp>
          <p:sp>
            <p:nvSpPr>
              <p:cNvPr id="142" name="TextBox 141"/>
              <p:cNvSpPr txBox="1"/>
              <p:nvPr/>
            </p:nvSpPr>
            <p:spPr>
              <a:xfrm>
                <a:off x="7323666" y="3259666"/>
                <a:ext cx="347133" cy="58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>
                    <a:latin typeface="Arial Black"/>
                    <a:cs typeface="Arial Black"/>
                  </a:rPr>
                  <a:t>+</a:t>
                </a:r>
                <a:endParaRPr lang="en-US" sz="3200" dirty="0">
                  <a:latin typeface="Arial Black"/>
                  <a:cs typeface="Arial Black"/>
                </a:endParaRP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5554133" y="3175002"/>
              <a:ext cx="3031072" cy="593240"/>
              <a:chOff x="5274733" y="3251202"/>
              <a:chExt cx="3031072" cy="593240"/>
            </a:xfrm>
          </p:grpSpPr>
          <p:sp>
            <p:nvSpPr>
              <p:cNvPr id="145" name="Rounded Rectangle 144"/>
              <p:cNvSpPr/>
              <p:nvPr/>
            </p:nvSpPr>
            <p:spPr bwMode="auto">
              <a:xfrm>
                <a:off x="5274733" y="3259665"/>
                <a:ext cx="1972734" cy="491067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rgbClr val="FAFD00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46" name="Rounded Rectangle 145"/>
              <p:cNvSpPr/>
              <p:nvPr/>
            </p:nvSpPr>
            <p:spPr bwMode="auto">
              <a:xfrm>
                <a:off x="7831673" y="3268135"/>
                <a:ext cx="448733" cy="491067"/>
              </a:xfrm>
              <a:prstGeom prst="roundRect">
                <a:avLst/>
              </a:prstGeom>
              <a:solidFill>
                <a:srgbClr val="BFBF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rgbClr val="FAFD00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>
                <a:off x="7806273" y="3276601"/>
                <a:ext cx="4995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rgbClr val="FF0000"/>
                    </a:solidFill>
                  </a:rPr>
                  <a:t>s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tr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48" name="Group 147"/>
              <p:cNvGrpSpPr/>
              <p:nvPr/>
            </p:nvGrpSpPr>
            <p:grpSpPr>
              <a:xfrm>
                <a:off x="5435599" y="3251202"/>
                <a:ext cx="1761067" cy="491067"/>
                <a:chOff x="4893732" y="1151467"/>
                <a:chExt cx="1761067" cy="491067"/>
              </a:xfrm>
            </p:grpSpPr>
            <p:cxnSp>
              <p:nvCxnSpPr>
                <p:cNvPr id="150" name="Straight Connector 149"/>
                <p:cNvCxnSpPr/>
                <p:nvPr/>
              </p:nvCxnSpPr>
              <p:spPr bwMode="auto">
                <a:xfrm flipH="1">
                  <a:off x="4919133" y="1168400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1" name="Straight Connector 150"/>
                <p:cNvCxnSpPr/>
                <p:nvPr/>
              </p:nvCxnSpPr>
              <p:spPr bwMode="auto">
                <a:xfrm flipH="1">
                  <a:off x="5122333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2" name="Straight Connector 151"/>
                <p:cNvCxnSpPr/>
                <p:nvPr/>
              </p:nvCxnSpPr>
              <p:spPr bwMode="auto">
                <a:xfrm flipH="1">
                  <a:off x="5799664" y="1151467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3" name="Straight Connector 152"/>
                <p:cNvCxnSpPr/>
                <p:nvPr/>
              </p:nvCxnSpPr>
              <p:spPr bwMode="auto">
                <a:xfrm flipH="1">
                  <a:off x="6019799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4" name="Straight Connector 153"/>
                <p:cNvCxnSpPr/>
                <p:nvPr/>
              </p:nvCxnSpPr>
              <p:spPr bwMode="auto">
                <a:xfrm flipH="1">
                  <a:off x="6239933" y="1168401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5" name="Straight Connector 154"/>
                <p:cNvCxnSpPr/>
                <p:nvPr/>
              </p:nvCxnSpPr>
              <p:spPr bwMode="auto">
                <a:xfrm flipH="1">
                  <a:off x="6468533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6" name="Straight Connector 155"/>
                <p:cNvCxnSpPr/>
                <p:nvPr/>
              </p:nvCxnSpPr>
              <p:spPr bwMode="auto">
                <a:xfrm flipH="1">
                  <a:off x="5554133" y="1159934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7" name="Straight Connector 156"/>
                <p:cNvCxnSpPr/>
                <p:nvPr/>
              </p:nvCxnSpPr>
              <p:spPr bwMode="auto">
                <a:xfrm flipH="1">
                  <a:off x="5342466" y="1159934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58" name="TextBox 157"/>
                <p:cNvSpPr txBox="1"/>
                <p:nvPr/>
              </p:nvSpPr>
              <p:spPr>
                <a:xfrm>
                  <a:off x="4893732" y="1202264"/>
                  <a:ext cx="176106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solidFill>
                        <a:srgbClr val="336600"/>
                      </a:solidFill>
                    </a:rPr>
                    <a:t>Set</a:t>
                  </a:r>
                  <a:endParaRPr lang="en-US" dirty="0">
                    <a:solidFill>
                      <a:srgbClr val="336600"/>
                    </a:solidFill>
                  </a:endParaRPr>
                </a:p>
              </p:txBody>
            </p:sp>
          </p:grpSp>
          <p:sp>
            <p:nvSpPr>
              <p:cNvPr id="149" name="TextBox 148"/>
              <p:cNvSpPr txBox="1"/>
              <p:nvPr/>
            </p:nvSpPr>
            <p:spPr>
              <a:xfrm>
                <a:off x="7323666" y="3259666"/>
                <a:ext cx="347133" cy="58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>
                    <a:latin typeface="Arial Black"/>
                    <a:cs typeface="Arial Black"/>
                  </a:rPr>
                  <a:t>+</a:t>
                </a:r>
                <a:endParaRPr lang="en-US" sz="3200" dirty="0">
                  <a:latin typeface="Arial Black"/>
                  <a:cs typeface="Arial Black"/>
                </a:endParaRPr>
              </a:p>
            </p:txBody>
          </p:sp>
        </p:grpSp>
        <p:grpSp>
          <p:nvGrpSpPr>
            <p:cNvPr id="159" name="Group 158"/>
            <p:cNvGrpSpPr/>
            <p:nvPr/>
          </p:nvGrpSpPr>
          <p:grpSpPr>
            <a:xfrm>
              <a:off x="5545667" y="3742268"/>
              <a:ext cx="3031072" cy="593240"/>
              <a:chOff x="5274733" y="3251202"/>
              <a:chExt cx="3031072" cy="593240"/>
            </a:xfrm>
          </p:grpSpPr>
          <p:sp>
            <p:nvSpPr>
              <p:cNvPr id="160" name="Rounded Rectangle 159"/>
              <p:cNvSpPr/>
              <p:nvPr/>
            </p:nvSpPr>
            <p:spPr bwMode="auto">
              <a:xfrm>
                <a:off x="5274733" y="3259665"/>
                <a:ext cx="1972734" cy="491067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rgbClr val="FAFD00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61" name="Rounded Rectangle 160"/>
              <p:cNvSpPr/>
              <p:nvPr/>
            </p:nvSpPr>
            <p:spPr bwMode="auto">
              <a:xfrm>
                <a:off x="7831673" y="3268135"/>
                <a:ext cx="448733" cy="491067"/>
              </a:xfrm>
              <a:prstGeom prst="roundRect">
                <a:avLst/>
              </a:prstGeom>
              <a:solidFill>
                <a:srgbClr val="BFBF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rgbClr val="FAFD00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62" name="TextBox 161"/>
              <p:cNvSpPr txBox="1"/>
              <p:nvPr/>
            </p:nvSpPr>
            <p:spPr>
              <a:xfrm>
                <a:off x="7806273" y="3276601"/>
                <a:ext cx="4995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rgbClr val="FF0000"/>
                    </a:solidFill>
                  </a:rPr>
                  <a:t>s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tr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63" name="Group 162"/>
              <p:cNvGrpSpPr/>
              <p:nvPr/>
            </p:nvGrpSpPr>
            <p:grpSpPr>
              <a:xfrm>
                <a:off x="5435599" y="3251202"/>
                <a:ext cx="1761067" cy="491067"/>
                <a:chOff x="4893732" y="1151467"/>
                <a:chExt cx="1761067" cy="491067"/>
              </a:xfrm>
            </p:grpSpPr>
            <p:cxnSp>
              <p:nvCxnSpPr>
                <p:cNvPr id="165" name="Straight Connector 164"/>
                <p:cNvCxnSpPr/>
                <p:nvPr/>
              </p:nvCxnSpPr>
              <p:spPr bwMode="auto">
                <a:xfrm flipH="1">
                  <a:off x="4919133" y="1168400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6" name="Straight Connector 165"/>
                <p:cNvCxnSpPr/>
                <p:nvPr/>
              </p:nvCxnSpPr>
              <p:spPr bwMode="auto">
                <a:xfrm flipH="1">
                  <a:off x="5122333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7" name="Straight Connector 166"/>
                <p:cNvCxnSpPr/>
                <p:nvPr/>
              </p:nvCxnSpPr>
              <p:spPr bwMode="auto">
                <a:xfrm flipH="1">
                  <a:off x="5799664" y="1151467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8" name="Straight Connector 167"/>
                <p:cNvCxnSpPr/>
                <p:nvPr/>
              </p:nvCxnSpPr>
              <p:spPr bwMode="auto">
                <a:xfrm flipH="1">
                  <a:off x="6019799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9" name="Straight Connector 168"/>
                <p:cNvCxnSpPr/>
                <p:nvPr/>
              </p:nvCxnSpPr>
              <p:spPr bwMode="auto">
                <a:xfrm flipH="1">
                  <a:off x="6239933" y="1168401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70" name="Straight Connector 169"/>
                <p:cNvCxnSpPr/>
                <p:nvPr/>
              </p:nvCxnSpPr>
              <p:spPr bwMode="auto">
                <a:xfrm flipH="1">
                  <a:off x="6468533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71" name="Straight Connector 170"/>
                <p:cNvCxnSpPr/>
                <p:nvPr/>
              </p:nvCxnSpPr>
              <p:spPr bwMode="auto">
                <a:xfrm flipH="1">
                  <a:off x="5554133" y="1159934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72" name="Straight Connector 171"/>
                <p:cNvCxnSpPr/>
                <p:nvPr/>
              </p:nvCxnSpPr>
              <p:spPr bwMode="auto">
                <a:xfrm flipH="1">
                  <a:off x="5342466" y="1159934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73" name="TextBox 172"/>
                <p:cNvSpPr txBox="1"/>
                <p:nvPr/>
              </p:nvSpPr>
              <p:spPr>
                <a:xfrm>
                  <a:off x="4893732" y="1202264"/>
                  <a:ext cx="176106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solidFill>
                        <a:srgbClr val="336600"/>
                      </a:solidFill>
                    </a:rPr>
                    <a:t>Set</a:t>
                  </a:r>
                  <a:endParaRPr lang="en-US" dirty="0">
                    <a:solidFill>
                      <a:srgbClr val="336600"/>
                    </a:solidFill>
                  </a:endParaRPr>
                </a:p>
              </p:txBody>
            </p:sp>
          </p:grpSp>
          <p:sp>
            <p:nvSpPr>
              <p:cNvPr id="164" name="TextBox 163"/>
              <p:cNvSpPr txBox="1"/>
              <p:nvPr/>
            </p:nvSpPr>
            <p:spPr>
              <a:xfrm>
                <a:off x="7323666" y="3259666"/>
                <a:ext cx="347133" cy="58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>
                    <a:latin typeface="Arial Black"/>
                    <a:cs typeface="Arial Black"/>
                  </a:rPr>
                  <a:t>+</a:t>
                </a:r>
                <a:endParaRPr lang="en-US" sz="3200" dirty="0">
                  <a:latin typeface="Arial Black"/>
                  <a:cs typeface="Arial Black"/>
                </a:endParaRPr>
              </a:p>
            </p:txBody>
          </p:sp>
        </p:grpSp>
        <p:grpSp>
          <p:nvGrpSpPr>
            <p:cNvPr id="174" name="Group 173"/>
            <p:cNvGrpSpPr/>
            <p:nvPr/>
          </p:nvGrpSpPr>
          <p:grpSpPr>
            <a:xfrm>
              <a:off x="5545667" y="4343402"/>
              <a:ext cx="3031072" cy="593240"/>
              <a:chOff x="5274733" y="3251202"/>
              <a:chExt cx="3031072" cy="593240"/>
            </a:xfrm>
          </p:grpSpPr>
          <p:sp>
            <p:nvSpPr>
              <p:cNvPr id="175" name="Rounded Rectangle 174"/>
              <p:cNvSpPr/>
              <p:nvPr/>
            </p:nvSpPr>
            <p:spPr bwMode="auto">
              <a:xfrm>
                <a:off x="5274733" y="3259665"/>
                <a:ext cx="1972734" cy="491067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rgbClr val="FAFD00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76" name="Rounded Rectangle 175"/>
              <p:cNvSpPr/>
              <p:nvPr/>
            </p:nvSpPr>
            <p:spPr bwMode="auto">
              <a:xfrm>
                <a:off x="7831673" y="3268135"/>
                <a:ext cx="448733" cy="491067"/>
              </a:xfrm>
              <a:prstGeom prst="roundRect">
                <a:avLst/>
              </a:prstGeom>
              <a:solidFill>
                <a:srgbClr val="BFBF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rgbClr val="FAFD00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77" name="TextBox 176"/>
              <p:cNvSpPr txBox="1"/>
              <p:nvPr/>
            </p:nvSpPr>
            <p:spPr>
              <a:xfrm>
                <a:off x="7806273" y="3276601"/>
                <a:ext cx="4995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rgbClr val="FF0000"/>
                    </a:solidFill>
                  </a:rPr>
                  <a:t>s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tr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78" name="Group 177"/>
              <p:cNvGrpSpPr/>
              <p:nvPr/>
            </p:nvGrpSpPr>
            <p:grpSpPr>
              <a:xfrm>
                <a:off x="5435599" y="3251202"/>
                <a:ext cx="1761067" cy="491067"/>
                <a:chOff x="4893732" y="1151467"/>
                <a:chExt cx="1761067" cy="491067"/>
              </a:xfrm>
            </p:grpSpPr>
            <p:cxnSp>
              <p:nvCxnSpPr>
                <p:cNvPr id="180" name="Straight Connector 179"/>
                <p:cNvCxnSpPr/>
                <p:nvPr/>
              </p:nvCxnSpPr>
              <p:spPr bwMode="auto">
                <a:xfrm flipH="1">
                  <a:off x="4919133" y="1168400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1" name="Straight Connector 180"/>
                <p:cNvCxnSpPr/>
                <p:nvPr/>
              </p:nvCxnSpPr>
              <p:spPr bwMode="auto">
                <a:xfrm flipH="1">
                  <a:off x="5122333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2" name="Straight Connector 181"/>
                <p:cNvCxnSpPr/>
                <p:nvPr/>
              </p:nvCxnSpPr>
              <p:spPr bwMode="auto">
                <a:xfrm flipH="1">
                  <a:off x="5799664" y="1151467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3" name="Straight Connector 182"/>
                <p:cNvCxnSpPr/>
                <p:nvPr/>
              </p:nvCxnSpPr>
              <p:spPr bwMode="auto">
                <a:xfrm flipH="1">
                  <a:off x="6019799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4" name="Straight Connector 183"/>
                <p:cNvCxnSpPr/>
                <p:nvPr/>
              </p:nvCxnSpPr>
              <p:spPr bwMode="auto">
                <a:xfrm flipH="1">
                  <a:off x="6239933" y="1168401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5" name="Straight Connector 184"/>
                <p:cNvCxnSpPr/>
                <p:nvPr/>
              </p:nvCxnSpPr>
              <p:spPr bwMode="auto">
                <a:xfrm flipH="1">
                  <a:off x="6468533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6" name="Straight Connector 185"/>
                <p:cNvCxnSpPr/>
                <p:nvPr/>
              </p:nvCxnSpPr>
              <p:spPr bwMode="auto">
                <a:xfrm flipH="1">
                  <a:off x="5554133" y="1159934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7" name="Straight Connector 186"/>
                <p:cNvCxnSpPr/>
                <p:nvPr/>
              </p:nvCxnSpPr>
              <p:spPr bwMode="auto">
                <a:xfrm flipH="1">
                  <a:off x="5342466" y="1159934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88" name="TextBox 187"/>
                <p:cNvSpPr txBox="1"/>
                <p:nvPr/>
              </p:nvSpPr>
              <p:spPr>
                <a:xfrm>
                  <a:off x="4893732" y="1202264"/>
                  <a:ext cx="176106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solidFill>
                        <a:srgbClr val="336600"/>
                      </a:solidFill>
                    </a:rPr>
                    <a:t>Set</a:t>
                  </a:r>
                  <a:endParaRPr lang="en-US" dirty="0">
                    <a:solidFill>
                      <a:srgbClr val="336600"/>
                    </a:solidFill>
                  </a:endParaRPr>
                </a:p>
              </p:txBody>
            </p:sp>
          </p:grpSp>
          <p:sp>
            <p:nvSpPr>
              <p:cNvPr id="179" name="TextBox 178"/>
              <p:cNvSpPr txBox="1"/>
              <p:nvPr/>
            </p:nvSpPr>
            <p:spPr>
              <a:xfrm>
                <a:off x="7323666" y="3259666"/>
                <a:ext cx="347133" cy="58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>
                    <a:latin typeface="Arial Black"/>
                    <a:cs typeface="Arial Black"/>
                  </a:rPr>
                  <a:t>+</a:t>
                </a:r>
                <a:endParaRPr lang="en-US" sz="3200" dirty="0">
                  <a:latin typeface="Arial Black"/>
                  <a:cs typeface="Arial Black"/>
                </a:endParaRPr>
              </a:p>
            </p:txBody>
          </p:sp>
        </p:grpSp>
        <p:grpSp>
          <p:nvGrpSpPr>
            <p:cNvPr id="189" name="Group 188"/>
            <p:cNvGrpSpPr/>
            <p:nvPr/>
          </p:nvGrpSpPr>
          <p:grpSpPr>
            <a:xfrm>
              <a:off x="5528734" y="4927602"/>
              <a:ext cx="3031072" cy="593240"/>
              <a:chOff x="5274733" y="3251202"/>
              <a:chExt cx="3031072" cy="593240"/>
            </a:xfrm>
          </p:grpSpPr>
          <p:sp>
            <p:nvSpPr>
              <p:cNvPr id="190" name="Rounded Rectangle 189"/>
              <p:cNvSpPr/>
              <p:nvPr/>
            </p:nvSpPr>
            <p:spPr bwMode="auto">
              <a:xfrm>
                <a:off x="5274733" y="3259665"/>
                <a:ext cx="1972734" cy="491067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rgbClr val="FAFD00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91" name="Rounded Rectangle 190"/>
              <p:cNvSpPr/>
              <p:nvPr/>
            </p:nvSpPr>
            <p:spPr bwMode="auto">
              <a:xfrm>
                <a:off x="7831673" y="3268135"/>
                <a:ext cx="448733" cy="491067"/>
              </a:xfrm>
              <a:prstGeom prst="roundRect">
                <a:avLst/>
              </a:prstGeom>
              <a:solidFill>
                <a:srgbClr val="BFBF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rgbClr val="FAFD00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92" name="TextBox 191"/>
              <p:cNvSpPr txBox="1"/>
              <p:nvPr/>
            </p:nvSpPr>
            <p:spPr>
              <a:xfrm>
                <a:off x="7806273" y="3276601"/>
                <a:ext cx="4995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rgbClr val="FF0000"/>
                    </a:solidFill>
                  </a:rPr>
                  <a:t>s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tr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93" name="Group 192"/>
              <p:cNvGrpSpPr/>
              <p:nvPr/>
            </p:nvGrpSpPr>
            <p:grpSpPr>
              <a:xfrm>
                <a:off x="5435599" y="3251202"/>
                <a:ext cx="1761067" cy="491067"/>
                <a:chOff x="4893732" y="1151467"/>
                <a:chExt cx="1761067" cy="491067"/>
              </a:xfrm>
            </p:grpSpPr>
            <p:cxnSp>
              <p:nvCxnSpPr>
                <p:cNvPr id="195" name="Straight Connector 194"/>
                <p:cNvCxnSpPr/>
                <p:nvPr/>
              </p:nvCxnSpPr>
              <p:spPr bwMode="auto">
                <a:xfrm flipH="1">
                  <a:off x="4919133" y="1168400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96" name="Straight Connector 195"/>
                <p:cNvCxnSpPr/>
                <p:nvPr/>
              </p:nvCxnSpPr>
              <p:spPr bwMode="auto">
                <a:xfrm flipH="1">
                  <a:off x="5122333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97" name="Straight Connector 196"/>
                <p:cNvCxnSpPr/>
                <p:nvPr/>
              </p:nvCxnSpPr>
              <p:spPr bwMode="auto">
                <a:xfrm flipH="1">
                  <a:off x="5799664" y="1151467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98" name="Straight Connector 197"/>
                <p:cNvCxnSpPr/>
                <p:nvPr/>
              </p:nvCxnSpPr>
              <p:spPr bwMode="auto">
                <a:xfrm flipH="1">
                  <a:off x="6019799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99" name="Straight Connector 198"/>
                <p:cNvCxnSpPr/>
                <p:nvPr/>
              </p:nvCxnSpPr>
              <p:spPr bwMode="auto">
                <a:xfrm flipH="1">
                  <a:off x="6239933" y="1168401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00" name="Straight Connector 199"/>
                <p:cNvCxnSpPr/>
                <p:nvPr/>
              </p:nvCxnSpPr>
              <p:spPr bwMode="auto">
                <a:xfrm flipH="1">
                  <a:off x="6468533" y="1159933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01" name="Straight Connector 200"/>
                <p:cNvCxnSpPr/>
                <p:nvPr/>
              </p:nvCxnSpPr>
              <p:spPr bwMode="auto">
                <a:xfrm flipH="1">
                  <a:off x="5554133" y="1159934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02" name="Straight Connector 201"/>
                <p:cNvCxnSpPr/>
                <p:nvPr/>
              </p:nvCxnSpPr>
              <p:spPr bwMode="auto">
                <a:xfrm flipH="1">
                  <a:off x="5342466" y="1159934"/>
                  <a:ext cx="8467" cy="47413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203" name="TextBox 202"/>
                <p:cNvSpPr txBox="1"/>
                <p:nvPr/>
              </p:nvSpPr>
              <p:spPr>
                <a:xfrm>
                  <a:off x="4893732" y="1202264"/>
                  <a:ext cx="176106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solidFill>
                        <a:srgbClr val="336600"/>
                      </a:solidFill>
                    </a:rPr>
                    <a:t>Set</a:t>
                  </a:r>
                  <a:endParaRPr lang="en-US" dirty="0">
                    <a:solidFill>
                      <a:srgbClr val="336600"/>
                    </a:solidFill>
                  </a:endParaRPr>
                </a:p>
              </p:txBody>
            </p:sp>
          </p:grpSp>
          <p:sp>
            <p:nvSpPr>
              <p:cNvPr id="194" name="TextBox 193"/>
              <p:cNvSpPr txBox="1"/>
              <p:nvPr/>
            </p:nvSpPr>
            <p:spPr>
              <a:xfrm>
                <a:off x="7323666" y="3259666"/>
                <a:ext cx="347133" cy="58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>
                    <a:latin typeface="Arial Black"/>
                    <a:cs typeface="Arial Black"/>
                  </a:rPr>
                  <a:t>+</a:t>
                </a:r>
                <a:endParaRPr lang="en-US" sz="3200" dirty="0">
                  <a:latin typeface="Arial Black"/>
                  <a:cs typeface="Arial Black"/>
                </a:endParaRPr>
              </a:p>
            </p:txBody>
          </p:sp>
        </p:grpSp>
      </p:grpSp>
      <p:grpSp>
        <p:nvGrpSpPr>
          <p:cNvPr id="212" name="Group 211"/>
          <p:cNvGrpSpPr/>
          <p:nvPr/>
        </p:nvGrpSpPr>
        <p:grpSpPr>
          <a:xfrm>
            <a:off x="5774267" y="5503332"/>
            <a:ext cx="3242733" cy="618643"/>
            <a:chOff x="5774267" y="5503332"/>
            <a:chExt cx="3242733" cy="618643"/>
          </a:xfrm>
        </p:grpSpPr>
        <p:sp>
          <p:nvSpPr>
            <p:cNvPr id="204" name="TextBox 203"/>
            <p:cNvSpPr txBox="1"/>
            <p:nvPr/>
          </p:nvSpPr>
          <p:spPr>
            <a:xfrm>
              <a:off x="7670800" y="5537199"/>
              <a:ext cx="1346200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@</a:t>
              </a:r>
              <a:r>
                <a:rPr lang="en-US" sz="1600" dirty="0" err="1" smtClean="0"/>
                <a:t>DataPoints</a:t>
              </a:r>
              <a:r>
                <a:rPr lang="en-US" sz="1600" dirty="0" smtClean="0"/>
                <a:t/>
              </a:r>
              <a:br>
                <a:rPr lang="en-US" sz="1600" dirty="0" smtClean="0"/>
              </a:br>
              <a:r>
                <a:rPr lang="en-US" sz="1600" dirty="0" smtClean="0"/>
                <a:t>String [ ]</a:t>
              </a:r>
              <a:endParaRPr lang="en-US" sz="1600" dirty="0"/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5774267" y="5503332"/>
              <a:ext cx="1346200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@</a:t>
              </a:r>
              <a:r>
                <a:rPr lang="en-US" sz="1600" dirty="0" err="1" smtClean="0"/>
                <a:t>DataPoints</a:t>
              </a:r>
              <a:r>
                <a:rPr lang="en-US" sz="1600" dirty="0" smtClean="0"/>
                <a:t/>
              </a:r>
              <a:br>
                <a:rPr lang="en-US" sz="1600" dirty="0" smtClean="0"/>
              </a:br>
              <a:r>
                <a:rPr lang="en-US" sz="1600" dirty="0" smtClean="0"/>
                <a:t>Set [ ]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78063471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3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3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Introduction to Software Testing, Edition 2  (Ch 3)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© Ammann &amp; Offutt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40EBAE-B4A4-4ACD-8598-99F8E4882731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JUnit</a:t>
            </a:r>
            <a:r>
              <a:rPr lang="en-US" dirty="0" smtClean="0"/>
              <a:t> Theories Need </a:t>
            </a:r>
            <a:r>
              <a:rPr lang="en-US" dirty="0" err="1" smtClean="0"/>
              <a:t>BoilerPlate</a:t>
            </a:r>
            <a:endParaRPr lang="en-US" dirty="0" smtClean="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854075"/>
            <a:ext cx="8356600" cy="4897438"/>
          </a:xfrm>
        </p:spPr>
        <p:txBody>
          <a:bodyPr/>
          <a:lstStyle/>
          <a:p>
            <a:pPr lvl="1">
              <a:buFontTx/>
              <a:buNone/>
            </a:pPr>
            <a:endParaRPr lang="en-US" sz="2400" smtClean="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50838" y="879475"/>
            <a:ext cx="8475662" cy="5324535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.*;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org.junit.runner.RunWith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static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org.junit.Assert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.*;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static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org.junit.Assume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.*;</a:t>
            </a:r>
          </a:p>
          <a:p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org.junit.experimental.theories.DataPoint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org.junit.experimental.theories.DataPoints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org.junit.experimental.theories.Theories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org.junit.experimental.theories.Theory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import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java.util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.*;</a:t>
            </a:r>
          </a:p>
          <a:p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@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RunWith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Theories.class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class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SetTheoryTest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…  // See Earlier Slides</a:t>
            </a:r>
          </a:p>
          <a:p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  <a:r>
              <a:rPr lang="en-US" sz="16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67F0555-5087-4D60-BDC1-94636290460A}" type="slidenum">
              <a:rPr lang="en-US" sz="900" b="0" smtClean="0">
                <a:solidFill>
                  <a:schemeClr val="tx1"/>
                </a:solidFill>
              </a:rPr>
              <a:pPr/>
              <a:t>27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Running from a Command Line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" y="2214563"/>
            <a:ext cx="8966200" cy="2408237"/>
          </a:xfrm>
        </p:spPr>
        <p:txBody>
          <a:bodyPr/>
          <a:lstStyle/>
          <a:p>
            <a:r>
              <a:rPr lang="en-US" dirty="0" smtClean="0"/>
              <a:t>This is all we need to run </a:t>
            </a:r>
            <a:r>
              <a:rPr lang="en-US" dirty="0" err="1" smtClean="0"/>
              <a:t>JUnit</a:t>
            </a:r>
            <a:r>
              <a:rPr lang="en-US" dirty="0" smtClean="0"/>
              <a:t> in an </a:t>
            </a:r>
            <a:r>
              <a:rPr lang="en-US" dirty="0" smtClean="0">
                <a:solidFill>
                  <a:schemeClr val="tx2"/>
                </a:solidFill>
              </a:rPr>
              <a:t>IDE</a:t>
            </a:r>
            <a:r>
              <a:rPr lang="en-US" dirty="0" smtClean="0"/>
              <a:t> (like Eclipse)</a:t>
            </a:r>
          </a:p>
          <a:p>
            <a:endParaRPr lang="en-US" dirty="0" smtClean="0"/>
          </a:p>
          <a:p>
            <a:r>
              <a:rPr lang="en-US" dirty="0" smtClean="0"/>
              <a:t>We need a </a:t>
            </a:r>
            <a:r>
              <a:rPr lang="en-US" dirty="0" smtClean="0">
                <a:solidFill>
                  <a:schemeClr val="tx2"/>
                </a:solidFill>
              </a:rPr>
              <a:t>main()</a:t>
            </a:r>
            <a:r>
              <a:rPr lang="en-US" dirty="0" smtClean="0"/>
              <a:t> for command line execution …</a:t>
            </a:r>
          </a:p>
        </p:txBody>
      </p:sp>
    </p:spTree>
    <p:extLst>
      <p:ext uri="{BB962C8B-B14F-4D97-AF65-F5344CB8AC3E}">
        <p14:creationId xmlns:p14="http://schemas.microsoft.com/office/powerpoint/2010/main" val="104066490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4287906-FB0D-4B17-9808-1AAEA166E1A0}" type="slidenum">
              <a:rPr lang="en-US" sz="900" b="0" smtClean="0">
                <a:solidFill>
                  <a:schemeClr val="tx1"/>
                </a:solidFill>
              </a:rPr>
              <a:pPr/>
              <a:t>28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AllTests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39788" y="813963"/>
            <a:ext cx="7462837" cy="5753100"/>
          </a:xfrm>
          <a:prstGeom prst="rect">
            <a:avLst/>
          </a:prstGeom>
          <a:solidFill>
            <a:srgbClr val="2929FF"/>
          </a:solidFill>
          <a:ln w="38100">
            <a:solidFill>
              <a:srgbClr val="9999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1600" dirty="0">
                <a:latin typeface="Arial Unicode MS" pitchFamily="34" charset="-128"/>
              </a:rPr>
              <a:t>import </a:t>
            </a:r>
            <a:r>
              <a:rPr lang="en-US" sz="1600" dirty="0" err="1">
                <a:latin typeface="Arial Unicode MS" pitchFamily="34" charset="-128"/>
              </a:rPr>
              <a:t>org.junit.runner.RunWith</a:t>
            </a:r>
            <a:r>
              <a:rPr lang="en-US" sz="1600" dirty="0">
                <a:latin typeface="Arial Unicode MS" pitchFamily="34" charset="-128"/>
              </a:rPr>
              <a:t>;</a:t>
            </a:r>
          </a:p>
          <a:p>
            <a:r>
              <a:rPr lang="en-US" sz="1600" dirty="0">
                <a:latin typeface="Arial Unicode MS" pitchFamily="34" charset="-128"/>
              </a:rPr>
              <a:t>import </a:t>
            </a:r>
            <a:r>
              <a:rPr lang="en-US" sz="1600" dirty="0" err="1">
                <a:latin typeface="Arial Unicode MS" pitchFamily="34" charset="-128"/>
              </a:rPr>
              <a:t>org.junit.runners.Suite</a:t>
            </a:r>
            <a:r>
              <a:rPr lang="en-US" sz="1600" dirty="0">
                <a:latin typeface="Arial Unicode MS" pitchFamily="34" charset="-128"/>
              </a:rPr>
              <a:t>;</a:t>
            </a:r>
          </a:p>
          <a:p>
            <a:r>
              <a:rPr lang="en-US" sz="1600" dirty="0">
                <a:latin typeface="Arial Unicode MS" pitchFamily="34" charset="-128"/>
              </a:rPr>
              <a:t>import junit.framework.JUnit4TestAdapter;</a:t>
            </a:r>
          </a:p>
          <a:p>
            <a:endParaRPr lang="en-US" sz="1600" dirty="0">
              <a:latin typeface="Arial Unicode MS" pitchFamily="34" charset="-128"/>
            </a:endParaRPr>
          </a:p>
          <a:p>
            <a:r>
              <a:rPr lang="en-US" sz="1600" dirty="0">
                <a:latin typeface="Arial Unicode MS" pitchFamily="34" charset="-128"/>
              </a:rPr>
              <a:t>// This section declares all of the test classes in the program.</a:t>
            </a:r>
          </a:p>
          <a:p>
            <a:r>
              <a:rPr lang="en-US" sz="1600" dirty="0">
                <a:latin typeface="Arial Unicode MS" pitchFamily="34" charset="-128"/>
              </a:rPr>
              <a:t>@</a:t>
            </a:r>
            <a:r>
              <a:rPr lang="en-US" sz="1600" dirty="0" err="1">
                <a:latin typeface="Arial Unicode MS" pitchFamily="34" charset="-128"/>
              </a:rPr>
              <a:t>RunWith</a:t>
            </a:r>
            <a:r>
              <a:rPr lang="en-US" sz="1600" dirty="0">
                <a:latin typeface="Arial Unicode MS" pitchFamily="34" charset="-128"/>
              </a:rPr>
              <a:t> (</a:t>
            </a:r>
            <a:r>
              <a:rPr lang="en-US" sz="1600" dirty="0" err="1">
                <a:latin typeface="Arial Unicode MS" pitchFamily="34" charset="-128"/>
              </a:rPr>
              <a:t>Suite.class</a:t>
            </a:r>
            <a:r>
              <a:rPr lang="en-US" sz="1600" dirty="0">
                <a:latin typeface="Arial Unicode MS" pitchFamily="34" charset="-128"/>
              </a:rPr>
              <a:t>)</a:t>
            </a:r>
          </a:p>
          <a:p>
            <a:r>
              <a:rPr lang="en-US" sz="1600" dirty="0">
                <a:latin typeface="Arial Unicode MS" pitchFamily="34" charset="-128"/>
              </a:rPr>
              <a:t>@</a:t>
            </a:r>
            <a:r>
              <a:rPr lang="en-US" sz="1600" dirty="0" err="1">
                <a:latin typeface="Arial Unicode MS" pitchFamily="34" charset="-128"/>
              </a:rPr>
              <a:t>Suite.SuiteClasses</a:t>
            </a:r>
            <a:r>
              <a:rPr lang="en-US" sz="1600" dirty="0">
                <a:latin typeface="Arial Unicode MS" pitchFamily="34" charset="-128"/>
              </a:rPr>
              <a:t> ({ </a:t>
            </a:r>
            <a:r>
              <a:rPr lang="en-US" sz="1600" dirty="0" err="1">
                <a:latin typeface="Arial Unicode MS" pitchFamily="34" charset="-128"/>
              </a:rPr>
              <a:t>StackTest.class</a:t>
            </a:r>
            <a:r>
              <a:rPr lang="en-US" sz="1600" dirty="0">
                <a:latin typeface="Arial Unicode MS" pitchFamily="34" charset="-128"/>
              </a:rPr>
              <a:t> })  // Add test classes here.</a:t>
            </a:r>
          </a:p>
          <a:p>
            <a:endParaRPr lang="en-US" sz="1600" dirty="0">
              <a:latin typeface="Arial Unicode MS" pitchFamily="34" charset="-128"/>
            </a:endParaRPr>
          </a:p>
          <a:p>
            <a:r>
              <a:rPr lang="en-US" sz="1600" dirty="0">
                <a:latin typeface="Arial Unicode MS" pitchFamily="34" charset="-128"/>
              </a:rPr>
              <a:t>public class </a:t>
            </a:r>
            <a:r>
              <a:rPr lang="en-US" sz="1600" dirty="0" err="1">
                <a:latin typeface="Arial Unicode MS" pitchFamily="34" charset="-128"/>
              </a:rPr>
              <a:t>AllTests</a:t>
            </a:r>
            <a:endParaRPr lang="en-US" sz="1600" dirty="0">
              <a:latin typeface="Arial Unicode MS" pitchFamily="34" charset="-128"/>
            </a:endParaRPr>
          </a:p>
          <a:p>
            <a:r>
              <a:rPr lang="en-US" sz="1600" dirty="0">
                <a:latin typeface="Arial Unicode MS" pitchFamily="34" charset="-128"/>
              </a:rPr>
              <a:t>{</a:t>
            </a:r>
          </a:p>
          <a:p>
            <a:r>
              <a:rPr lang="en-US" sz="1600" dirty="0">
                <a:latin typeface="Arial Unicode MS" pitchFamily="34" charset="-128"/>
              </a:rPr>
              <a:t>    // Execution begins </a:t>
            </a:r>
            <a:r>
              <a:rPr lang="en-US" sz="1600" dirty="0" smtClean="0">
                <a:latin typeface="Arial Unicode MS" pitchFamily="34" charset="-128"/>
              </a:rPr>
              <a:t>in main</a:t>
            </a:r>
            <a:r>
              <a:rPr lang="en-US" sz="1600" dirty="0">
                <a:latin typeface="Arial Unicode MS" pitchFamily="34" charset="-128"/>
              </a:rPr>
              <a:t>(). </a:t>
            </a:r>
            <a:r>
              <a:rPr lang="en-US" sz="1600" dirty="0" smtClean="0">
                <a:latin typeface="Arial Unicode MS" pitchFamily="34" charset="-128"/>
              </a:rPr>
              <a:t>This </a:t>
            </a:r>
            <a:r>
              <a:rPr lang="en-US" sz="1600" dirty="0">
                <a:latin typeface="Arial Unicode MS" pitchFamily="34" charset="-128"/>
              </a:rPr>
              <a:t>test </a:t>
            </a:r>
            <a:r>
              <a:rPr lang="en-US" sz="1600" dirty="0" smtClean="0">
                <a:latin typeface="Arial Unicode MS" pitchFamily="34" charset="-128"/>
              </a:rPr>
              <a:t>class executes a</a:t>
            </a:r>
            <a:endParaRPr lang="en-US" sz="1600" dirty="0">
              <a:latin typeface="Arial Unicode MS" pitchFamily="34" charset="-128"/>
            </a:endParaRPr>
          </a:p>
          <a:p>
            <a:r>
              <a:rPr lang="en-US" sz="1600" dirty="0">
                <a:latin typeface="Arial Unicode MS" pitchFamily="34" charset="-128"/>
              </a:rPr>
              <a:t>    // </a:t>
            </a:r>
            <a:r>
              <a:rPr lang="en-US" sz="1600" dirty="0" smtClean="0">
                <a:latin typeface="Arial Unicode MS" pitchFamily="34" charset="-128"/>
              </a:rPr>
              <a:t>test </a:t>
            </a:r>
            <a:r>
              <a:rPr lang="en-US" sz="1600" dirty="0">
                <a:latin typeface="Arial Unicode MS" pitchFamily="34" charset="-128"/>
              </a:rPr>
              <a:t>runner that </a:t>
            </a:r>
            <a:r>
              <a:rPr lang="en-US" sz="1600" dirty="0" smtClean="0">
                <a:latin typeface="Arial Unicode MS" pitchFamily="34" charset="-128"/>
              </a:rPr>
              <a:t>tells the tester if </a:t>
            </a:r>
            <a:r>
              <a:rPr lang="en-US" sz="1600" dirty="0">
                <a:latin typeface="Arial Unicode MS" pitchFamily="34" charset="-128"/>
              </a:rPr>
              <a:t>any </a:t>
            </a:r>
            <a:r>
              <a:rPr lang="en-US" sz="1600" dirty="0" smtClean="0">
                <a:latin typeface="Arial Unicode MS" pitchFamily="34" charset="-128"/>
              </a:rPr>
              <a:t>fail</a:t>
            </a:r>
            <a:r>
              <a:rPr lang="en-US" sz="1600" dirty="0">
                <a:latin typeface="Arial Unicode MS" pitchFamily="34" charset="-128"/>
              </a:rPr>
              <a:t>.</a:t>
            </a:r>
          </a:p>
          <a:p>
            <a:r>
              <a:rPr lang="en-US" sz="1600" dirty="0">
                <a:latin typeface="Arial Unicode MS" pitchFamily="34" charset="-128"/>
              </a:rPr>
              <a:t>    public static void main (String[] </a:t>
            </a:r>
            <a:r>
              <a:rPr lang="en-US" sz="1600" dirty="0" err="1">
                <a:latin typeface="Arial Unicode MS" pitchFamily="34" charset="-128"/>
              </a:rPr>
              <a:t>args</a:t>
            </a:r>
            <a:r>
              <a:rPr lang="en-US" sz="1600" dirty="0">
                <a:latin typeface="Arial Unicode MS" pitchFamily="34" charset="-128"/>
              </a:rPr>
              <a:t>)</a:t>
            </a:r>
          </a:p>
          <a:p>
            <a:r>
              <a:rPr lang="en-US" sz="1600" dirty="0">
                <a:latin typeface="Arial Unicode MS" pitchFamily="34" charset="-128"/>
              </a:rPr>
              <a:t>    {</a:t>
            </a:r>
          </a:p>
          <a:p>
            <a:r>
              <a:rPr lang="en-US" sz="1600" dirty="0">
                <a:latin typeface="Arial Unicode MS" pitchFamily="34" charset="-128"/>
              </a:rPr>
              <a:t>       </a:t>
            </a:r>
            <a:r>
              <a:rPr lang="en-US" sz="1600" dirty="0" err="1">
                <a:latin typeface="Arial Unicode MS" pitchFamily="34" charset="-128"/>
              </a:rPr>
              <a:t>junit.textui.TestRunner.run</a:t>
            </a:r>
            <a:r>
              <a:rPr lang="en-US" sz="1600" dirty="0">
                <a:latin typeface="Arial Unicode MS" pitchFamily="34" charset="-128"/>
              </a:rPr>
              <a:t> (suite());</a:t>
            </a:r>
          </a:p>
          <a:p>
            <a:r>
              <a:rPr lang="en-US" sz="1600" dirty="0">
                <a:latin typeface="Arial Unicode MS" pitchFamily="34" charset="-128"/>
              </a:rPr>
              <a:t>    }</a:t>
            </a:r>
          </a:p>
          <a:p>
            <a:endParaRPr lang="en-US" sz="1600" dirty="0">
              <a:latin typeface="Arial Unicode MS" pitchFamily="34" charset="-128"/>
            </a:endParaRPr>
          </a:p>
          <a:p>
            <a:r>
              <a:rPr lang="en-US" sz="1600" dirty="0">
                <a:latin typeface="Arial Unicode MS" pitchFamily="34" charset="-128"/>
              </a:rPr>
              <a:t>    // The suite() method </a:t>
            </a:r>
            <a:r>
              <a:rPr lang="en-US" sz="1600" dirty="0" smtClean="0">
                <a:latin typeface="Arial Unicode MS" pitchFamily="34" charset="-128"/>
              </a:rPr>
              <a:t>helps </a:t>
            </a:r>
            <a:r>
              <a:rPr lang="en-US" sz="1600" dirty="0">
                <a:latin typeface="Arial Unicode MS" pitchFamily="34" charset="-128"/>
              </a:rPr>
              <a:t>when using </a:t>
            </a:r>
            <a:r>
              <a:rPr lang="en-US" sz="1600" dirty="0" err="1">
                <a:latin typeface="Arial Unicode MS" pitchFamily="34" charset="-128"/>
              </a:rPr>
              <a:t>JUnit</a:t>
            </a:r>
            <a:r>
              <a:rPr lang="en-US" sz="1600" dirty="0">
                <a:latin typeface="Arial Unicode MS" pitchFamily="34" charset="-128"/>
              </a:rPr>
              <a:t> 3 Test Runners or Ant.</a:t>
            </a:r>
          </a:p>
          <a:p>
            <a:r>
              <a:rPr lang="en-US" sz="1600" dirty="0">
                <a:latin typeface="Arial Unicode MS" pitchFamily="34" charset="-128"/>
              </a:rPr>
              <a:t>    public static </a:t>
            </a:r>
            <a:r>
              <a:rPr lang="en-US" sz="1600" dirty="0" err="1">
                <a:latin typeface="Arial Unicode MS" pitchFamily="34" charset="-128"/>
              </a:rPr>
              <a:t>junit.framework.Test</a:t>
            </a:r>
            <a:r>
              <a:rPr lang="en-US" sz="1600" dirty="0">
                <a:latin typeface="Arial Unicode MS" pitchFamily="34" charset="-128"/>
              </a:rPr>
              <a:t> suite()</a:t>
            </a:r>
          </a:p>
          <a:p>
            <a:r>
              <a:rPr lang="en-US" sz="1600" dirty="0">
                <a:latin typeface="Arial Unicode MS" pitchFamily="34" charset="-128"/>
              </a:rPr>
              <a:t>    {</a:t>
            </a:r>
          </a:p>
          <a:p>
            <a:r>
              <a:rPr lang="en-US" sz="1600" dirty="0">
                <a:latin typeface="Arial Unicode MS" pitchFamily="34" charset="-128"/>
              </a:rPr>
              <a:t>       return new JUnit4TestAdapter (</a:t>
            </a:r>
            <a:r>
              <a:rPr lang="en-US" sz="1600" dirty="0" err="1">
                <a:latin typeface="Arial Unicode MS" pitchFamily="34" charset="-128"/>
              </a:rPr>
              <a:t>AllTests.class</a:t>
            </a:r>
            <a:r>
              <a:rPr lang="en-US" sz="1600" dirty="0">
                <a:latin typeface="Arial Unicode MS" pitchFamily="34" charset="-128"/>
              </a:rPr>
              <a:t>);</a:t>
            </a:r>
          </a:p>
          <a:p>
            <a:r>
              <a:rPr lang="en-US" sz="1600" dirty="0">
                <a:latin typeface="Arial Unicode MS" pitchFamily="34" charset="-128"/>
              </a:rPr>
              <a:t>    }</a:t>
            </a:r>
          </a:p>
          <a:p>
            <a:r>
              <a:rPr lang="en-US" sz="1600" dirty="0">
                <a:latin typeface="Arial Unicode MS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085079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683A084-057F-4368-B44F-98D10AB27575}" type="slidenum">
              <a:rPr lang="en-US" sz="900" b="0" smtClean="0">
                <a:solidFill>
                  <a:schemeClr val="tx1"/>
                </a:solidFill>
              </a:rPr>
              <a:pPr/>
              <a:t>29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24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How to Run Tests</a:t>
            </a:r>
          </a:p>
        </p:txBody>
      </p:sp>
      <p:sp>
        <p:nvSpPr>
          <p:cNvPr id="24582" name="Content Placeholder 2"/>
          <p:cNvSpPr>
            <a:spLocks noGrp="1"/>
          </p:cNvSpPr>
          <p:nvPr>
            <p:ph idx="1"/>
          </p:nvPr>
        </p:nvSpPr>
        <p:spPr>
          <a:xfrm>
            <a:off x="88900" y="898525"/>
            <a:ext cx="8966200" cy="5478463"/>
          </a:xfrm>
        </p:spPr>
        <p:txBody>
          <a:bodyPr/>
          <a:lstStyle/>
          <a:p>
            <a:r>
              <a:rPr lang="en-US" dirty="0" err="1" smtClean="0"/>
              <a:t>JUnit</a:t>
            </a:r>
            <a:r>
              <a:rPr lang="en-US" dirty="0" smtClean="0"/>
              <a:t> provides </a:t>
            </a:r>
            <a:r>
              <a:rPr lang="en-US" dirty="0" smtClean="0">
                <a:solidFill>
                  <a:schemeClr val="tx2"/>
                </a:solidFill>
              </a:rPr>
              <a:t>test drivers</a:t>
            </a:r>
          </a:p>
          <a:p>
            <a:pPr lvl="1"/>
            <a:r>
              <a:rPr lang="en-US" dirty="0" smtClean="0">
                <a:solidFill>
                  <a:schemeClr val="tx2"/>
                </a:solidFill>
              </a:rPr>
              <a:t>Character-based</a:t>
            </a:r>
            <a:r>
              <a:rPr lang="en-US" dirty="0" smtClean="0"/>
              <a:t> test driver runs from the command line</a:t>
            </a:r>
          </a:p>
          <a:p>
            <a:pPr lvl="1"/>
            <a:r>
              <a:rPr lang="en-US" dirty="0" smtClean="0"/>
              <a:t>GUI-based test driver-</a:t>
            </a:r>
            <a:r>
              <a:rPr lang="en-US" i="1" dirty="0" err="1" smtClean="0">
                <a:solidFill>
                  <a:schemeClr val="tx2"/>
                </a:solidFill>
              </a:rPr>
              <a:t>junit.swingui.TestRunner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Allows programmer to specify the test class to run</a:t>
            </a:r>
          </a:p>
          <a:p>
            <a:pPr lvl="2"/>
            <a:r>
              <a:rPr lang="en-US" dirty="0" smtClean="0"/>
              <a:t>Creates a “</a:t>
            </a:r>
            <a:r>
              <a:rPr lang="en-US" dirty="0" smtClean="0">
                <a:solidFill>
                  <a:schemeClr val="tx2"/>
                </a:solidFill>
              </a:rPr>
              <a:t>Run</a:t>
            </a:r>
            <a:r>
              <a:rPr lang="en-US" dirty="0" smtClean="0"/>
              <a:t>” button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If a test fails, </a:t>
            </a:r>
            <a:r>
              <a:rPr lang="en-US" dirty="0" err="1" smtClean="0"/>
              <a:t>JUnit</a:t>
            </a:r>
            <a:r>
              <a:rPr lang="en-US" dirty="0" smtClean="0"/>
              <a:t> gives the </a:t>
            </a:r>
            <a:r>
              <a:rPr lang="en-US" dirty="0" smtClean="0">
                <a:solidFill>
                  <a:schemeClr val="tx2"/>
                </a:solidFill>
              </a:rPr>
              <a:t>location</a:t>
            </a:r>
            <a:r>
              <a:rPr lang="en-US" dirty="0" smtClean="0"/>
              <a:t> of the failure and any </a:t>
            </a:r>
            <a:r>
              <a:rPr lang="en-US" dirty="0" smtClean="0">
                <a:solidFill>
                  <a:schemeClr val="tx2"/>
                </a:solidFill>
              </a:rPr>
              <a:t>exceptions</a:t>
            </a:r>
            <a:r>
              <a:rPr lang="en-US" dirty="0" smtClean="0"/>
              <a:t> that were thrown</a:t>
            </a:r>
          </a:p>
        </p:txBody>
      </p:sp>
    </p:spTree>
    <p:extLst>
      <p:ext uri="{BB962C8B-B14F-4D97-AF65-F5344CB8AC3E}">
        <p14:creationId xmlns:p14="http://schemas.microsoft.com/office/powerpoint/2010/main" val="139837646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8343D1C-EAFE-4E84-9771-485F1C49A1B3}" type="slidenum">
              <a:rPr lang="en-US" sz="900" b="0" smtClean="0">
                <a:solidFill>
                  <a:schemeClr val="tx1"/>
                </a:solidFill>
              </a:rPr>
              <a:pPr/>
              <a:t>30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256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JUnit</a:t>
            </a:r>
            <a:r>
              <a:rPr lang="en-US" dirty="0" smtClean="0"/>
              <a:t> Resources</a:t>
            </a:r>
          </a:p>
        </p:txBody>
      </p:sp>
      <p:sp>
        <p:nvSpPr>
          <p:cNvPr id="25606" name="Content Placeholder 2"/>
          <p:cNvSpPr>
            <a:spLocks noGrp="1"/>
          </p:cNvSpPr>
          <p:nvPr>
            <p:ph idx="1"/>
          </p:nvPr>
        </p:nvSpPr>
        <p:spPr>
          <a:xfrm>
            <a:off x="88900" y="898525"/>
            <a:ext cx="8966200" cy="5478463"/>
          </a:xfrm>
        </p:spPr>
        <p:txBody>
          <a:bodyPr/>
          <a:lstStyle/>
          <a:p>
            <a:r>
              <a:rPr lang="en-US" dirty="0" smtClean="0"/>
              <a:t>Some </a:t>
            </a:r>
            <a:r>
              <a:rPr lang="en-US" dirty="0" err="1" smtClean="0"/>
              <a:t>JUnit</a:t>
            </a:r>
            <a:r>
              <a:rPr lang="en-US" dirty="0" smtClean="0"/>
              <a:t> tutorials</a:t>
            </a:r>
          </a:p>
          <a:p>
            <a:pPr lvl="1"/>
            <a:r>
              <a:rPr lang="en-US" dirty="0" smtClean="0">
                <a:hlinkClick r:id="rId2"/>
              </a:rPr>
              <a:t>http://open.ncsu.edu/se/tutorials/junit/</a:t>
            </a:r>
            <a:endParaRPr lang="en-US" dirty="0" smtClean="0"/>
          </a:p>
          <a:p>
            <a:pPr lvl="1">
              <a:buFontTx/>
              <a:buNone/>
            </a:pPr>
            <a:r>
              <a:rPr lang="en-US" dirty="0" smtClean="0"/>
              <a:t>	(Laurie Williams, </a:t>
            </a:r>
            <a:r>
              <a:rPr lang="en-US" dirty="0" err="1" smtClean="0"/>
              <a:t>Dright</a:t>
            </a:r>
            <a:r>
              <a:rPr lang="en-US" dirty="0" smtClean="0"/>
              <a:t> Ho, and Sarah Smith )</a:t>
            </a:r>
          </a:p>
          <a:p>
            <a:pPr lvl="1"/>
            <a:r>
              <a:rPr lang="en-US" dirty="0" smtClean="0">
                <a:hlinkClick r:id="rId3"/>
              </a:rPr>
              <a:t>http://www.laliluna.de/eclipse-junit-testing-tutorial.html</a:t>
            </a:r>
            <a:endParaRPr lang="en-US" dirty="0" smtClean="0"/>
          </a:p>
          <a:p>
            <a:pPr lvl="1">
              <a:buFontTx/>
              <a:buNone/>
            </a:pPr>
            <a:r>
              <a:rPr lang="en-US" dirty="0" smtClean="0"/>
              <a:t>	(</a:t>
            </a:r>
            <a:r>
              <a:rPr lang="en-US" dirty="0" err="1" smtClean="0"/>
              <a:t>Sascha</a:t>
            </a:r>
            <a:r>
              <a:rPr lang="en-US" dirty="0" smtClean="0"/>
              <a:t> </a:t>
            </a:r>
            <a:r>
              <a:rPr lang="en-US" dirty="0" err="1" smtClean="0"/>
              <a:t>Wolski</a:t>
            </a:r>
            <a:r>
              <a:rPr lang="en-US" dirty="0" smtClean="0"/>
              <a:t> and Sebastian </a:t>
            </a:r>
            <a:r>
              <a:rPr lang="en-US" dirty="0" err="1" smtClean="0"/>
              <a:t>Hennebrueder</a:t>
            </a:r>
            <a:r>
              <a:rPr lang="en-US" dirty="0" smtClean="0"/>
              <a:t>)</a:t>
            </a:r>
          </a:p>
          <a:p>
            <a:pPr lvl="1"/>
            <a:r>
              <a:rPr lang="en-US" sz="1800" dirty="0" smtClean="0">
                <a:hlinkClick r:id="rId4"/>
              </a:rPr>
              <a:t>http://www.diasparsoftware.com/template.php?content=jUnitStarterGuide</a:t>
            </a:r>
            <a:endParaRPr lang="en-US" sz="1800" dirty="0" smtClean="0"/>
          </a:p>
          <a:p>
            <a:pPr lvl="2">
              <a:buFontTx/>
              <a:buNone/>
            </a:pPr>
            <a:r>
              <a:rPr lang="en-US" dirty="0" smtClean="0"/>
              <a:t>(</a:t>
            </a:r>
            <a:r>
              <a:rPr lang="en-US" dirty="0" err="1" smtClean="0"/>
              <a:t>Diaspar</a:t>
            </a:r>
            <a:r>
              <a:rPr lang="en-US" dirty="0" smtClean="0"/>
              <a:t> software)</a:t>
            </a:r>
          </a:p>
          <a:p>
            <a:pPr lvl="1"/>
            <a:r>
              <a:rPr lang="en-US" dirty="0" smtClean="0">
                <a:hlinkClick r:id="rId5"/>
              </a:rPr>
              <a:t>http://www.clarkware.com/articles/JUnitPrimer.html</a:t>
            </a:r>
            <a:endParaRPr lang="en-US" dirty="0" smtClean="0"/>
          </a:p>
          <a:p>
            <a:pPr lvl="2">
              <a:buFontTx/>
              <a:buNone/>
            </a:pPr>
            <a:r>
              <a:rPr lang="en-US" dirty="0" smtClean="0"/>
              <a:t>(</a:t>
            </a:r>
            <a:r>
              <a:rPr lang="en-US" dirty="0" err="1" smtClean="0"/>
              <a:t>Clarkware</a:t>
            </a:r>
            <a:r>
              <a:rPr lang="en-US" dirty="0" smtClean="0"/>
              <a:t> consulting)</a:t>
            </a:r>
          </a:p>
          <a:p>
            <a:r>
              <a:rPr lang="en-US" dirty="0" err="1" smtClean="0"/>
              <a:t>JUnit</a:t>
            </a:r>
            <a:r>
              <a:rPr lang="en-US" dirty="0" smtClean="0"/>
              <a:t>: Download, Documentation</a:t>
            </a:r>
          </a:p>
          <a:p>
            <a:pPr lvl="1"/>
            <a:r>
              <a:rPr lang="en-US" dirty="0" smtClean="0">
                <a:hlinkClick r:id="rId6"/>
              </a:rPr>
              <a:t>http://www.junit.org/</a:t>
            </a:r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2611544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Introduction to Software Testing, Edition 2  (Ch 3)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900" b="0" smtClean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70F76D6-732F-487A-87E7-23DF3BCB439B}" type="slidenum">
              <a:rPr lang="en-US" sz="900" b="0" smtClean="0">
                <a:solidFill>
                  <a:schemeClr val="tx1"/>
                </a:solidFill>
              </a:rPr>
              <a:pPr/>
              <a:t>31</a:t>
            </a:fld>
            <a:endParaRPr lang="en-US" sz="900" b="0" smtClean="0">
              <a:solidFill>
                <a:schemeClr val="tx1"/>
              </a:solidFill>
            </a:endParaRPr>
          </a:p>
        </p:txBody>
      </p:sp>
      <p:sp>
        <p:nvSpPr>
          <p:cNvPr id="266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xfrm>
            <a:off x="133350" y="898525"/>
            <a:ext cx="8966200" cy="2084388"/>
          </a:xfrm>
        </p:spPr>
        <p:txBody>
          <a:bodyPr/>
          <a:lstStyle/>
          <a:p>
            <a:r>
              <a:rPr lang="en-US" dirty="0" smtClean="0"/>
              <a:t>The only way to make testing </a:t>
            </a:r>
            <a:r>
              <a:rPr lang="en-US" dirty="0" smtClean="0">
                <a:solidFill>
                  <a:schemeClr val="tx2"/>
                </a:solidFill>
              </a:rPr>
              <a:t>efficient</a:t>
            </a:r>
            <a:r>
              <a:rPr lang="en-US" dirty="0" smtClean="0"/>
              <a:t> as well as </a:t>
            </a:r>
            <a:r>
              <a:rPr lang="en-US" dirty="0" smtClean="0">
                <a:solidFill>
                  <a:schemeClr val="tx2"/>
                </a:solidFill>
              </a:rPr>
              <a:t>effective</a:t>
            </a:r>
            <a:r>
              <a:rPr lang="en-US" dirty="0" smtClean="0"/>
              <a:t> is to </a:t>
            </a:r>
            <a:r>
              <a:rPr lang="en-US" dirty="0" smtClean="0">
                <a:solidFill>
                  <a:schemeClr val="tx2"/>
                </a:solidFill>
              </a:rPr>
              <a:t>automate</a:t>
            </a:r>
            <a:r>
              <a:rPr lang="en-US" dirty="0" smtClean="0"/>
              <a:t> as much as possible</a:t>
            </a:r>
          </a:p>
          <a:p>
            <a:r>
              <a:rPr lang="en-US" dirty="0" smtClean="0"/>
              <a:t>Test frameworks provide very simple ways to </a:t>
            </a:r>
            <a:r>
              <a:rPr lang="en-US" dirty="0" smtClean="0">
                <a:solidFill>
                  <a:schemeClr val="tx2"/>
                </a:solidFill>
              </a:rPr>
              <a:t>automate</a:t>
            </a:r>
            <a:r>
              <a:rPr lang="en-US" dirty="0" smtClean="0"/>
              <a:t> our tests</a:t>
            </a:r>
          </a:p>
          <a:p>
            <a:r>
              <a:rPr lang="en-US" dirty="0" smtClean="0"/>
              <a:t>It is no “</a:t>
            </a:r>
            <a:r>
              <a:rPr lang="en-US" dirty="0" smtClean="0">
                <a:solidFill>
                  <a:schemeClr val="tx2"/>
                </a:solidFill>
              </a:rPr>
              <a:t>silver bullet</a:t>
            </a:r>
            <a:r>
              <a:rPr lang="en-US" dirty="0" smtClean="0"/>
              <a:t>” however … it does not solve the hard problem of testing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5137" y="3601272"/>
            <a:ext cx="5099050" cy="523875"/>
          </a:xfrm>
          <a:prstGeom prst="rect">
            <a:avLst/>
          </a:prstGeom>
          <a:solidFill>
            <a:srgbClr val="0033CC"/>
          </a:solidFill>
          <a:ln w="28575">
            <a:solidFill>
              <a:srgbClr val="FF0000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What test values to use ?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33350" y="4299389"/>
            <a:ext cx="89662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9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This is test design … the purpose of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test </a:t>
            </a:r>
            <a:r>
              <a:rPr lang="en-US" sz="2800" b="0" dirty="0" smtClean="0">
                <a:solidFill>
                  <a:schemeClr val="tx2"/>
                </a:solidFill>
                <a:latin typeface="Gill Sans MT" pitchFamily="34" charset="0"/>
              </a:rPr>
              <a:t>criteria</a:t>
            </a:r>
            <a:endParaRPr lang="en-US" sz="2800" b="0" dirty="0">
              <a:solidFill>
                <a:schemeClr val="tx2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31908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  <p:bldP spid="7" grpId="0" animBg="1"/>
      <p:bldP spid="9" grpId="0" build="p"/>
    </p:bldLst>
  </p:timing>
</p:sld>
</file>

<file path=ppt/theme/theme1.xml><?xml version="1.0" encoding="utf-8"?>
<a:theme xmlns:a="http://schemas.openxmlformats.org/drawingml/2006/main" name="intro">
  <a:themeElements>
    <a:clrScheme name="Custom 1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3637</TotalTime>
  <Pages>49</Pages>
  <Words>3168</Words>
  <Application>Microsoft Macintosh PowerPoint</Application>
  <PresentationFormat>On-screen Show (4:3)</PresentationFormat>
  <Paragraphs>550</Paragraphs>
  <Slides>31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intro</vt:lpstr>
      <vt:lpstr>Introduction to Software Testing (2nd edition) Chapter 3  Test Automation</vt:lpstr>
      <vt:lpstr>What is Test Automation?</vt:lpstr>
      <vt:lpstr>Software Testability (3.1)</vt:lpstr>
      <vt:lpstr>Observability and Controllability</vt:lpstr>
      <vt:lpstr>Components of a Test Case (3.2)</vt:lpstr>
      <vt:lpstr>Affecting Controllability and Observability</vt:lpstr>
      <vt:lpstr>Putting Tests Together</vt:lpstr>
      <vt:lpstr>Roles</vt:lpstr>
      <vt:lpstr>Test Automation Framework (3.3)</vt:lpstr>
      <vt:lpstr>What is JUnit?</vt:lpstr>
      <vt:lpstr>JUnit Tests</vt:lpstr>
      <vt:lpstr>Writing Tests for JUnit</vt:lpstr>
      <vt:lpstr>JUnit Test Fixtures</vt:lpstr>
      <vt:lpstr>Simple JUnit Example</vt:lpstr>
      <vt:lpstr>Testing the Min Class</vt:lpstr>
      <vt:lpstr>MinTest Class</vt:lpstr>
      <vt:lpstr>Min Test Cases: NullPointerException</vt:lpstr>
      <vt:lpstr>More Exception Test Cases for Min</vt:lpstr>
      <vt:lpstr>Remaining Test Cases for Min</vt:lpstr>
      <vt:lpstr>Summary: Seven Tests for Min</vt:lpstr>
      <vt:lpstr>Data-Driven Tests</vt:lpstr>
      <vt:lpstr>Example JUnit Data-Driven Unit Test</vt:lpstr>
      <vt:lpstr>Tests with Parameters: JUnit Theories</vt:lpstr>
      <vt:lpstr>Question: Where Do The Data Values Come From?</vt:lpstr>
      <vt:lpstr>PowerPoint Presentation</vt:lpstr>
      <vt:lpstr>JUnit Theories Need BoilerPlate</vt:lpstr>
      <vt:lpstr>Running from a Command Line</vt:lpstr>
      <vt:lpstr>AllTests</vt:lpstr>
      <vt:lpstr>How to Run Tests</vt:lpstr>
      <vt:lpstr>JUnit Resources</vt:lpstr>
      <vt:lpstr>Summary</vt:lpstr>
    </vt:vector>
  </TitlesOfParts>
  <Company>George Mason Unviersity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Here! Test this!</dc:title>
  <dc:creator>Jeff Offutt</dc:creator>
  <cp:lastModifiedBy>Ashraf Gaffar</cp:lastModifiedBy>
  <cp:revision>342</cp:revision>
  <cp:lastPrinted>1996-04-04T10:27:56Z</cp:lastPrinted>
  <dcterms:created xsi:type="dcterms:W3CDTF">1996-06-15T03:21:08Z</dcterms:created>
  <dcterms:modified xsi:type="dcterms:W3CDTF">2022-06-08T20:53:51Z</dcterms:modified>
</cp:coreProperties>
</file>